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0696575" cy="7562850"/>
  <p:notesSz cx="7562850" cy="1069657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propios</c:v>
                </c:pt>
              </c:strCache>
            </c:strRef>
          </c:tx>
          <c:spPr>
            <a:solidFill>
              <a:srgbClr val="2E8B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11385.1</c:v>
                </c:pt>
                <c:pt idx="1">
                  <c:v>11237.2</c:v>
                </c:pt>
                <c:pt idx="2">
                  <c:v>11160.7</c:v>
                </c:pt>
                <c:pt idx="3">
                  <c:v>11119.1</c:v>
                </c:pt>
                <c:pt idx="4">
                  <c:v>11045.4</c:v>
                </c:pt>
                <c:pt idx="5">
                  <c:v>10967.2</c:v>
                </c:pt>
                <c:pt idx="6">
                  <c:v>10894.4</c:v>
                </c:pt>
                <c:pt idx="7">
                  <c:v>10822.5</c:v>
                </c:pt>
                <c:pt idx="8">
                  <c:v>10751.8</c:v>
                </c:pt>
                <c:pt idx="9">
                  <c:v>10679.5</c:v>
                </c:pt>
                <c:pt idx="10">
                  <c:v>10601.7</c:v>
                </c:pt>
                <c:pt idx="11">
                  <c:v>10525.5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Gasto operativo (GC − ingresos)</c:v>
                </c:pt>
              </c:strCache>
            </c:strRef>
          </c:tx>
          <c:spPr>
            <a:solidFill>
              <a:srgbClr val="222C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107501.1</c:v>
                </c:pt>
                <c:pt idx="1">
                  <c:v>102437.7</c:v>
                </c:pt>
                <c:pt idx="2">
                  <c:v>112008</c:v>
                </c:pt>
                <c:pt idx="3">
                  <c:v>105594.8</c:v>
                </c:pt>
                <c:pt idx="4">
                  <c:v>104658</c:v>
                </c:pt>
                <c:pt idx="5">
                  <c:v>137387.3</c:v>
                </c:pt>
                <c:pt idx="6">
                  <c:v>115510.7</c:v>
                </c:pt>
                <c:pt idx="7">
                  <c:v>111371.8</c:v>
                </c:pt>
                <c:pt idx="8">
                  <c:v>110675</c:v>
                </c:pt>
                <c:pt idx="9">
                  <c:v>113672.6</c:v>
                </c:pt>
                <c:pt idx="10">
                  <c:v>112850.8</c:v>
                </c:pt>
                <c:pt idx="11">
                  <c:v>146224.2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Subsidio: ingresos / GC</c:v>
                </c:pt>
              </c:strCache>
            </c:strRef>
          </c:tx>
          <c:spPr>
            <a:solidFill>
              <a:srgbClr val="E7B860"/>
            </a:solidFill>
            <a:ln w="25400" cap="flat">
              <a:solidFill>
                <a:srgbClr val="E7B860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E7B86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7B860"/>
              </a:solidFill>
              <a:ln w="9525" cap="flat">
                <a:solidFill>
                  <a:srgbClr val="E7B86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9.6</c:v>
                </c:pt>
                <c:pt idx="1">
                  <c:v>9.9</c:v>
                </c:pt>
                <c:pt idx="2">
                  <c:v>9.1</c:v>
                </c:pt>
                <c:pt idx="3">
                  <c:v>9.5</c:v>
                </c:pt>
                <c:pt idx="4">
                  <c:v>9.5</c:v>
                </c:pt>
                <c:pt idx="5">
                  <c:v>7.4</c:v>
                </c:pt>
                <c:pt idx="6">
                  <c:v>8.6</c:v>
                </c:pt>
                <c:pt idx="7">
                  <c:v>8.9</c:v>
                </c:pt>
                <c:pt idx="8">
                  <c:v>8.9</c:v>
                </c:pt>
                <c:pt idx="9">
                  <c:v>8.6</c:v>
                </c:pt>
                <c:pt idx="10">
                  <c:v>8.6</c:v>
                </c:pt>
                <c:pt idx="11">
                  <c:v>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E7B86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millones de $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20"/>
          <c:min val="0"/>
        </c:scaling>
        <c:delete val="0"/>
        <c:axPos val="r"/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Formulación</c:v>
                </c:pt>
              </c:strCache>
            </c:strRef>
          </c:tx>
          <c:spPr>
            <a:solidFill>
              <a:srgbClr val="C9CF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165166.3</c:v>
                </c:pt>
                <c:pt idx="1">
                  <c:v>375994.5</c:v>
                </c:pt>
                <c:pt idx="2">
                  <c:v>1029298.7</c:v>
                </c:pt>
                <c:pt idx="3">
                  <c:v>2296662.5</c:v>
                </c:pt>
                <c:pt idx="4">
                  <c:v>2686994.2</c:v>
                </c:pt>
                <c:pt idx="5">
                  <c:v>2832750.5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Otorgado</c:v>
                </c:pt>
              </c:strCache>
            </c:strRef>
          </c:tx>
          <c:spPr>
            <a:solidFill>
              <a:srgbClr val="222C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177289.8</c:v>
                </c:pt>
                <c:pt idx="1">
                  <c:v>336200</c:v>
                </c:pt>
                <c:pt idx="2">
                  <c:v>872457.5</c:v>
                </c:pt>
                <c:pt idx="3">
                  <c:v>1232141.4</c:v>
                </c:pt>
                <c:pt idx="4">
                  <c:v>1497742.3</c:v>
                </c:pt>
                <c:pt idx="5">
                  <c:v>1836632.1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Ejecución</c:v>
                </c:pt>
              </c:strCache>
            </c:strRef>
          </c:tx>
          <c:spPr>
            <a:solidFill>
              <a:srgbClr val="E7B86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189623.1</c:v>
                </c:pt>
                <c:pt idx="1">
                  <c:v>392382.8</c:v>
                </c:pt>
                <c:pt idx="2">
                  <c:v>839416</c:v>
                </c:pt>
                <c:pt idx="3">
                  <c:v>1349745</c:v>
                </c:pt>
                <c:pt idx="4">
                  <c:v>882561.9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23252E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Ejecución / otorgado</c:v>
                </c:pt>
              </c:strCache>
            </c:strRef>
          </c:tx>
          <c:spPr>
            <a:solidFill>
              <a:srgbClr val="C25A3C"/>
            </a:solidFill>
            <a:ln w="25400" cap="flat">
              <a:solidFill>
                <a:srgbClr val="C25A3C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C25A3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A3C"/>
              </a:solidFill>
              <a:ln w="9525" cap="flat">
                <a:solidFill>
                  <a:srgbClr val="C25A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107</c:v>
                </c:pt>
                <c:pt idx="1">
                  <c:v>116.7</c:v>
                </c:pt>
                <c:pt idx="2">
                  <c:v>96.2</c:v>
                </c:pt>
                <c:pt idx="3">
                  <c:v>109.5</c:v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C25A3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millones de $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40"/>
          <c:min val="0"/>
        </c:scaling>
        <c:delete val="0"/>
        <c:axPos val="r"/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Personal</c:v>
                </c:pt>
              </c:strCache>
            </c:strRef>
          </c:tx>
          <c:spPr>
            <a:solidFill>
              <a:srgbClr val="222C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71888.1</c:v>
                </c:pt>
                <c:pt idx="1">
                  <c:v>72718.2</c:v>
                </c:pt>
                <c:pt idx="2">
                  <c:v>72055</c:v>
                </c:pt>
                <c:pt idx="3">
                  <c:v>72876.1</c:v>
                </c:pt>
                <c:pt idx="4">
                  <c:v>73704.9</c:v>
                </c:pt>
                <c:pt idx="5">
                  <c:v>102625.3</c:v>
                </c:pt>
                <c:pt idx="6">
                  <c:v>76135.2</c:v>
                </c:pt>
                <c:pt idx="7">
                  <c:v>76210.6</c:v>
                </c:pt>
                <c:pt idx="8">
                  <c:v>77069.7</c:v>
                </c:pt>
                <c:pt idx="9">
                  <c:v>77936.7</c:v>
                </c:pt>
                <c:pt idx="10">
                  <c:v>78811.4</c:v>
                </c:pt>
                <c:pt idx="11">
                  <c:v>110520.2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Bs. Consumo</c:v>
                </c:pt>
              </c:strCache>
            </c:strRef>
          </c:tx>
          <c:spPr>
            <a:solidFill>
              <a:srgbClr val="AEC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15894.5</c:v>
                </c:pt>
                <c:pt idx="1">
                  <c:v>14600.3</c:v>
                </c:pt>
                <c:pt idx="2">
                  <c:v>13709.4</c:v>
                </c:pt>
                <c:pt idx="3">
                  <c:v>14634.6</c:v>
                </c:pt>
                <c:pt idx="4">
                  <c:v>12464.6</c:v>
                </c:pt>
                <c:pt idx="5">
                  <c:v>14269.2</c:v>
                </c:pt>
                <c:pt idx="6">
                  <c:v>16815.7</c:v>
                </c:pt>
                <c:pt idx="7">
                  <c:v>14311.6</c:v>
                </c:pt>
                <c:pt idx="8">
                  <c:v>13372.2</c:v>
                </c:pt>
                <c:pt idx="9">
                  <c:v>13132.4</c:v>
                </c:pt>
                <c:pt idx="10">
                  <c:v>12329.9</c:v>
                </c:pt>
                <c:pt idx="11">
                  <c:v>12715.4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Servicios</c:v>
                </c:pt>
              </c:strCache>
            </c:strRef>
          </c:tx>
          <c:spPr>
            <a:solidFill>
              <a:srgbClr val="2E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18888.4</c:v>
                </c:pt>
                <c:pt idx="1">
                  <c:v>16794.1</c:v>
                </c:pt>
                <c:pt idx="2">
                  <c:v>24557.8</c:v>
                </c:pt>
                <c:pt idx="3">
                  <c:v>18417.6</c:v>
                </c:pt>
                <c:pt idx="4">
                  <c:v>19728.7</c:v>
                </c:pt>
                <c:pt idx="5">
                  <c:v>20559</c:v>
                </c:pt>
                <c:pt idx="6">
                  <c:v>21644.4</c:v>
                </c:pt>
                <c:pt idx="7">
                  <c:v>21030.9</c:v>
                </c:pt>
                <c:pt idx="8">
                  <c:v>20764.6</c:v>
                </c:pt>
                <c:pt idx="9">
                  <c:v>22474.9</c:v>
                </c:pt>
                <c:pt idx="10">
                  <c:v>21591.5</c:v>
                </c:pt>
                <c:pt idx="11">
                  <c:v>22638.8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Impuestos</c:v>
                </c:pt>
              </c:strCache>
            </c:strRef>
          </c:tx>
          <c:spPr>
            <a:solidFill>
              <a:srgbClr val="8A8F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12215.2</c:v>
                </c:pt>
                <c:pt idx="1">
                  <c:v>9562.3</c:v>
                </c:pt>
                <c:pt idx="2">
                  <c:v>12846.5</c:v>
                </c:pt>
                <c:pt idx="3">
                  <c:v>10785.5</c:v>
                </c:pt>
                <c:pt idx="4">
                  <c:v>9805.2</c:v>
                </c:pt>
                <c:pt idx="5">
                  <c:v>10901</c:v>
                </c:pt>
                <c:pt idx="6">
                  <c:v>11809.7</c:v>
                </c:pt>
                <c:pt idx="7">
                  <c:v>10641.3</c:v>
                </c:pt>
                <c:pt idx="8">
                  <c:v>10220.2</c:v>
                </c:pt>
                <c:pt idx="9">
                  <c:v>10808.2</c:v>
                </c:pt>
                <c:pt idx="10">
                  <c:v>10719.7</c:v>
                </c:pt>
                <c:pt idx="11">
                  <c:v>10875.4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Bs. de Uso</c:v>
                </c:pt>
              </c:strCache>
            </c:strRef>
          </c:tx>
          <c:spPr>
            <a:solidFill>
              <a:srgbClr val="E7B86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33303.9</c:v>
                </c:pt>
                <c:pt idx="1">
                  <c:v>25153.7</c:v>
                </c:pt>
                <c:pt idx="2">
                  <c:v>27758.3</c:v>
                </c:pt>
                <c:pt idx="3">
                  <c:v>37174</c:v>
                </c:pt>
                <c:pt idx="4">
                  <c:v>22776.7</c:v>
                </c:pt>
                <c:pt idx="5">
                  <c:v>27469.1</c:v>
                </c:pt>
                <c:pt idx="6">
                  <c:v>25662.7</c:v>
                </c:pt>
                <c:pt idx="7">
                  <c:v>27803.9</c:v>
                </c:pt>
                <c:pt idx="8">
                  <c:v>24436.1</c:v>
                </c:pt>
                <c:pt idx="9">
                  <c:v>24918.7</c:v>
                </c:pt>
                <c:pt idx="10">
                  <c:v>23267.6</c:v>
                </c:pt>
                <c:pt idx="11">
                  <c:v>25825.1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lineChart>
        <c:varyColors val="0"/>
        <c:ser>
          <c:idx val="5"/>
          <c:order val="5"/>
          <c:tx>
            <c:strRef>
              <c:f>Sheet1!$G$1</c:f>
              <c:strCache>
                <c:ptCount val="1"/>
                <c:pt idx="0">
                  <c:v>Ingresos propios</c:v>
                </c:pt>
              </c:strCache>
            </c:strRef>
          </c:tx>
          <c:spPr>
            <a:solidFill>
              <a:srgbClr val="C25A3C"/>
            </a:solidFill>
            <a:ln w="25400" cap="flat">
              <a:solidFill>
                <a:srgbClr val="C25A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C25A3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A3C"/>
              </a:solidFill>
              <a:ln w="9525" cap="flat">
                <a:solidFill>
                  <a:srgbClr val="C25A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11385.1</c:v>
                </c:pt>
                <c:pt idx="1">
                  <c:v>11237.2</c:v>
                </c:pt>
                <c:pt idx="2">
                  <c:v>11160.7</c:v>
                </c:pt>
                <c:pt idx="3">
                  <c:v>11119.1</c:v>
                </c:pt>
                <c:pt idx="4">
                  <c:v>11045.4</c:v>
                </c:pt>
                <c:pt idx="5">
                  <c:v>10967.2</c:v>
                </c:pt>
                <c:pt idx="6">
                  <c:v>10894.4</c:v>
                </c:pt>
                <c:pt idx="7">
                  <c:v>10822.5</c:v>
                </c:pt>
                <c:pt idx="8">
                  <c:v>10751.8</c:v>
                </c:pt>
                <c:pt idx="9">
                  <c:v>10679.5</c:v>
                </c:pt>
                <c:pt idx="10">
                  <c:v>10601.7</c:v>
                </c:pt>
                <c:pt idx="11">
                  <c:v>10525.5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C25A3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7150"/>
            <a:ext cx="10696575" cy="7505700"/>
          </a:xfrm>
          <a:prstGeom prst="rect">
            <a:avLst/>
          </a:prstGeom>
          <a:solidFill>
            <a:srgbClr val="222C4F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2392859"/>
            <a:ext cx="99345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b="1" spc="162" kern="0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TRENES ARGENTINOS OPERACIONES · SOFSA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71500" y="2665214"/>
            <a:ext cx="9934575" cy="885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75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Presupuesto 2027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571500" y="3646289"/>
            <a:ext cx="7486650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600" dirty="0">
                <a:solidFill>
                  <a:srgbClr val="AEC6E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Del plurianual 2027–2029 a los techos del Ministerio de Economía, alineado a los lineamientos de Presidencia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1500" y="4530030"/>
            <a:ext cx="99345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EC6E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Subgerencia de Presupuesto y Control de Gestión / Gerencia de Planificación y Control de Gestión / Gerencia General Administrativa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1500" y="4764286"/>
            <a:ext cx="99345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EC6E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EX-2026-39744235-APN-SG#SOFSE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3EBF6"/>
          </a:solidFill>
          <a:ln/>
        </p:spPr>
      </p:sp>
      <p:sp>
        <p:nvSpPr>
          <p:cNvPr id="11" name="Text 9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D8E3F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D8E3F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AEC6E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 / 17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Resumen ejecutivo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762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$ 1.836.632 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762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Presupuesto 2027 presentado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762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+22,63% nominal vs 2026 · +3,92% real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68626" y="1052512"/>
            <a:ext cx="3159175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3768626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949601" y="1166812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64,8%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3949601" y="1609725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Del plurianual 2027 relevado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949601" y="1816298"/>
            <a:ext cx="32163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plurianual $ 2.832.751 M · ajuste −$ 996.118 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421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21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0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53,4%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230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Cobertura del requerido de las áreas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2230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requerido $ 3.436.617 M · brecha $ 1.599.985 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5300" y="2229445"/>
            <a:ext cx="3159026" cy="12471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300" y="2229445"/>
            <a:ext cx="38100" cy="124718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4,5%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Del sobre techo pedido fue otorgado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275" y="2993231"/>
            <a:ext cx="2892326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pedido $ 934.523 M · otorgado $ 42.088 M (sólo capital)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768626" y="2229445"/>
            <a:ext cx="3159175" cy="12471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8626" y="2229445"/>
            <a:ext cx="38100" cy="124718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7" name="Text 25"/>
          <p:cNvSpPr/>
          <p:nvPr/>
        </p:nvSpPr>
        <p:spPr>
          <a:xfrm>
            <a:off x="3949601" y="2343745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107,4%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3949601" y="2786658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Ejecución / otorgado 2022–2025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949601" y="2993231"/>
            <a:ext cx="2892475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superior al otorgado en 3 de 4 ejercicios · 2026: 58,9% a agosto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042100" y="2229445"/>
            <a:ext cx="3159026" cy="12471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2100" y="2229445"/>
            <a:ext cx="38100" cy="124718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0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8,7%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72230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Subsidio · ingresos / gastos corrientes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23075" y="2993231"/>
            <a:ext cx="2892326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gasto operativo $ 1.379.892 M · $ 6.124 por pasajero pago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95300" y="3609975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" y="3609975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7" name="Text 35"/>
          <p:cNvSpPr/>
          <p:nvPr/>
        </p:nvSpPr>
        <p:spPr>
          <a:xfrm>
            <a:off x="676275" y="3714750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el presupuesto 2027 representa el 53,4% de lo requerido por las áreas y el 64,8% del plurianual 2027. Gastos en Personal registra una cobertura del 94,7%; en consecuencia, la reducción se concentra en el gasto operativo (Bienes de Consumo y Servicios No Personales: </a:t>
            </a:r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27,5%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de cobertura) y en la Emergencia Ferroviaria. En los ejercicios 2022, 2023 y 2025 la ejecución superó el crédito inicial otorgado (2025: 109,5%).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5300" y="4574381"/>
            <a:ext cx="10086975" cy="250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30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Mensajes clave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33400" y="4882455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Composición: techo de la Secretaría de Transporte $ 1.537.804 M + ingresos propios $ 131.190 M + sobre techo de capital $ 42.088 M + SIFER $ 125.550 M = 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$ 1.836.632 M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33400" y="5402461"/>
            <a:ext cx="9725025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sobre techo solicitado para gastos corrientes ($ 427.203 M) 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fue otorgado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; el correspondiente a gastos de capital se otorgó en un 8,3%.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3400" y="5686276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Gerencia de Material Rodante: órdenes de compra 2027 por $ 491.410 M frente a un techo de $ 86.508 M en los incisos 2 y 3, con un 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déficit de $ 404.902 M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3400" y="6206282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gasto discrecional se concentra en el lineamiento Seguridad operacional y mantenimiento (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68,0%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); 13 compromisos de Presidencia carecen de partida o presentan cobertura inferior al 35%.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44" name="Text 42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2 / 17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presupuesto 2027 en grandes números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1709142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47700" y="1166812"/>
            <a:ext cx="1823442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60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$ 8.735.543 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7700" y="1476821"/>
            <a:ext cx="1823442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Plurianual 2027–2029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7700" y="1683395"/>
            <a:ext cx="1823442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formulado del trienio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61592" y="1458218"/>
            <a:ext cx="556617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→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2494359" y="1052512"/>
            <a:ext cx="1709291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2494359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3" name="Text 11"/>
          <p:cNvSpPr/>
          <p:nvPr/>
        </p:nvSpPr>
        <p:spPr>
          <a:xfrm>
            <a:off x="2646759" y="1166812"/>
            <a:ext cx="1823591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60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$ 2.832.751 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46759" y="1476821"/>
            <a:ext cx="1823591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Plurianual 2027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46759" y="1683395"/>
            <a:ext cx="182359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32,4% del trienio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60800" y="1458218"/>
            <a:ext cx="556617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→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4493568" y="1052512"/>
            <a:ext cx="1709291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493568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9" name="Text 17"/>
          <p:cNvSpPr/>
          <p:nvPr/>
        </p:nvSpPr>
        <p:spPr>
          <a:xfrm>
            <a:off x="4645968" y="1166812"/>
            <a:ext cx="1823591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60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$ 3.436.617 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45968" y="1476821"/>
            <a:ext cx="1823591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Requerido anual 2027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45968" y="1683395"/>
            <a:ext cx="1499741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solicitado por las áreas · +21,32% vs plurianual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60009" y="1458218"/>
            <a:ext cx="556617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→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92776" y="1052512"/>
            <a:ext cx="1709291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Shape 22"/>
          <p:cNvSpPr/>
          <p:nvPr/>
        </p:nvSpPr>
        <p:spPr>
          <a:xfrm>
            <a:off x="6492776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5" name="Text 23"/>
          <p:cNvSpPr/>
          <p:nvPr/>
        </p:nvSpPr>
        <p:spPr>
          <a:xfrm>
            <a:off x="6645176" y="1166812"/>
            <a:ext cx="1823591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60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$ 1.537.804 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45176" y="1476821"/>
            <a:ext cx="1499741" cy="413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Techo Secretaría de Transporte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45176" y="1889968"/>
            <a:ext cx="182359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44,7% del requerido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59217" y="1458218"/>
            <a:ext cx="556766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→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8492133" y="1052512"/>
            <a:ext cx="1709142" cy="1136303"/>
          </a:xfrm>
          <a:prstGeom prst="rect">
            <a:avLst/>
          </a:prstGeom>
          <a:solidFill>
            <a:srgbClr val="222C4F"/>
          </a:solidFill>
          <a:ln/>
        </p:spPr>
      </p:sp>
      <p:sp>
        <p:nvSpPr>
          <p:cNvPr id="30" name="Shape 28"/>
          <p:cNvSpPr/>
          <p:nvPr/>
        </p:nvSpPr>
        <p:spPr>
          <a:xfrm>
            <a:off x="8492133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1" name="Text 29"/>
          <p:cNvSpPr/>
          <p:nvPr/>
        </p:nvSpPr>
        <p:spPr>
          <a:xfrm>
            <a:off x="8644533" y="1166812"/>
            <a:ext cx="1823442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$ 1.836.632 M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44533" y="1476821"/>
            <a:ext cx="1823442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Presupuesto 2027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44533" y="1683395"/>
            <a:ext cx="1499592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C9D3E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techo + ingresos propios + sobre techo + SIFER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2379315"/>
          <a:ext cx="5307509" cy="914400"/>
        </p:xfrm>
        <a:graphic>
          <a:graphicData uri="http://schemas.openxmlformats.org/drawingml/2006/table">
            <a:tbl>
              <a:tblPr/>
              <a:tblGrid>
                <a:gridCol w="1237952"/>
                <a:gridCol w="1095821"/>
                <a:gridCol w="1095821"/>
                <a:gridCol w="1095821"/>
                <a:gridCol w="782092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Tipo de gasto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Plurianual 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Requerido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 2027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Cobertura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540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Gastos corrientes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$ 2.167.519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$ 2.882.395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$ 1.511.082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52,4%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Gastos de capital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$ 665.231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$ 554.223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$ 325.550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58,7%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Total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$ 2.832.751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$ 3.436.617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$ 1.836.632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53,4%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55209" y="2379315"/>
          <a:ext cx="4246066" cy="914400"/>
        </p:xfrm>
        <a:graphic>
          <a:graphicData uri="http://schemas.openxmlformats.org/drawingml/2006/table">
            <a:tbl>
              <a:tblPr/>
              <a:tblGrid>
                <a:gridCol w="2377678"/>
                <a:gridCol w="1222772"/>
                <a:gridCol w="645616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Financiamiento 2027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Monto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540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Tesoro · corrientes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$ 1.379.892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75,1%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Tesoro · capital (incl. sobre techo)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$ 200.000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10,9%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Ingresos propios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$ 131.190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7,1%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SIFER (DMU)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$ 125.550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6,8%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Total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$ 1.836.632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100%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36" name="Shape 32"/>
          <p:cNvSpPr/>
          <p:nvPr/>
        </p:nvSpPr>
        <p:spPr>
          <a:xfrm>
            <a:off x="495300" y="4628852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37" name="Shape 33"/>
          <p:cNvSpPr/>
          <p:nvPr/>
        </p:nvSpPr>
        <p:spPr>
          <a:xfrm>
            <a:off x="495300" y="4628852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8" name="Text 34"/>
          <p:cNvSpPr/>
          <p:nvPr/>
        </p:nvSpPr>
        <p:spPr>
          <a:xfrm>
            <a:off x="676275" y="4733627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sobre un plurianual 2027 de $ 2.832.751 M y un requerido de $ 3.436.617 M, el presupuesto asciende a $ 1.836.632 M (64,8% del plurianual y 53,4% del requerido). Los gastos corrientes representan el 82,3% del total, con una cobertura del 52,4% respecto de lo requerido; los gastos de capital alcanzan una cobertura del 58,7%. El Tesoro Nacional financia el 86,0% del presupuesto.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40" name="Text 36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41" name="Text 37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3 / 17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 plurianual al presupuesto anual</a:t>
            </a:r>
            <a:endParaRPr lang="en-US" sz="22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300" y="1052512"/>
            <a:ext cx="9705975" cy="4953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5300" y="6138862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7" name="Shape 4"/>
          <p:cNvSpPr/>
          <p:nvPr/>
        </p:nvSpPr>
        <p:spPr>
          <a:xfrm>
            <a:off x="495300" y="6138862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8" name="Text 5"/>
          <p:cNvSpPr/>
          <p:nvPr/>
        </p:nvSpPr>
        <p:spPr>
          <a:xfrm>
            <a:off x="676275" y="6243638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techo comunicado por la Secretaría de Transporte ($ 1.537.804 M) es inferior en $ 1.294.947 M al plurianual 2027. Con la incorporación de ingresos propios ($ 131.190 M), sobre techo de capital ($ 42.088 M) y SIFER ($ 125.550 M), el presupuesto asciende a $ 1.836.632 M. No cuentan con financiamiento el sobre techo corriente solicitado ($ 427.203 M) ni los sobre techos informados por las áreas ($ 162.552 M).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10" name="Text 7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4 / 17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Techo 2027 por tipo de gasto e inciso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66750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$ 1.511.082 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66750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Gastos corrientes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6750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82,3% del presupuesto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50369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69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121819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$ 325.550 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3121819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Gastos de capital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21819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17,7% · incluye SIFER $ 125.550 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05438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405438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5576888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$ 1.528.995 M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576888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Gasto Habitual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6888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83,2% del presupuesto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860506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0506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031956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$ 307.637 M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8031956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Emergencia Ferroviaria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31956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16,8% del presupuesto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2210395"/>
          <a:ext cx="9705975" cy="914400"/>
        </p:xfrm>
        <a:graphic>
          <a:graphicData uri="http://schemas.openxmlformats.org/drawingml/2006/table">
            <a:tbl>
              <a:tblPr/>
              <a:tblGrid>
                <a:gridCol w="2099370"/>
                <a:gridCol w="1238845"/>
                <a:gridCol w="1238845"/>
                <a:gridCol w="1238845"/>
                <a:gridCol w="1238845"/>
                <a:gridCol w="1112788"/>
                <a:gridCol w="883890"/>
                <a:gridCol w="654546"/>
              </a:tblGrid>
              <a:tr h="2649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Tipo de gasto / inciso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Plurianual 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Requerido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 2027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de GH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de EF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Cobertura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Peso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96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Gastos corrientes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$ 2.167.519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$ 2.882.395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$ 1.511.082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$ 1.403.629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$ 107.453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52,4%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82,3%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1. Gastos en Personal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$ 1.060.951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$ 1.015.886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$ 962.551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$ 962.551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94,7%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52,4%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2. Bienes de Consumo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$ 221.189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$ 733.954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$ 168.250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$ 88.409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$ 79.841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22,9%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9,2%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3. Servicios No Personales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$ 574.604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$ 781.960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$ 249.091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$ 221.479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$ 27.612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31,9%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13,6%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5. Impuestos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$ 310.775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$ 350.595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$ 131.190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$ 131.190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37,4%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7,1%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Gastos de capital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$ 665.231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$ 554.223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$ 325.550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$ 125.366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$ 200.184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58,7%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17,7%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4. Bienes de Uso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$ 665.231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$ 554.223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$ 325.550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$ 125.366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$ 200.184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58,7%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17,7%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Total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$ 2.832.751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$ 3.436.617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$ 1.836.632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$ 1.528.995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$ 307.637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53,4%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100%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495300" y="5022056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27" name="Shape 24"/>
          <p:cNvSpPr/>
          <p:nvPr/>
        </p:nvSpPr>
        <p:spPr>
          <a:xfrm>
            <a:off x="495300" y="5022056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8" name="Text 25"/>
          <p:cNvSpPr/>
          <p:nvPr/>
        </p:nvSpPr>
        <p:spPr>
          <a:xfrm>
            <a:off x="676275" y="5126831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Gastos en Personal representa el 52,4% del presupuesto, con una cobertura del 94,7% respecto de lo requerido. El inciso Impuestos se financia en su totalidad con ingresos propios ($ 131.190 M). Bienes de Uso se integra con techo ($ 157.912 M), sobre techo de capital ($ 42.088 M) y SIFER ($ 125.550 M, Material Rodante DMU).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30" name="Text 27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5 / 17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Plurianual 2027–2029 vs presupuesto anual, por inciso</a:t>
            </a:r>
            <a:endParaRPr lang="en-US" sz="2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052512"/>
          <a:ext cx="9705975" cy="914400"/>
        </p:xfrm>
        <a:graphic>
          <a:graphicData uri="http://schemas.openxmlformats.org/drawingml/2006/table">
            <a:tbl>
              <a:tblPr/>
              <a:tblGrid>
                <a:gridCol w="1542752"/>
                <a:gridCol w="1035993"/>
                <a:gridCol w="1035993"/>
                <a:gridCol w="1035993"/>
                <a:gridCol w="935980"/>
                <a:gridCol w="1045220"/>
                <a:gridCol w="935980"/>
                <a:gridCol w="1006376"/>
                <a:gridCol w="1131689"/>
              </a:tblGrid>
              <a:tr h="3030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Inciso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Plurianual 2027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Plurianual 2028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Plurianual 2029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Trienio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Requerido 2027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 2027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 / pluri 27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 / requerido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07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1. Gastos en Personal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$ 1.060.951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$ 1.150.025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$ 1.276.103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$ 3.487.079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$ 1.015.886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$ 962.551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90,7%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94,7%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2. Bienes de Consumo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$ 221.189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$ 282.488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$ 385.833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$ 889.510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$ 733.954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$ 168.250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76,1%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22,9%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3. Servicios No Personales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$ 574.604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$ 742.830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$ 849.157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$ 2.166.591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$ 781.960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$ 249.091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43,3%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31,9%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5. Impuestos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$ 310.775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$ 274.665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$ 277.276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$ 862.716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$ 350.595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$ 131.190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42,2%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37,4%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4. Bienes de Uso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$ 665.231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$ 369.385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$ 295.031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$ 1.329.647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$ 554.223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$ 325.550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48,9%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58,7%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Gasto Habitual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$ 1.975.386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$ 2.246.717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$ 2.592.772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$ 6.814.875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$ 2.451.190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$ 1.528.995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77,4%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62,4%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Emergencia Ferroviaria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$ 857.364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$ 572.677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$ 490.628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$ 1.920.669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$ 985.427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$ 307.637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35,9%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31,2%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Total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$ 2.832.751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$ 2.819.393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$ 3.083.400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$ 8.735.543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$ 3.436.617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$ 1.836.632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64,8%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53,4%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95300" y="3989189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7" name="Shape 4"/>
          <p:cNvSpPr/>
          <p:nvPr/>
        </p:nvSpPr>
        <p:spPr>
          <a:xfrm>
            <a:off x="495300" y="3989189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8" name="Text 5"/>
          <p:cNvSpPr/>
          <p:nvPr/>
        </p:nvSpPr>
        <p:spPr>
          <a:xfrm>
            <a:off x="676275" y="4093964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la Emergencia Ferroviaria obtiene un techo equivalente al 35,9% de lo previsto en el plurianual 2027, frente al 77,4% del Gasto Habitual. De aplicarse a 2028 y 2029 la relación techo/plurianual de 2027 (64,8%), los montos resultantes serían de $ 1.827.972 M y $ 1.999.142 M, respectivamente </a:t>
            </a:r>
            <a:pPr algn="l" indent="0" marL="0">
              <a:lnSpc>
                <a:spcPts val="1631"/>
              </a:lnSpc>
              <a:buNone/>
            </a:pPr>
            <a:r>
              <a:rPr lang="en-US" sz="1100" i="1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(escenario ilustrativo)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10" name="Text 7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6 / 17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Ingresos propios 2027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66750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$ 131.190 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66750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Ingresos propios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6750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7,1% del presupuesto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50369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69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121819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$ 121.404 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3121819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 de pasajes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21819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92,5% de los ingresos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05438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405438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5576888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225,3 M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576888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Pasajeros pagos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6888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18,8 M por mes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860506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0506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031956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$ 539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8031956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Boleto promedio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31956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 de pasajes / pasajeros pagos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2343745"/>
          <a:ext cx="4245918" cy="914400"/>
        </p:xfrm>
        <a:graphic>
          <a:graphicData uri="http://schemas.openxmlformats.org/drawingml/2006/table">
            <a:tbl>
              <a:tblPr/>
              <a:tblGrid>
                <a:gridCol w="2582763"/>
                <a:gridCol w="1045666"/>
                <a:gridCol w="617488"/>
              </a:tblGrid>
              <a:tr h="24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Concepto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Monto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50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Venta pasajes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$ 121.404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92,5%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Otros Ingresos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$ 9.786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7,5%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Arrendamientos de Locales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$ 9.223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7,0%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Peajes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$ 740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0,6%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Ingresos por Publicidad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$ 659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0,5%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Ingresos por Coche Comedor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$ 351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0,3%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Recupero de Gastos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$ 264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0,2%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Ingresos por Serv. Complementarios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$ 140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0,1%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Comisión por recarga SUBE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−$ 1.592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-1,2%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Total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$ 131.190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100%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3618" y="2343745"/>
          <a:ext cx="5307657" cy="914400"/>
        </p:xfrm>
        <a:graphic>
          <a:graphicData uri="http://schemas.openxmlformats.org/drawingml/2006/table">
            <a:tbl>
              <a:tblPr/>
              <a:tblGrid>
                <a:gridCol w="1387078"/>
                <a:gridCol w="1147316"/>
                <a:gridCol w="1009352"/>
                <a:gridCol w="778073"/>
                <a:gridCol w="985838"/>
              </a:tblGrid>
              <a:tr h="24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Línea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Pasajeros pagos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Venta pasajes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Otros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Boleto prom.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50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Línea Roca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99,6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$ 51.793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$ 2.725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$ 520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Línea Sarmiento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53,8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$ 30.272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$ 2.703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$ 563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Línea San Martín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29,3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$ 17.204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$ 864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$ 588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Línea Mitre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25,3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$ 8.515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$ 1.416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$ 337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Línea Belgrano Sur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13,5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$ 5.754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$ 406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$ 426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Const - Mar del Plata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$ 4.302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$ 449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$ 7.193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Línea TDLC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1,2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$ 1.349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$ 787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$ 1.123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Retiro - Junín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$ 771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$ 39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$ 4.548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Retiro - Rosario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0,2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$ 597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$ 135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$ 3.592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Resto (8 servicios)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1,8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$ 847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$ 264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$ 474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Total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225,3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$ 121.404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$ 9.786 M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$ 539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495300" y="5532239"/>
            <a:ext cx="9705975" cy="623888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28" name="Shape 24"/>
          <p:cNvSpPr/>
          <p:nvPr/>
        </p:nvSpPr>
        <p:spPr>
          <a:xfrm>
            <a:off x="495300" y="5532239"/>
            <a:ext cx="38100" cy="623888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9" name="Text 25"/>
          <p:cNvSpPr/>
          <p:nvPr/>
        </p:nvSpPr>
        <p:spPr>
          <a:xfrm>
            <a:off x="676275" y="5637014"/>
            <a:ext cx="943927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la venta de pasajes representa el 92,5% de los ingresos propios; Línea Roca y Línea Sarmiento concentran el 67,6% de dicha recaudación. Los ingresos propios financian el 7,1% del presupuesto y la totalidad del inciso Impuestos.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31" name="Text 27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7 / 17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Gasto operativo, ingresos y subsidio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762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$ 1.511.082 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762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Gastos corrientes 2027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762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incisos I, II, III y V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68626" y="1052512"/>
            <a:ext cx="3159175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3768626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949601" y="1166812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$ 131.190 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3949601" y="1609725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Ingresos propios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949601" y="1816298"/>
            <a:ext cx="32163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 de pasajes $ 121.404 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421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21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0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$ 1.379.892 M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230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Gasto operativo (GC − ingresos)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2230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equivale al techo ME para gastos corrientes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5300" y="2229445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300" y="2229445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8,7%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Subsidio · ingresos / GC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275" y="2993231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ingresos / gasto operativo: 9,5%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768626" y="2229445"/>
            <a:ext cx="3159175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8626" y="2229445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7" name="Text 25"/>
          <p:cNvSpPr/>
          <p:nvPr/>
        </p:nvSpPr>
        <p:spPr>
          <a:xfrm>
            <a:off x="3949601" y="2343745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225,3 M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3949601" y="2786658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Pasajeros pagos 2027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949601" y="2993231"/>
            <a:ext cx="32163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boleto promedio $ 539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042100" y="2229445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2100" y="2229445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0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$ 6.124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72230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Subsidio por pasajero pago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23075" y="2993231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11,4 veces el boleto promedio</a:t>
            </a:r>
            <a:endParaRPr lang="en-US" sz="95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495300" y="3406378"/>
          <a:ext cx="9705975" cy="23812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95300" y="5920978"/>
            <a:ext cx="9705975" cy="623888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37" name="Shape 34"/>
          <p:cNvSpPr/>
          <p:nvPr/>
        </p:nvSpPr>
        <p:spPr>
          <a:xfrm>
            <a:off x="495300" y="5920978"/>
            <a:ext cx="38100" cy="623888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8" name="Text 35"/>
          <p:cNvSpPr/>
          <p:nvPr/>
        </p:nvSpPr>
        <p:spPr>
          <a:xfrm>
            <a:off x="676275" y="6025753"/>
            <a:ext cx="943927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Los ingresos propios cubren el 8,7% del gasto corriente; el gasto operativo restante ($ 1.379.892 M) se financia con transferencias del Tesoro Nacional. El aporte estatal por pasajero pago asciende a $ 6.124, frente a un boleto promedio de $ 539.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40" name="Text 37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8 / 17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Techos, sobre techos y financiamiento</a:t>
            </a:r>
            <a:endParaRPr lang="en-US" sz="2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052512"/>
          <a:ext cx="9705975" cy="914400"/>
        </p:xfrm>
        <a:graphic>
          <a:graphicData uri="http://schemas.openxmlformats.org/drawingml/2006/table">
            <a:tbl>
              <a:tblPr/>
              <a:tblGrid>
                <a:gridCol w="615404"/>
                <a:gridCol w="1278136"/>
                <a:gridCol w="1480245"/>
                <a:gridCol w="1636812"/>
                <a:gridCol w="1046113"/>
                <a:gridCol w="1147911"/>
                <a:gridCol w="1542157"/>
                <a:gridCol w="959197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Año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Sobre techo pedido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Sobre techo otorgado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% del pedido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SIFER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Total Tesoro + SIFER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Var. i.a.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540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2022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$ 95.622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$ 95.622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+34,78%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2023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$ 231.095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$ 83.496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$ 0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0,0%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$ 231.095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+141,67%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2024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$ 533.100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$ 401.205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$ 0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0,0%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$ 533.100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+130,68%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2025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$ 852.834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$ 195.142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$ 1.047.976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+96,58%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2026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$ 1.179.027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$ 124.835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$ 93.023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$ 1.396.885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+33,29%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2027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$ 1.537.804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$ 934.523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$ 42.088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4,5%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$ 125.550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$ 1.705.442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+22,09%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95300" y="3660874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7" name="Shape 4"/>
          <p:cNvSpPr/>
          <p:nvPr/>
        </p:nvSpPr>
        <p:spPr>
          <a:xfrm>
            <a:off x="495300" y="3660874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8" name="Text 5"/>
          <p:cNvSpPr/>
          <p:nvPr/>
        </p:nvSpPr>
        <p:spPr>
          <a:xfrm>
            <a:off x="676275" y="3765649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Solicitud de sobre techo 2027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(NO-2026-72466251-APN-GPYCG#SOFSE): $ 427.203 M para gastos corrientes y $ 507.319 M para gastos de capital. Se otorgaron $ 42.088 M, exclusivamente para gastos de capital (8,3% de lo solicitado para capital; 4,5% del total solicitado). En 2026 se otorgaron $ 124.835 M de sobre techo y $ 93.023 M de SIFER.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10" name="Text 7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286750" y="7272338"/>
            <a:ext cx="1914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9 / 17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Ejecución vs presupuesto otorgado</a:t>
            </a:r>
            <a:endParaRPr lang="en-US" sz="2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052512"/>
          <a:ext cx="9705975" cy="914400"/>
        </p:xfrm>
        <a:graphic>
          <a:graphicData uri="http://schemas.openxmlformats.org/drawingml/2006/table">
            <a:tbl>
              <a:tblPr/>
              <a:tblGrid>
                <a:gridCol w="1219646"/>
                <a:gridCol w="1291382"/>
                <a:gridCol w="1291382"/>
                <a:gridCol w="1677739"/>
                <a:gridCol w="1291382"/>
                <a:gridCol w="1593949"/>
                <a:gridCol w="1340495"/>
              </a:tblGrid>
              <a:tr h="2649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Año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Formulación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Otorgado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Otorgado / formulado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Ejecución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Ejecución / otorgado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Var. otorgado i.a.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96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2022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$ 165.166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$ 177.290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107,3%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$ 189.623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25A3C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107,0%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2023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$ 375.995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$ 336.200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89,4%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$ 392.383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25A3C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116,7%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+89,63%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2024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$ 1.029.299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$ 872.457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84,8%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$ 839.416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E8B72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96,2%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+159,51%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2025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$ 2.296.663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$ 1.232.141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53,6%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$ 1.349.745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25A3C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109,5%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+41,23%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2026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(a agosto)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$ 2.686.994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$ 1.497.742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55,7%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$ 882.562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58,9%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+21,56%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2027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$ 2.832.751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$ 1.836.632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64,8%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—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+22,63%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95300" y="3241774"/>
          <a:ext cx="9705975" cy="23812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495300" y="5756374"/>
            <a:ext cx="9705975" cy="1038225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8" name="Shape 4"/>
          <p:cNvSpPr/>
          <p:nvPr/>
        </p:nvSpPr>
        <p:spPr>
          <a:xfrm>
            <a:off x="495300" y="5756374"/>
            <a:ext cx="38100" cy="1038225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9" name="Text 5"/>
          <p:cNvSpPr/>
          <p:nvPr/>
        </p:nvSpPr>
        <p:spPr>
          <a:xfrm>
            <a:off x="676275" y="5861149"/>
            <a:ext cx="9439275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en los ejercicios 2022, 2023 y 2025 la ejecución superó el crédito otorgado (107,0%, 116,7% y 109,5%), como resultado de ampliaciones presupuestarias durante el ejercicio. La relación otorgado/formulado descendió de 107,3% en 2022 a 53,6% en 2025 y 64,8% en 2027. A agosto de 2026 la ejecución alcanza el 58,9% (proyección anualizada: $ 1.323.843 M, 88,4% del otorgado). El crédito 2027 registra una variación nominal de +22,63% respecto de 2026 (+3,92% en términos reales, con una inflación estimada del 18%).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11" name="Text 7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10 / 17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Cuota mensual del techo 2027</a:t>
            </a:r>
            <a:endParaRPr lang="en-US" sz="2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95300" y="1052512"/>
          <a:ext cx="9705975" cy="495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95300" y="6100763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Los incrementos de junio y diciembre corresponden al Sueldo Anual Complementario (SAC). Promedio mensual: $ 153.053 M.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8" name="Text 5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11 / 17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Lineamientos de Presidencia · asignación del techo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2340769" cy="47625"/>
          </a:xfrm>
          <a:prstGeom prst="rect">
            <a:avLst/>
          </a:prstGeom>
          <a:solidFill>
            <a:srgbClr val="2E6FA8"/>
          </a:solidFill>
          <a:ln/>
        </p:spPr>
      </p:sp>
      <p:sp>
        <p:nvSpPr>
          <p:cNvPr id="7" name="Text 5"/>
          <p:cNvSpPr/>
          <p:nvPr/>
        </p:nvSpPr>
        <p:spPr>
          <a:xfrm>
            <a:off x="628650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6F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28650" y="1595437"/>
            <a:ext cx="2131219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Experiencia del pasajero e imagen institucional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50" y="2051149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2E6F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$ 152.577 M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28650" y="2375892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8,3% del total · 20,5% del discrecional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28650" y="2545556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cobertura 40,1%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50369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3" name="Shape 11"/>
          <p:cNvSpPr/>
          <p:nvPr/>
        </p:nvSpPr>
        <p:spPr>
          <a:xfrm>
            <a:off x="2950369" y="1052512"/>
            <a:ext cx="2340769" cy="47625"/>
          </a:xfrm>
          <a:prstGeom prst="rect">
            <a:avLst/>
          </a:prstGeom>
          <a:solidFill>
            <a:srgbClr val="222C4F"/>
          </a:solidFill>
          <a:ln/>
        </p:spPr>
      </p:sp>
      <p:sp>
        <p:nvSpPr>
          <p:cNvPr id="14" name="Text 12"/>
          <p:cNvSpPr/>
          <p:nvPr/>
        </p:nvSpPr>
        <p:spPr>
          <a:xfrm>
            <a:off x="3083719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083719" y="1595437"/>
            <a:ext cx="2131219" cy="597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Seguridad operacional, mantenimiento y calidad del servicio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83719" y="2250430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$ 505.406 M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083719" y="2575173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27,5% del total · 68,0% del discrecional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083719" y="2744837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cobertura 34,1%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05438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0" name="Shape 18"/>
          <p:cNvSpPr/>
          <p:nvPr/>
        </p:nvSpPr>
        <p:spPr>
          <a:xfrm>
            <a:off x="5405438" y="1052512"/>
            <a:ext cx="2340769" cy="47625"/>
          </a:xfrm>
          <a:prstGeom prst="rect">
            <a:avLst/>
          </a:prstGeom>
          <a:solidFill>
            <a:srgbClr val="C9974A"/>
          </a:solidFill>
          <a:ln/>
        </p:spPr>
      </p:sp>
      <p:sp>
        <p:nvSpPr>
          <p:cNvPr id="21" name="Text 19"/>
          <p:cNvSpPr/>
          <p:nvPr/>
        </p:nvSpPr>
        <p:spPr>
          <a:xfrm>
            <a:off x="5538787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C997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538787" y="1595437"/>
            <a:ext cx="2131219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Gestión administrativa, normativa y de control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538787" y="2051149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C997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$ 168.295 M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538787" y="2375892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9,2% del total · 5,0% del discrecional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38787" y="2545556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cobertura 39,1%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860506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7" name="Shape 25"/>
          <p:cNvSpPr/>
          <p:nvPr/>
        </p:nvSpPr>
        <p:spPr>
          <a:xfrm>
            <a:off x="7860506" y="1052512"/>
            <a:ext cx="2340769" cy="47625"/>
          </a:xfrm>
          <a:prstGeom prst="rect">
            <a:avLst/>
          </a:prstGeom>
          <a:solidFill>
            <a:srgbClr val="2E8B72"/>
          </a:solidFill>
          <a:ln/>
        </p:spPr>
      </p:sp>
      <p:sp>
        <p:nvSpPr>
          <p:cNvPr id="28" name="Text 26"/>
          <p:cNvSpPr/>
          <p:nvPr/>
        </p:nvSpPr>
        <p:spPr>
          <a:xfrm>
            <a:off x="7993856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8B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993856" y="1595437"/>
            <a:ext cx="2131219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Organización, personas y eficiencia de recursos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93856" y="2051149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2E8B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$ 1.010.353 M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993856" y="2375892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55,0% del total · 6,4% del discrecional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993856" y="2545556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cobertura 88,5%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95300" y="3143101"/>
            <a:ext cx="9763125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Cada proyecto/producto de la formulación se asignó a una premisa principal y, cuando corresponde, a premisas secundarias. Personal → premisa 4; Impuestos → premisa 3.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35" name="Text 33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12 / 17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3150" b="1" dirty="0">
                <a:solidFill>
                  <a:srgbClr val="2E6F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</a:t>
            </a:r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Experiencia del pasajero e imagen institucional · proyectos y productos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36 proyectos con techo · 70 productos · techo $ 152.577 M · cobertura 40,1%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724424"/>
                <a:gridCol w="4162574"/>
                <a:gridCol w="974824"/>
                <a:gridCol w="844153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Proyecto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Productos principales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Cobertura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5115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Estaciones Seguras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Prevención y Seg.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Servicio de seguridad Integral · Servicio de monitoreo urbano · SAE 911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+2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$ 79.762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51,7%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Planific. de Compras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Mantener las Estaciones y Trazas en cond… · Mantenimiento y Limpieza de Estaciones, … · Señalética Informativa y de Prevención e…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+2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$ 31.943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28,9%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Fortalecimiento la gestión operativa del Servicio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Planific. de Compras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Mantener las Estaciones y Trazas en cond… · Infraestructura Básica para el Funcionam… · Abastecimiento Energético Crítico para l…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$ 6.907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28,9%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Infraestructura Digital y Telecomunicaciones para una Operació…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Tec. Inf. e In. y 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Sistema de ticketing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$ 3.630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56,5%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PLAN DE ADECUACIÓN DE CONDICIONES DE SEGURIDAD EN ESTACIONES C…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Gcia.Ing.e Infraest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Obras de Inversión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$ 3.245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51,7%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Gcia.Ing.e Infraest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Mantener las Estaciones y Trazas en cond… · Mantenimiento y Limpieza de Estaciones, … · Asistencia directa a Líneas de Operación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$ 3.084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16,8%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Gestión para la cobertura preventiva del empleado y población 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Serv Méd-Salud Ocup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Área Protegida · Servicio de Vacunación · Espacios de cobertura cardioprotegida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+2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$ 2.610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43,2%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8" name="Text 5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13 / 17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31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</a:t>
            </a:r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Seguridad operacional, mantenimiento y calidad del servicio · proyectos y productos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132 proyectos con techo · 221 productos · techo $ 505.406 M · cobertura 34,1%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724424"/>
                <a:gridCol w="4162574"/>
                <a:gridCol w="974824"/>
                <a:gridCol w="844153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Proyecto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Productos principales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Cobertura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5208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Material Rodante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Adquisición de repuestos generales de MR · Servicio de reparación de Material Rodante · Servicio de inspección en talleres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$ 86.495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15,7%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Adquisición de 17 Triplas de Trocha Ancha para los servicios p…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Material Rodante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Emergencia Ferroviaria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$ 42.671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90,3%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 De Coord. Adm.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Abastecimiento Energético Crítico para l…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$ 41.036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30,7%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Adquisición de 7 Séxtuplas de Trocha Angosta para la Línea Bel…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Material Rodante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Emergencia Ferroviaria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$ 35.188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52,4%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Sostenimiento de la Gestión de Combustible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Planta Combustible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Estaciones de Servicio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$ 34.883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80,1%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Gcia.Ing.e Infraest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Obras de Vía · Repuestos Estratégicos para Sistemas de … · Mantenimiento de zona de vía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+3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$ 33.650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16,8%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Adquisición de 8 Triplas de Trocha Ancha para los servicios Pe…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Material Rodante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Emergencia Ferroviaria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$ 20.080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90,3%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8" name="Text 5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14 / 17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3150" b="1" dirty="0">
                <a:solidFill>
                  <a:srgbClr val="C997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</a:t>
            </a:r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Gestión administrativa, normativa y de control · proyectos y productos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36 proyectos con techo · 71 productos · techo $ 37.105 M · cobertura 46,5% · sin Impuestos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758357"/>
                <a:gridCol w="4200525"/>
                <a:gridCol w="895350"/>
                <a:gridCol w="851743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Proyecto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Productos principales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Cobertura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5115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(sin proyecto asignado)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Tec. Inf. e In. y 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Datacenter · (sin producto)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$ 6.880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56,5%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Eficiencia Administrativa para la Sostenibilidad Operativa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Sistemas y Procesos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Servicios profesionales y licencias · Servicios profesionales para el mantenim… · Herramientas de Business Intelligence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+2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$ 5.897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48,5%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Gestionar la política preventiva operativa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Hig, Seg. y Med. Amb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Indumentaria y elementos de protección p… · Evaluaciones Ambientales para la Gestión…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$ 4.169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27,4%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Gestión de la política de Seguros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Adm. de Riesgos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Responsabilidad Civil Comprensiva (USD) · Automotores ($) · Seguro Técnico (USD)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+9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$ 3.138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74,7%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Equipamiento y programas de Computación 2027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Tec. Inf. e In. y 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Activos Fijos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$ 2.985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51,7%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Infraestructura Digital y Telecomunicaciones para una Operació…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Tec. Inf. e In. y 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Gestión Administrativa Estratégica y Ser…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$ 1.876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56,5%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PROVISION Y PUESTA EN MARCHA DE PLANTAS DE TRATAMIENTO EN PRED…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Gcia.Ing.e Infraest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Emergencia Ferroviaria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$ 1.167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51,7%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8" name="Text 5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15 / 17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3150" b="1" dirty="0">
                <a:solidFill>
                  <a:srgbClr val="2E8B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</a:t>
            </a:r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222C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Organización, personas y eficiencia de recursos · proyectos y productos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51 proyectos con techo · 107 productos · techo $ 47.802 M · cobertura 38,0% · sin Personal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724424"/>
                <a:gridCol w="4162574"/>
                <a:gridCol w="974824"/>
                <a:gridCol w="844153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Proyecto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Productos principales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Techo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Cobertura</a:t>
                      </a:r>
                      <a:endParaRPr lang="en-US" sz="85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5208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Administración operativa de la flota vehicular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Automotores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Servicio de alquiler de vehículos · Provisión de Combustible · Servicio de reparación de flota vehicular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+7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$ 10.978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48,5%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Eficiencia Administrativa para la Sostenibilidad Operativa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 De Coord. Adm.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Gestión Administrativa Estratégica y Ser… · Gestión Operativa de Fondos y Recaudación · Costos Financieros Operativos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+3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$ 10.673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30,7%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Eficiencia Administrativa para la Sostenibilidad Operativa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Planific. de Compras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Gestión Administrativa Estratégica y Ser…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$ 3.862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28,9%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Plan de adecuación edilicia en almacenes, depósitos y pañoles …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Gcia.Ing.e Infraest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Obras de Inversión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$ 2.580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51,7%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PLAN DE ADECUACIÓN DE DEPENDENCIAS OPERATIVAS AMBA Y REG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Gcia.Ing.e Infraest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Obras de Inversión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$ 2.188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51,7%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ALMACEN DE CABECERA TAPIALES – LINEA BELGRANO SUR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Gcia.Ing.e Infraest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Obras de Inversión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$ 2.059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51,7%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Optimización Logística y de Abastecimiento Ferroviario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Gcia. Abast. y Log.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Centros Estratégicos de Abastecimiento F…</a:t>
                      </a:r>
                      <a:endParaRPr lang="en-US" sz="9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$ 1.798 M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28,0%</a:t>
                      </a:r>
                      <a:endParaRPr lang="en-US" sz="10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5E8F0"/>
          </a:solidFill>
          <a:ln/>
        </p:spPr>
      </p:sp>
      <p:sp>
        <p:nvSpPr>
          <p:cNvPr id="8" name="Text 5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222C4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A607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16 / 17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7150"/>
            <a:ext cx="10696575" cy="7505700"/>
          </a:xfrm>
          <a:prstGeom prst="rect">
            <a:avLst/>
          </a:prstGeom>
          <a:solidFill>
            <a:srgbClr val="222C4F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2281386"/>
            <a:ext cx="99345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b="1" spc="162" kern="0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TRENES ARGENTINOS OPERACIONES · SOFSA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71500" y="2553742"/>
            <a:ext cx="9934575" cy="1062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7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Muchas gracias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71500" y="3711922"/>
            <a:ext cx="8248650" cy="839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600" dirty="0">
                <a:solidFill>
                  <a:srgbClr val="AEC6E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todas las gerencias, subgerencias y áreas que participaron del proceso de formulación presupuestaria 2027, por la información aportada, el trabajo conjunto y el compromiso sostenido en cada una de sus etapas.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1500" y="4875609"/>
            <a:ext cx="99345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EC6E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Subgerencia de Presupuesto y Control de Gestión / Gerencia de Planificación y Control de Gestión / Gerencia General Administrativa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95300" y="7038975"/>
            <a:ext cx="9705975" cy="9525"/>
          </a:xfrm>
          <a:prstGeom prst="rect">
            <a:avLst/>
          </a:prstGeom>
          <a:solidFill>
            <a:srgbClr val="E3EBF6"/>
          </a:solidFill>
          <a:ln/>
        </p:spPr>
      </p:sp>
      <p:sp>
        <p:nvSpPr>
          <p:cNvPr id="10" name="Text 8"/>
          <p:cNvSpPr/>
          <p:nvPr/>
        </p:nvSpPr>
        <p:spPr>
          <a:xfrm>
            <a:off x="495300" y="7115175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Elaborado por: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D8E3F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5300" y="7272338"/>
            <a:ext cx="76390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50" b="1" dirty="0">
                <a:solidFill>
                  <a:srgbClr val="E7B86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Dudas/consultas:</a:t>
            </a:r>
            <a:pPr algn="l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D8E3F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emmanuel.miranda@trenesargentinos.gob.ar · fabian.alvarez@trenesargentinos.gob.ar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229600" y="7272338"/>
            <a:ext cx="19716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38"/>
              </a:lnSpc>
              <a:buNone/>
            </a:pPr>
            <a:r>
              <a:rPr lang="en-US" sz="850" dirty="0">
                <a:solidFill>
                  <a:srgbClr val="AEC6E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SOFSA · Presupuesto 2027 · 17 / 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Presupuesto 2027 · SOFSA</dc:title>
  <dc:subject>PptxGenJS Presentation</dc:subject>
  <dc:creator>Subgerencia de Presupuesto y Control de Gestión · SOFSA</dc:creator>
  <cp:lastModifiedBy>Subgerencia de Presupuesto y Control de Gestión · SOFSA</cp:lastModifiedBy>
  <cp:revision>1</cp:revision>
  <dcterms:created xsi:type="dcterms:W3CDTF">2026-10-07T20:04:38Z</dcterms:created>
  <dcterms:modified xsi:type="dcterms:W3CDTF">2026-10-07T20:04:38Z</dcterms:modified>
</cp:coreProperties>
</file>