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charts/chart1.xml" ContentType="application/vnd.openxmlformats-officedocument.drawingml.chart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charts/chart2.xml" ContentType="application/vnd.openxmlformats-officedocument.drawingml.chart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charts/chart3.xml" ContentType="application/vnd.openxmlformats-officedocument.drawingml.chart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charts/chart4.xml" ContentType="application/vnd.openxmlformats-officedocument.drawingml.chart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</p:sldIdLst>
  <p:notesMasterIdLst>
    <p:notesMasterId r:id="rId23"/>
  </p:notesMasterIdLst>
  <p:sldSz cx="10696575" cy="7562850"/>
  <p:notesSz cx="7562850" cy="1069657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notesMaster" Target="notesMasters/notesMaster1.xml"/><Relationship Id="rId24" Type="http://schemas.openxmlformats.org/officeDocument/2006/relationships/presProps" Target="presProps.xml"/><Relationship Id="rId25" Type="http://schemas.openxmlformats.org/officeDocument/2006/relationships/viewProps" Target="viewProps.xml"/><Relationship Id="rId26" Type="http://schemas.openxmlformats.org/officeDocument/2006/relationships/theme" Target="theme/theme1.xml"/><Relationship Id="rId27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Ingresos propios</c:v>
                </c:pt>
              </c:strCache>
            </c:strRef>
          </c:tx>
          <c:spPr>
            <a:solidFill>
              <a:srgbClr val="2E8B72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700" u="none">
                    <a:solidFill>
                      <a:srgbClr val="FFFFFF"/>
                    </a:solidFill>
                    <a:latin typeface="Arial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Sheet1!$A$2:$A$13</c:f>
              <c:multiLvlStrCache>
                <c:ptCount val="12"/>
                <c:lvl>
                  <c:pt idx="0">
                    <c:v>Ene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Abr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  <c:pt idx="7">
                    <c:v>Ago</c:v>
                  </c:pt>
                  <c:pt idx="8">
                    <c:v>Sep</c:v>
                  </c:pt>
                  <c:pt idx="9">
                    <c:v>Oct</c:v>
                  </c:pt>
                  <c:pt idx="10">
                    <c:v>Nov</c:v>
                  </c:pt>
                  <c:pt idx="11">
                    <c:v>Dic</c:v>
                  </c:pt>
                </c:lvl>
              </c:multiLvlStrCache>
            </c:multiLvl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11385.1</c:v>
                </c:pt>
                <c:pt idx="1">
                  <c:v>11237.2</c:v>
                </c:pt>
                <c:pt idx="2">
                  <c:v>11160.7</c:v>
                </c:pt>
                <c:pt idx="3">
                  <c:v>11119.1</c:v>
                </c:pt>
                <c:pt idx="4">
                  <c:v>11045.4</c:v>
                </c:pt>
                <c:pt idx="5">
                  <c:v>10967.2</c:v>
                </c:pt>
                <c:pt idx="6">
                  <c:v>10894.4</c:v>
                </c:pt>
                <c:pt idx="7">
                  <c:v>10822.5</c:v>
                </c:pt>
                <c:pt idx="8">
                  <c:v>10751.8</c:v>
                </c:pt>
                <c:pt idx="9">
                  <c:v>10679.5</c:v>
                </c:pt>
                <c:pt idx="10">
                  <c:v>10601.7</c:v>
                </c:pt>
                <c:pt idx="11">
                  <c:v>10525.5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Gasto operativo (GC − ingresos)</c:v>
                </c:pt>
              </c:strCache>
            </c:strRef>
          </c:tx>
          <c:spPr>
            <a:solidFill>
              <a:srgbClr val="222C4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700" u="none">
                    <a:solidFill>
                      <a:srgbClr val="FFFFFF"/>
                    </a:solidFill>
                    <a:latin typeface="Arial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Sheet1!$A$2:$A$13</c:f>
              <c:multiLvlStrCache>
                <c:ptCount val="12"/>
                <c:lvl>
                  <c:pt idx="0">
                    <c:v>Ene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Abr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  <c:pt idx="7">
                    <c:v>Ago</c:v>
                  </c:pt>
                  <c:pt idx="8">
                    <c:v>Sep</c:v>
                  </c:pt>
                  <c:pt idx="9">
                    <c:v>Oct</c:v>
                  </c:pt>
                  <c:pt idx="10">
                    <c:v>Nov</c:v>
                  </c:pt>
                  <c:pt idx="11">
                    <c:v>Dic</c:v>
                  </c:pt>
                </c:lvl>
              </c:multiLvlStrCache>
            </c:multiLvlStrRef>
          </c:cat>
          <c:val>
            <c:numRef>
              <c:f>Sheet1!$C$2:$C$13</c:f>
              <c:numCache>
                <c:formatCode>General</c:formatCode>
                <c:ptCount val="12"/>
                <c:pt idx="0">
                  <c:v>107501.1</c:v>
                </c:pt>
                <c:pt idx="1">
                  <c:v>102437.7</c:v>
                </c:pt>
                <c:pt idx="2">
                  <c:v>112008</c:v>
                </c:pt>
                <c:pt idx="3">
                  <c:v>105594.8</c:v>
                </c:pt>
                <c:pt idx="4">
                  <c:v>104658</c:v>
                </c:pt>
                <c:pt idx="5">
                  <c:v>137387.3</c:v>
                </c:pt>
                <c:pt idx="6">
                  <c:v>115510.7</c:v>
                </c:pt>
                <c:pt idx="7">
                  <c:v>111371.8</c:v>
                </c:pt>
                <c:pt idx="8">
                  <c:v>110675</c:v>
                </c:pt>
                <c:pt idx="9">
                  <c:v>113672.6</c:v>
                </c:pt>
                <c:pt idx="10">
                  <c:v>112850.8</c:v>
                </c:pt>
                <c:pt idx="11">
                  <c:v>146224.2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700" u="none">
                  <a:solidFill>
                    <a:srgbClr val="FFFFFF"/>
                  </a:solidFill>
                  <a:latin typeface="Arial"/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0"/>
        <c:overlap val="100"/>
        <c:axId val="2094734554"/>
        <c:axId val="2094734552"/>
        <c:axId val="2094734556"/>
      </c:barChart>
      <c:lineChart>
        <c:varyColors val="0"/>
        <c:ser>
          <c:idx val="2"/>
          <c:order val="2"/>
          <c:tx>
            <c:strRef>
              <c:f>Sheet1!$D$1</c:f>
              <c:strCache>
                <c:ptCount val="1"/>
                <c:pt idx="0">
                  <c:v>Subsidio: ingresos / GC</c:v>
                </c:pt>
              </c:strCache>
            </c:strRef>
          </c:tx>
          <c:spPr>
            <a:solidFill>
              <a:srgbClr val="E7B860"/>
            </a:solidFill>
            <a:ln w="25400" cap="flat">
              <a:solidFill>
                <a:srgbClr val="E7B860"/>
              </a:solidFill>
              <a:prstDash val="solid"/>
              <a:round/>
            </a:ln>
            <a:effectLst/>
          </c:spPr>
          <c:invertIfNegative val="0"/>
          <c:dLbls>
            <c:numFmt formatCode="0.0&quot;%&quot;" sourceLinked="0"/>
            <c:txPr>
              <a:bodyPr/>
              <a:lstStyle/>
              <a:p>
                <a:pPr>
                  <a:defRPr b="0" i="0" strike="noStrike" sz="800" u="none">
                    <a:solidFill>
                      <a:srgbClr val="E7B860"/>
                    </a:solidFill>
                    <a:latin typeface="Arial"/>
                  </a:defRPr>
                </a:pPr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E7B860"/>
              </a:solidFill>
              <a:ln w="9525" cap="flat">
                <a:solidFill>
                  <a:srgbClr val="E7B860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Sheet1!$A$2:$A$13</c:f>
              <c:multiLvlStrCache>
                <c:ptCount val="12"/>
                <c:lvl>
                  <c:pt idx="0">
                    <c:v>Ene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Abr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  <c:pt idx="7">
                    <c:v>Ago</c:v>
                  </c:pt>
                  <c:pt idx="8">
                    <c:v>Sep</c:v>
                  </c:pt>
                  <c:pt idx="9">
                    <c:v>Oct</c:v>
                  </c:pt>
                  <c:pt idx="10">
                    <c:v>Nov</c:v>
                  </c:pt>
                  <c:pt idx="11">
                    <c:v>Dic</c:v>
                  </c:pt>
                </c:lvl>
              </c:multiLvlStrCache>
            </c:multiLvlStrRef>
          </c:cat>
          <c:val>
            <c:numRef>
              <c:f>Sheet1!$D$2:$D$13</c:f>
              <c:numCache>
                <c:formatCode>General</c:formatCode>
                <c:ptCount val="12"/>
                <c:pt idx="0">
                  <c:v>9.6</c:v>
                </c:pt>
                <c:pt idx="1">
                  <c:v>9.9</c:v>
                </c:pt>
                <c:pt idx="2">
                  <c:v>9.1</c:v>
                </c:pt>
                <c:pt idx="3">
                  <c:v>9.5</c:v>
                </c:pt>
                <c:pt idx="4">
                  <c:v>9.5</c:v>
                </c:pt>
                <c:pt idx="5">
                  <c:v>7.4</c:v>
                </c:pt>
                <c:pt idx="6">
                  <c:v>8.6</c:v>
                </c:pt>
                <c:pt idx="7">
                  <c:v>8.9</c:v>
                </c:pt>
                <c:pt idx="8">
                  <c:v>8.9</c:v>
                </c:pt>
                <c:pt idx="9">
                  <c:v>8.6</c:v>
                </c:pt>
                <c:pt idx="10">
                  <c:v>8.6</c:v>
                </c:pt>
                <c:pt idx="11">
                  <c:v>6.7</c:v>
                </c:pt>
              </c:numCache>
            </c:numRef>
          </c:val>
          <c:smooth val="0"/>
        </c:ser>
        <c:dLbls>
          <c:numFmt formatCode="0.0&quot;%&quot;" sourceLinked="0"/>
          <c:txPr>
            <a:bodyPr/>
            <a:lstStyle/>
            <a:p>
              <a:pPr>
                <a:defRPr b="0" i="0" strike="noStrike" sz="800" u="none">
                  <a:solidFill>
                    <a:srgbClr val="E7B860"/>
                  </a:solidFill>
                  <a:latin typeface="Arial"/>
                </a:defRPr>
              </a:pPr>
            </a:p>
          </c:txPr>
          <c:dLblPos val="t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marker val="1"/>
        <c:axId val="2094734555"/>
        <c:axId val="2094734553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4E7EF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900" b="0" i="0" u="none" strike="noStrike">
                    <a:solidFill>
                      <a:srgbClr val="000000"/>
                    </a:solidFill>
                    <a:latin typeface="Arial"/>
                  </a:defRPr>
                </a:pPr>
                <a:r>
                  <a:rPr sz="900" b="0" i="0" u="none" strike="noStrike">
                    <a:solidFill>
                      <a:srgbClr val="000000"/>
                    </a:solidFill>
                    <a:latin typeface="Arial"/>
                  </a:rPr>
                  <a:t>millones de $</a:t>
                </a:r>
              </a:p>
            </c:rich>
          </c:tx>
          <c:layout/>
          <c:overlay val="0"/>
        </c:title>
        <c:numFmt formatCode="#,##0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valAx>
        <c:axId val="2094734553"/>
        <c:scaling>
          <c:orientation val="minMax"/>
          <c:max val="20"/>
          <c:min val="0"/>
        </c:scaling>
        <c:delete val="0"/>
        <c:axPos val="r"/>
        <c:numFmt formatCode="0&quot;%&quot;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5"/>
        <c:crosses val="max"/>
        <c:crossBetween val="between"/>
      </c:valAx>
      <c:catAx>
        <c:axId val="2094734555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3"/>
        <c:crosses val="autoZero"/>
        <c:auto val="1"/>
        <c:lblAlgn val="ctr"/>
        <c:noMultiLvlLbl val="1"/>
      </c:cat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900">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Formulación</c:v>
                </c:pt>
              </c:strCache>
            </c:strRef>
          </c:tx>
          <c:spPr>
            <a:solidFill>
              <a:srgbClr val="C9CFDD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700" u="none">
                    <a:solidFill>
                      <a:srgbClr val="23252E"/>
                    </a:solidFill>
                    <a:latin typeface="Arial"/>
                  </a:defRPr>
                </a:pPr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2022</c:v>
                  </c:pt>
                  <c:pt idx="1">
                    <c:v>2023</c:v>
                  </c:pt>
                  <c:pt idx="2">
                    <c:v>2024</c:v>
                  </c:pt>
                  <c:pt idx="3">
                    <c:v>2025</c:v>
                  </c:pt>
                  <c:pt idx="4">
                    <c:v>2026</c:v>
                  </c:pt>
                  <c:pt idx="5">
                    <c:v>2027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165166.3</c:v>
                </c:pt>
                <c:pt idx="1">
                  <c:v>375994.5</c:v>
                </c:pt>
                <c:pt idx="2">
                  <c:v>1029298.7</c:v>
                </c:pt>
                <c:pt idx="3">
                  <c:v>2296662.5</c:v>
                </c:pt>
                <c:pt idx="4">
                  <c:v>2686994.2</c:v>
                </c:pt>
                <c:pt idx="5">
                  <c:v>2832750.5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Otorgado</c:v>
                </c:pt>
              </c:strCache>
            </c:strRef>
          </c:tx>
          <c:spPr>
            <a:solidFill>
              <a:srgbClr val="222C4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700" u="none">
                    <a:solidFill>
                      <a:srgbClr val="23252E"/>
                    </a:solidFill>
                    <a:latin typeface="Arial"/>
                  </a:defRPr>
                </a:pPr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2022</c:v>
                  </c:pt>
                  <c:pt idx="1">
                    <c:v>2023</c:v>
                  </c:pt>
                  <c:pt idx="2">
                    <c:v>2024</c:v>
                  </c:pt>
                  <c:pt idx="3">
                    <c:v>2025</c:v>
                  </c:pt>
                  <c:pt idx="4">
                    <c:v>2026</c:v>
                  </c:pt>
                  <c:pt idx="5">
                    <c:v>2027</c:v>
                  </c:pt>
                </c:lvl>
              </c:multiLvlStrCache>
            </c:multiLvl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177289.8</c:v>
                </c:pt>
                <c:pt idx="1">
                  <c:v>336200</c:v>
                </c:pt>
                <c:pt idx="2">
                  <c:v>872457.5</c:v>
                </c:pt>
                <c:pt idx="3">
                  <c:v>1232141.4</c:v>
                </c:pt>
                <c:pt idx="4">
                  <c:v>1497742.3</c:v>
                </c:pt>
                <c:pt idx="5">
                  <c:v>1836632.1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Ejecución</c:v>
                </c:pt>
              </c:strCache>
            </c:strRef>
          </c:tx>
          <c:spPr>
            <a:solidFill>
              <a:srgbClr val="E7B860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700" u="none">
                    <a:solidFill>
                      <a:srgbClr val="23252E"/>
                    </a:solidFill>
                    <a:latin typeface="Arial"/>
                  </a:defRPr>
                </a:pPr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2022</c:v>
                  </c:pt>
                  <c:pt idx="1">
                    <c:v>2023</c:v>
                  </c:pt>
                  <c:pt idx="2">
                    <c:v>2024</c:v>
                  </c:pt>
                  <c:pt idx="3">
                    <c:v>2025</c:v>
                  </c:pt>
                  <c:pt idx="4">
                    <c:v>2026</c:v>
                  </c:pt>
                  <c:pt idx="5">
                    <c:v>2027</c:v>
                  </c:pt>
                </c:lvl>
              </c:multiLvlStrCache>
            </c:multiLvl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189623.1</c:v>
                </c:pt>
                <c:pt idx="1">
                  <c:v>392382.8</c:v>
                </c:pt>
                <c:pt idx="2">
                  <c:v>839416</c:v>
                </c:pt>
                <c:pt idx="3">
                  <c:v>1349745</c:v>
                </c:pt>
                <c:pt idx="4">
                  <c:v>882561.9</c:v>
                </c:pt>
                <c:pt idx="5">
                  <c:v/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700" u="none">
                  <a:solidFill>
                    <a:srgbClr val="23252E"/>
                  </a:solidFill>
                  <a:latin typeface="Arial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lineChart>
        <c:varyColors val="0"/>
        <c:ser>
          <c:idx val="3"/>
          <c:order val="3"/>
          <c:tx>
            <c:strRef>
              <c:f>Sheet1!$E$1</c:f>
              <c:strCache>
                <c:ptCount val="1"/>
                <c:pt idx="0">
                  <c:v>Ejecución / otorgado</c:v>
                </c:pt>
              </c:strCache>
            </c:strRef>
          </c:tx>
          <c:spPr>
            <a:solidFill>
              <a:srgbClr val="C25A3C"/>
            </a:solidFill>
            <a:ln w="25400" cap="flat">
              <a:solidFill>
                <a:srgbClr val="C25A3C"/>
              </a:solidFill>
              <a:prstDash val="solid"/>
              <a:round/>
            </a:ln>
            <a:effectLst/>
          </c:spPr>
          <c:invertIfNegative val="0"/>
          <c:dLbls>
            <c:numFmt formatCode="0.0&quot;%&quot;" sourceLinked="0"/>
            <c:txPr>
              <a:bodyPr/>
              <a:lstStyle/>
              <a:p>
                <a:pPr>
                  <a:defRPr b="0" i="0" strike="noStrike" sz="800" u="none">
                    <a:solidFill>
                      <a:srgbClr val="C25A3C"/>
                    </a:solidFill>
                    <a:latin typeface="Arial"/>
                  </a:defRPr>
                </a:pPr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C25A3C"/>
              </a:solidFill>
              <a:ln w="9525" cap="flat">
                <a:solidFill>
                  <a:srgbClr val="C25A3C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Sheet1!$A$2:$A$7</c:f>
              <c:multiLvlStrCache>
                <c:ptCount val="6"/>
                <c:lvl>
                  <c:pt idx="0">
                    <c:v>2022</c:v>
                  </c:pt>
                  <c:pt idx="1">
                    <c:v>2023</c:v>
                  </c:pt>
                  <c:pt idx="2">
                    <c:v>2024</c:v>
                  </c:pt>
                  <c:pt idx="3">
                    <c:v>2025</c:v>
                  </c:pt>
                  <c:pt idx="4">
                    <c:v>2026</c:v>
                  </c:pt>
                  <c:pt idx="5">
                    <c:v>2027</c:v>
                  </c:pt>
                </c:lvl>
              </c:multiLvlStrCache>
            </c:multiLvlStrRef>
          </c:cat>
          <c:val>
            <c:numRef>
              <c:f>Sheet1!$E$2:$E$7</c:f>
              <c:numCache>
                <c:formatCode>General</c:formatCode>
                <c:ptCount val="6"/>
                <c:pt idx="0">
                  <c:v>107</c:v>
                </c:pt>
                <c:pt idx="1">
                  <c:v>116.7</c:v>
                </c:pt>
                <c:pt idx="2">
                  <c:v>96.2</c:v>
                </c:pt>
                <c:pt idx="3">
                  <c:v>109.5</c:v>
                </c:pt>
                <c:pt idx="4">
                  <c:v/>
                </c:pt>
                <c:pt idx="5">
                  <c:v/>
                </c:pt>
              </c:numCache>
            </c:numRef>
          </c:val>
          <c:smooth val="0"/>
        </c:ser>
        <c:dLbls>
          <c:numFmt formatCode="0.0&quot;%&quot;" sourceLinked="0"/>
          <c:txPr>
            <a:bodyPr/>
            <a:lstStyle/>
            <a:p>
              <a:pPr>
                <a:defRPr b="0" i="0" strike="noStrike" sz="800" u="none">
                  <a:solidFill>
                    <a:srgbClr val="C25A3C"/>
                  </a:solidFill>
                  <a:latin typeface="Arial"/>
                </a:defRPr>
              </a:pPr>
            </a:p>
          </c:txPr>
          <c:dLblPos val="t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marker val="1"/>
        <c:axId val="2094734555"/>
        <c:axId val="2094734553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4E7EF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900" b="0" i="0" u="none" strike="noStrike">
                    <a:solidFill>
                      <a:srgbClr val="000000"/>
                    </a:solidFill>
                    <a:latin typeface="Arial"/>
                  </a:defRPr>
                </a:pPr>
                <a:r>
                  <a:rPr sz="900" b="0" i="0" u="none" strike="noStrike">
                    <a:solidFill>
                      <a:srgbClr val="000000"/>
                    </a:solidFill>
                    <a:latin typeface="Arial"/>
                  </a:rPr>
                  <a:t>millones de $</a:t>
                </a:r>
              </a:p>
            </c:rich>
          </c:tx>
          <c:layout/>
          <c:overlay val="0"/>
        </c:title>
        <c:numFmt formatCode="#,##0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valAx>
        <c:axId val="2094734553"/>
        <c:scaling>
          <c:orientation val="minMax"/>
          <c:max val="140"/>
          <c:min val="0"/>
        </c:scaling>
        <c:delete val="0"/>
        <c:axPos val="r"/>
        <c:numFmt formatCode="0&quot;%&quot;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5"/>
        <c:crosses val="max"/>
        <c:crossBetween val="between"/>
      </c:valAx>
      <c:catAx>
        <c:axId val="2094734555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3"/>
        <c:crosses val="autoZero"/>
        <c:auto val="1"/>
        <c:lblAlgn val="ctr"/>
        <c:noMultiLvlLbl val="1"/>
      </c:cat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900">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Personal</c:v>
                </c:pt>
              </c:strCache>
            </c:strRef>
          </c:tx>
          <c:spPr>
            <a:solidFill>
              <a:srgbClr val="222C4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700" u="none">
                    <a:solidFill>
                      <a:srgbClr val="FFFFFF"/>
                    </a:solidFill>
                    <a:latin typeface="Arial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Sheet1!$A$2:$A$13</c:f>
              <c:multiLvlStrCache>
                <c:ptCount val="12"/>
                <c:lvl>
                  <c:pt idx="0">
                    <c:v>Ene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Abr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  <c:pt idx="7">
                    <c:v>Ago</c:v>
                  </c:pt>
                  <c:pt idx="8">
                    <c:v>Sep</c:v>
                  </c:pt>
                  <c:pt idx="9">
                    <c:v>Oct</c:v>
                  </c:pt>
                  <c:pt idx="10">
                    <c:v>Nov</c:v>
                  </c:pt>
                  <c:pt idx="11">
                    <c:v>Dic</c:v>
                  </c:pt>
                </c:lvl>
              </c:multiLvlStrCache>
            </c:multiLvl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71888.1</c:v>
                </c:pt>
                <c:pt idx="1">
                  <c:v>72718.2</c:v>
                </c:pt>
                <c:pt idx="2">
                  <c:v>72055</c:v>
                </c:pt>
                <c:pt idx="3">
                  <c:v>72876.1</c:v>
                </c:pt>
                <c:pt idx="4">
                  <c:v>73704.9</c:v>
                </c:pt>
                <c:pt idx="5">
                  <c:v>102625.3</c:v>
                </c:pt>
                <c:pt idx="6">
                  <c:v>76135.2</c:v>
                </c:pt>
                <c:pt idx="7">
                  <c:v>76210.6</c:v>
                </c:pt>
                <c:pt idx="8">
                  <c:v>77069.7</c:v>
                </c:pt>
                <c:pt idx="9">
                  <c:v>77936.7</c:v>
                </c:pt>
                <c:pt idx="10">
                  <c:v>78811.4</c:v>
                </c:pt>
                <c:pt idx="11">
                  <c:v>110520.2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Bs. Consumo</c:v>
                </c:pt>
              </c:strCache>
            </c:strRef>
          </c:tx>
          <c:spPr>
            <a:solidFill>
              <a:srgbClr val="AEC6E4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700" u="none">
                    <a:solidFill>
                      <a:srgbClr val="FFFFFF"/>
                    </a:solidFill>
                    <a:latin typeface="Arial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Sheet1!$A$2:$A$13</c:f>
              <c:multiLvlStrCache>
                <c:ptCount val="12"/>
                <c:lvl>
                  <c:pt idx="0">
                    <c:v>Ene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Abr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  <c:pt idx="7">
                    <c:v>Ago</c:v>
                  </c:pt>
                  <c:pt idx="8">
                    <c:v>Sep</c:v>
                  </c:pt>
                  <c:pt idx="9">
                    <c:v>Oct</c:v>
                  </c:pt>
                  <c:pt idx="10">
                    <c:v>Nov</c:v>
                  </c:pt>
                  <c:pt idx="11">
                    <c:v>Dic</c:v>
                  </c:pt>
                </c:lvl>
              </c:multiLvlStrCache>
            </c:multiLvlStrRef>
          </c:cat>
          <c:val>
            <c:numRef>
              <c:f>Sheet1!$C$2:$C$13</c:f>
              <c:numCache>
                <c:formatCode>General</c:formatCode>
                <c:ptCount val="12"/>
                <c:pt idx="0">
                  <c:v>15894.5</c:v>
                </c:pt>
                <c:pt idx="1">
                  <c:v>14600.3</c:v>
                </c:pt>
                <c:pt idx="2">
                  <c:v>13709.4</c:v>
                </c:pt>
                <c:pt idx="3">
                  <c:v>14634.6</c:v>
                </c:pt>
                <c:pt idx="4">
                  <c:v>12464.6</c:v>
                </c:pt>
                <c:pt idx="5">
                  <c:v>14269.2</c:v>
                </c:pt>
                <c:pt idx="6">
                  <c:v>16815.7</c:v>
                </c:pt>
                <c:pt idx="7">
                  <c:v>14311.6</c:v>
                </c:pt>
                <c:pt idx="8">
                  <c:v>13372.2</c:v>
                </c:pt>
                <c:pt idx="9">
                  <c:v>13132.4</c:v>
                </c:pt>
                <c:pt idx="10">
                  <c:v>12329.9</c:v>
                </c:pt>
                <c:pt idx="11">
                  <c:v>12715.4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Servicios</c:v>
                </c:pt>
              </c:strCache>
            </c:strRef>
          </c:tx>
          <c:spPr>
            <a:solidFill>
              <a:srgbClr val="2E6FA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700" u="none">
                    <a:solidFill>
                      <a:srgbClr val="FFFFFF"/>
                    </a:solidFill>
                    <a:latin typeface="Arial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Sheet1!$A$2:$A$13</c:f>
              <c:multiLvlStrCache>
                <c:ptCount val="12"/>
                <c:lvl>
                  <c:pt idx="0">
                    <c:v>Ene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Abr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  <c:pt idx="7">
                    <c:v>Ago</c:v>
                  </c:pt>
                  <c:pt idx="8">
                    <c:v>Sep</c:v>
                  </c:pt>
                  <c:pt idx="9">
                    <c:v>Oct</c:v>
                  </c:pt>
                  <c:pt idx="10">
                    <c:v>Nov</c:v>
                  </c:pt>
                  <c:pt idx="11">
                    <c:v>Dic</c:v>
                  </c:pt>
                </c:lvl>
              </c:multiLvlStrCache>
            </c:multiLvlStrRef>
          </c:cat>
          <c:val>
            <c:numRef>
              <c:f>Sheet1!$D$2:$D$13</c:f>
              <c:numCache>
                <c:formatCode>General</c:formatCode>
                <c:ptCount val="12"/>
                <c:pt idx="0">
                  <c:v>18888.4</c:v>
                </c:pt>
                <c:pt idx="1">
                  <c:v>16794.1</c:v>
                </c:pt>
                <c:pt idx="2">
                  <c:v>24557.8</c:v>
                </c:pt>
                <c:pt idx="3">
                  <c:v>18417.6</c:v>
                </c:pt>
                <c:pt idx="4">
                  <c:v>19728.7</c:v>
                </c:pt>
                <c:pt idx="5">
                  <c:v>20559</c:v>
                </c:pt>
                <c:pt idx="6">
                  <c:v>21644.4</c:v>
                </c:pt>
                <c:pt idx="7">
                  <c:v>21030.9</c:v>
                </c:pt>
                <c:pt idx="8">
                  <c:v>20764.6</c:v>
                </c:pt>
                <c:pt idx="9">
                  <c:v>22474.9</c:v>
                </c:pt>
                <c:pt idx="10">
                  <c:v>21591.5</c:v>
                </c:pt>
                <c:pt idx="11">
                  <c:v>22638.8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Impuestos</c:v>
                </c:pt>
              </c:strCache>
            </c:strRef>
          </c:tx>
          <c:spPr>
            <a:solidFill>
              <a:srgbClr val="8A8FA6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700" u="none">
                    <a:solidFill>
                      <a:srgbClr val="FFFFFF"/>
                    </a:solidFill>
                    <a:latin typeface="Arial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Sheet1!$A$2:$A$13</c:f>
              <c:multiLvlStrCache>
                <c:ptCount val="12"/>
                <c:lvl>
                  <c:pt idx="0">
                    <c:v>Ene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Abr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  <c:pt idx="7">
                    <c:v>Ago</c:v>
                  </c:pt>
                  <c:pt idx="8">
                    <c:v>Sep</c:v>
                  </c:pt>
                  <c:pt idx="9">
                    <c:v>Oct</c:v>
                  </c:pt>
                  <c:pt idx="10">
                    <c:v>Nov</c:v>
                  </c:pt>
                  <c:pt idx="11">
                    <c:v>Dic</c:v>
                  </c:pt>
                </c:lvl>
              </c:multiLvlStrCache>
            </c:multiLvlStrRef>
          </c:cat>
          <c:val>
            <c:numRef>
              <c:f>Sheet1!$E$2:$E$13</c:f>
              <c:numCache>
                <c:formatCode>General</c:formatCode>
                <c:ptCount val="12"/>
                <c:pt idx="0">
                  <c:v>12215.2</c:v>
                </c:pt>
                <c:pt idx="1">
                  <c:v>9562.3</c:v>
                </c:pt>
                <c:pt idx="2">
                  <c:v>12846.5</c:v>
                </c:pt>
                <c:pt idx="3">
                  <c:v>10785.5</c:v>
                </c:pt>
                <c:pt idx="4">
                  <c:v>9805.2</c:v>
                </c:pt>
                <c:pt idx="5">
                  <c:v>10901</c:v>
                </c:pt>
                <c:pt idx="6">
                  <c:v>11809.7</c:v>
                </c:pt>
                <c:pt idx="7">
                  <c:v>10641.3</c:v>
                </c:pt>
                <c:pt idx="8">
                  <c:v>10220.2</c:v>
                </c:pt>
                <c:pt idx="9">
                  <c:v>10808.2</c:v>
                </c:pt>
                <c:pt idx="10">
                  <c:v>10719.7</c:v>
                </c:pt>
                <c:pt idx="11">
                  <c:v>10875.4</c:v>
                </c:pt>
              </c:numCache>
            </c:numRef>
          </c:val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Bs. de Uso</c:v>
                </c:pt>
              </c:strCache>
            </c:strRef>
          </c:tx>
          <c:spPr>
            <a:solidFill>
              <a:srgbClr val="E7B860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700" u="none">
                    <a:solidFill>
                      <a:srgbClr val="FFFFFF"/>
                    </a:solidFill>
                    <a:latin typeface="Arial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Sheet1!$A$2:$A$13</c:f>
              <c:multiLvlStrCache>
                <c:ptCount val="12"/>
                <c:lvl>
                  <c:pt idx="0">
                    <c:v>Ene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Abr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  <c:pt idx="7">
                    <c:v>Ago</c:v>
                  </c:pt>
                  <c:pt idx="8">
                    <c:v>Sep</c:v>
                  </c:pt>
                  <c:pt idx="9">
                    <c:v>Oct</c:v>
                  </c:pt>
                  <c:pt idx="10">
                    <c:v>Nov</c:v>
                  </c:pt>
                  <c:pt idx="11">
                    <c:v>Dic</c:v>
                  </c:pt>
                </c:lvl>
              </c:multiLvlStrCache>
            </c:multiLvlStrRef>
          </c:cat>
          <c:val>
            <c:numRef>
              <c:f>Sheet1!$F$2:$F$13</c:f>
              <c:numCache>
                <c:formatCode>General</c:formatCode>
                <c:ptCount val="12"/>
                <c:pt idx="0">
                  <c:v>33303.9</c:v>
                </c:pt>
                <c:pt idx="1">
                  <c:v>25153.7</c:v>
                </c:pt>
                <c:pt idx="2">
                  <c:v>27758.3</c:v>
                </c:pt>
                <c:pt idx="3">
                  <c:v>37174</c:v>
                </c:pt>
                <c:pt idx="4">
                  <c:v>22776.7</c:v>
                </c:pt>
                <c:pt idx="5">
                  <c:v>27469.1</c:v>
                </c:pt>
                <c:pt idx="6">
                  <c:v>25662.7</c:v>
                </c:pt>
                <c:pt idx="7">
                  <c:v>27803.9</c:v>
                </c:pt>
                <c:pt idx="8">
                  <c:v>24436.1</c:v>
                </c:pt>
                <c:pt idx="9">
                  <c:v>24918.7</c:v>
                </c:pt>
                <c:pt idx="10">
                  <c:v>23267.6</c:v>
                </c:pt>
                <c:pt idx="11">
                  <c:v>25825.1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700" u="none">
                  <a:solidFill>
                    <a:srgbClr val="FFFFFF"/>
                  </a:solidFill>
                  <a:latin typeface="Arial"/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0"/>
        <c:overlap val="100"/>
        <c:axId val="2094734554"/>
        <c:axId val="2094734552"/>
        <c:axId val="2094734556"/>
      </c:barChart>
      <c:lineChart>
        <c:varyColors val="0"/>
        <c:ser>
          <c:idx val="5"/>
          <c:order val="5"/>
          <c:tx>
            <c:strRef>
              <c:f>Sheet1!$G$1</c:f>
              <c:strCache>
                <c:ptCount val="1"/>
                <c:pt idx="0">
                  <c:v>Ingresos propios</c:v>
                </c:pt>
              </c:strCache>
            </c:strRef>
          </c:tx>
          <c:spPr>
            <a:solidFill>
              <a:srgbClr val="C25A3C"/>
            </a:solidFill>
            <a:ln w="25400" cap="flat">
              <a:solidFill>
                <a:srgbClr val="C25A3C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800" u="none">
                    <a:solidFill>
                      <a:srgbClr val="C25A3C"/>
                    </a:solidFill>
                    <a:latin typeface="Arial"/>
                  </a:defRPr>
                </a:pPr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C25A3C"/>
              </a:solidFill>
              <a:ln w="9525" cap="flat">
                <a:solidFill>
                  <a:srgbClr val="C25A3C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Sheet1!$A$2:$A$13</c:f>
              <c:multiLvlStrCache>
                <c:ptCount val="12"/>
                <c:lvl>
                  <c:pt idx="0">
                    <c:v>Ene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Abr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  <c:pt idx="7">
                    <c:v>Ago</c:v>
                  </c:pt>
                  <c:pt idx="8">
                    <c:v>Sep</c:v>
                  </c:pt>
                  <c:pt idx="9">
                    <c:v>Oct</c:v>
                  </c:pt>
                  <c:pt idx="10">
                    <c:v>Nov</c:v>
                  </c:pt>
                  <c:pt idx="11">
                    <c:v>Dic</c:v>
                  </c:pt>
                </c:lvl>
              </c:multiLvlStrCache>
            </c:multiLvlStrRef>
          </c:cat>
          <c:val>
            <c:numRef>
              <c:f>Sheet1!$G$2:$G$13</c:f>
              <c:numCache>
                <c:formatCode>General</c:formatCode>
                <c:ptCount val="12"/>
                <c:pt idx="0">
                  <c:v>11385.1</c:v>
                </c:pt>
                <c:pt idx="1">
                  <c:v>11237.2</c:v>
                </c:pt>
                <c:pt idx="2">
                  <c:v>11160.7</c:v>
                </c:pt>
                <c:pt idx="3">
                  <c:v>11119.1</c:v>
                </c:pt>
                <c:pt idx="4">
                  <c:v>11045.4</c:v>
                </c:pt>
                <c:pt idx="5">
                  <c:v>10967.2</c:v>
                </c:pt>
                <c:pt idx="6">
                  <c:v>10894.4</c:v>
                </c:pt>
                <c:pt idx="7">
                  <c:v>10822.5</c:v>
                </c:pt>
                <c:pt idx="8">
                  <c:v>10751.8</c:v>
                </c:pt>
                <c:pt idx="9">
                  <c:v>10679.5</c:v>
                </c:pt>
                <c:pt idx="10">
                  <c:v>10601.7</c:v>
                </c:pt>
                <c:pt idx="11">
                  <c:v>10525.5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800" u="none">
                  <a:solidFill>
                    <a:srgbClr val="C25A3C"/>
                  </a:solidFill>
                  <a:latin typeface="Arial"/>
                </a:defRPr>
              </a:pPr>
            </a:p>
          </c:txPr>
          <c:dLblPos val="t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4E7EF"/>
              </a:solidFill>
              <a:prstDash val="solid"/>
              <a:round/>
            </a:ln>
          </c:spPr>
        </c:majorGridlines>
        <c:numFmt formatCode="#,##0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900">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Requerido</c:v>
                </c:pt>
              </c:strCache>
            </c:strRef>
          </c:tx>
          <c:spPr>
            <a:solidFill>
              <a:srgbClr val="D5DCE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700" u="none">
                    <a:solidFill>
                      <a:srgbClr val="23252E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Experiencia del pasajero</c:v>
                  </c:pt>
                  <c:pt idx="1">
                    <c:v>Seguridad y mantenimiento</c:v>
                  </c:pt>
                  <c:pt idx="2">
                    <c:v>Gestión y control</c:v>
                  </c:pt>
                  <c:pt idx="3">
                    <c:v>Personas y eficiencia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380572.9</c:v>
                </c:pt>
                <c:pt idx="1">
                  <c:v>1483917.5</c:v>
                </c:pt>
                <c:pt idx="2">
                  <c:v>79757.3</c:v>
                </c:pt>
                <c:pt idx="3">
                  <c:v>125889.2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Techo 2027</c:v>
                </c:pt>
              </c:strCache>
            </c:strRef>
          </c:tx>
          <c:spPr>
            <a:solidFill>
              <a:srgbClr val="2E6FA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700" u="none">
                    <a:solidFill>
                      <a:srgbClr val="23252E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Experiencia del pasajero</c:v>
                  </c:pt>
                  <c:pt idx="1">
                    <c:v>Seguridad y mantenimiento</c:v>
                  </c:pt>
                  <c:pt idx="2">
                    <c:v>Gestión y control</c:v>
                  </c:pt>
                  <c:pt idx="3">
                    <c:v>Personas y eficiencia</c:v>
                  </c:pt>
                </c:lvl>
              </c:multiLvlStrCache>
            </c:multiLvl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152577.3</c:v>
                </c:pt>
                <c:pt idx="1">
                  <c:v>505406.2</c:v>
                </c:pt>
                <c:pt idx="2">
                  <c:v>37105</c:v>
                </c:pt>
                <c:pt idx="3">
                  <c:v>47802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700" u="none">
                  <a:solidFill>
                    <a:srgbClr val="23252E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4E7EF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900" b="0" i="0" u="none" strike="noStrike">
                    <a:solidFill>
                      <a:srgbClr val="000000"/>
                    </a:solidFill>
                    <a:latin typeface="Arial"/>
                  </a:defRPr>
                </a:pPr>
                <a:r>
                  <a:rPr sz="900" b="0" i="0" u="none" strike="noStrike">
                    <a:solidFill>
                      <a:srgbClr val="000000"/>
                    </a:solidFill>
                    <a:latin typeface="Arial"/>
                  </a:rPr>
                  <a:t>millones de $</a:t>
                </a:r>
              </a:p>
            </c:rich>
          </c:tx>
          <c:layout/>
          <c:overlay val="0"/>
        </c:title>
        <c:numFmt formatCode="#,##0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900">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4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696575" cy="756285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0696575" cy="57150"/>
          </a:xfrm>
          <a:prstGeom prst="rect">
            <a:avLst/>
          </a:prstGeom>
          <a:solidFill>
            <a:srgbClr val="E7B860"/>
          </a:solidFill>
          <a:ln/>
        </p:spPr>
      </p:sp>
      <p:sp>
        <p:nvSpPr>
          <p:cNvPr id="4" name="Shape 2"/>
          <p:cNvSpPr/>
          <p:nvPr/>
        </p:nvSpPr>
        <p:spPr>
          <a:xfrm>
            <a:off x="57150" y="114300"/>
            <a:ext cx="10582275" cy="7391400"/>
          </a:xfrm>
          <a:prstGeom prst="rect">
            <a:avLst/>
          </a:prstGeom>
          <a:solidFill>
            <a:srgbClr val="222C4F"/>
          </a:solidFill>
          <a:ln/>
        </p:spPr>
      </p:sp>
      <p:sp>
        <p:nvSpPr>
          <p:cNvPr id="5" name="Text 3"/>
          <p:cNvSpPr/>
          <p:nvPr/>
        </p:nvSpPr>
        <p:spPr>
          <a:xfrm>
            <a:off x="628650" y="2054721"/>
            <a:ext cx="9820275" cy="17716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395"/>
              </a:lnSpc>
              <a:buNone/>
            </a:pPr>
            <a:r>
              <a:rPr lang="en-US" sz="900" b="1" spc="162" kern="0" dirty="0">
                <a:solidFill>
                  <a:srgbClr val="E7B8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TRENES ARGENTINOS OPERACIONES · SOFSA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628650" y="2327077"/>
            <a:ext cx="9820275" cy="88582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6975"/>
              </a:lnSpc>
              <a:buNone/>
            </a:pPr>
            <a:r>
              <a:rPr lang="en-US" sz="415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Presupuesto 2027</a:t>
            </a:r>
            <a:endParaRPr lang="en-US" sz="4150" dirty="0"/>
          </a:p>
        </p:txBody>
      </p:sp>
      <p:sp>
        <p:nvSpPr>
          <p:cNvPr id="7" name="Text 5"/>
          <p:cNvSpPr/>
          <p:nvPr/>
        </p:nvSpPr>
        <p:spPr>
          <a:xfrm>
            <a:off x="628650" y="3308152"/>
            <a:ext cx="7486650" cy="55989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05"/>
              </a:lnSpc>
              <a:buNone/>
            </a:pPr>
            <a:r>
              <a:rPr lang="en-US" sz="1450" dirty="0">
                <a:solidFill>
                  <a:srgbClr val="AEC6E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Del plurianual 2027–2029 a los techos del Ministerio de Economía, alineado a los lineamientos de Presidencia</a:t>
            </a:r>
            <a:endParaRPr lang="en-US" sz="1450" dirty="0"/>
          </a:p>
        </p:txBody>
      </p:sp>
      <p:sp>
        <p:nvSpPr>
          <p:cNvPr id="8" name="Text 6"/>
          <p:cNvSpPr/>
          <p:nvPr/>
        </p:nvSpPr>
        <p:spPr>
          <a:xfrm>
            <a:off x="628650" y="4191893"/>
            <a:ext cx="9820275" cy="17716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395"/>
              </a:lnSpc>
              <a:buNone/>
            </a:pPr>
            <a:r>
              <a:rPr lang="en-US" sz="900" dirty="0">
                <a:solidFill>
                  <a:srgbClr val="AEC6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Subgerencia de Presupuesto y Control de Gestión / Gerencia de Planificación y Control de Gestión / Gerencia General Administrativa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628650" y="4426148"/>
            <a:ext cx="9820275" cy="17716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395"/>
              </a:lnSpc>
              <a:buNone/>
            </a:pPr>
            <a:r>
              <a:rPr lang="en-US" sz="900" dirty="0">
                <a:solidFill>
                  <a:srgbClr val="AEC6E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EX-2026-39744235-APN-SG#SOFSE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628650" y="4993779"/>
            <a:ext cx="862965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950" b="1" dirty="0">
                <a:solidFill>
                  <a:srgbClr val="E7B8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Elaborado por:</a:t>
            </a:r>
            <a:pPr algn="l" indent="0" marL="0">
              <a:lnSpc>
                <a:spcPts val="1500"/>
              </a:lnSpc>
              <a:buNone/>
            </a:pPr>
            <a:r>
              <a:rPr lang="en-US" sz="950" dirty="0">
                <a:solidFill>
                  <a:srgbClr val="D8E3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Emmanuel Miranda, Fabián R. Álvarez · Gustavo Maida, Marlene Figueroa, Benjamín Sacido, Hernán Corro, Alejandra Quintana, Verónica Orosco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628650" y="5374779"/>
            <a:ext cx="89535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950" b="1" dirty="0">
                <a:solidFill>
                  <a:srgbClr val="E7B8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Dudas/consultas:</a:t>
            </a:r>
            <a:pPr algn="l" indent="0" marL="0">
              <a:lnSpc>
                <a:spcPts val="1500"/>
              </a:lnSpc>
              <a:buNone/>
            </a:pPr>
            <a:r>
              <a:rPr lang="en-US" sz="950" dirty="0">
                <a:solidFill>
                  <a:srgbClr val="D8E3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emmanuel.miranda@trenesargentinos.gob.ar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438150" y="7267129"/>
            <a:ext cx="7600950" cy="16240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279"/>
              </a:lnSpc>
              <a:buNone/>
            </a:pPr>
            <a:r>
              <a:rPr lang="en-US" sz="850" dirty="0">
                <a:solidFill>
                  <a:srgbClr val="AEC6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SOFSA · Presupuesto 2027 · Elaborado por la Subgerencia de Presupuesto y Control de Gestión · consultas: emmanuel.miranda@trenesargentinos.gob.ar</a:t>
            </a:r>
            <a:endParaRPr lang="en-US" sz="850" dirty="0"/>
          </a:p>
        </p:txBody>
      </p:sp>
      <p:sp>
        <p:nvSpPr>
          <p:cNvPr id="13" name="Text 11"/>
          <p:cNvSpPr/>
          <p:nvPr/>
        </p:nvSpPr>
        <p:spPr>
          <a:xfrm>
            <a:off x="9963150" y="7267129"/>
            <a:ext cx="676275" cy="16240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279"/>
              </a:lnSpc>
              <a:buNone/>
            </a:pPr>
            <a:r>
              <a:rPr lang="en-US" sz="850" dirty="0">
                <a:solidFill>
                  <a:srgbClr val="AEC6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/ 21</a:t>
            </a:r>
            <a:endParaRPr lang="en-US" sz="8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696575" cy="756285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0696575" cy="57150"/>
          </a:xfrm>
          <a:prstGeom prst="rect">
            <a:avLst/>
          </a:prstGeom>
          <a:solidFill>
            <a:srgbClr val="E7B860"/>
          </a:solidFill>
          <a:ln/>
        </p:spPr>
      </p:sp>
      <p:sp>
        <p:nvSpPr>
          <p:cNvPr id="4" name="Text 2"/>
          <p:cNvSpPr/>
          <p:nvPr/>
        </p:nvSpPr>
        <p:spPr>
          <a:xfrm>
            <a:off x="495300" y="438150"/>
            <a:ext cx="10086975" cy="44291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3488"/>
              </a:lnSpc>
              <a:buNone/>
            </a:pPr>
            <a:r>
              <a:rPr lang="en-US" sz="2050" b="1" dirty="0">
                <a:solidFill>
                  <a:srgbClr val="222C4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Resumen ejecutivo</a:t>
            </a:r>
            <a:endParaRPr lang="en-US" sz="2050" dirty="0"/>
          </a:p>
        </p:txBody>
      </p:sp>
      <p:sp>
        <p:nvSpPr>
          <p:cNvPr id="5" name="Shape 3"/>
          <p:cNvSpPr/>
          <p:nvPr/>
        </p:nvSpPr>
        <p:spPr>
          <a:xfrm>
            <a:off x="495300" y="1052512"/>
            <a:ext cx="3159026" cy="1062633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6" name="Shape 4"/>
          <p:cNvSpPr/>
          <p:nvPr/>
        </p:nvSpPr>
        <p:spPr>
          <a:xfrm>
            <a:off x="495300" y="1052512"/>
            <a:ext cx="38100" cy="1062633"/>
          </a:xfrm>
          <a:prstGeom prst="rect">
            <a:avLst/>
          </a:prstGeom>
          <a:solidFill>
            <a:srgbClr val="E7B860"/>
          </a:solidFill>
          <a:ln/>
        </p:spPr>
      </p:sp>
      <p:sp>
        <p:nvSpPr>
          <p:cNvPr id="7" name="Text 5"/>
          <p:cNvSpPr/>
          <p:nvPr/>
        </p:nvSpPr>
        <p:spPr>
          <a:xfrm>
            <a:off x="676275" y="1166812"/>
            <a:ext cx="3216176" cy="44291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3488"/>
              </a:lnSpc>
              <a:buNone/>
            </a:pPr>
            <a:r>
              <a:rPr lang="en-US" sz="2050" b="1" dirty="0">
                <a:solidFill>
                  <a:srgbClr val="222C4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$ 1.836.632 M</a:t>
            </a:r>
            <a:endParaRPr lang="en-US" sz="2050" dirty="0"/>
          </a:p>
        </p:txBody>
      </p:sp>
      <p:sp>
        <p:nvSpPr>
          <p:cNvPr id="8" name="Text 6"/>
          <p:cNvSpPr/>
          <p:nvPr/>
        </p:nvSpPr>
        <p:spPr>
          <a:xfrm>
            <a:off x="676275" y="1609725"/>
            <a:ext cx="3216176" cy="20669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27"/>
              </a:lnSpc>
              <a:buNone/>
            </a:pPr>
            <a:r>
              <a:rPr lang="en-US" sz="1050" b="1" dirty="0">
                <a:solidFill>
                  <a:srgbClr val="1C1E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Presupuesto 2027 presentado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676275" y="1816298"/>
            <a:ext cx="3216176" cy="18454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453"/>
              </a:lnSpc>
              <a:buNone/>
            </a:pPr>
            <a:r>
              <a:rPr lang="en-US" sz="950" dirty="0">
                <a:solidFill>
                  <a:srgbClr val="5C60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+22,63% nominal vs 2026 · +3,92% real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3768626" y="1052512"/>
            <a:ext cx="3159175" cy="1062633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11" name="Shape 9"/>
          <p:cNvSpPr/>
          <p:nvPr/>
        </p:nvSpPr>
        <p:spPr>
          <a:xfrm>
            <a:off x="3768626" y="1052512"/>
            <a:ext cx="38100" cy="1062633"/>
          </a:xfrm>
          <a:prstGeom prst="rect">
            <a:avLst/>
          </a:prstGeom>
          <a:solidFill>
            <a:srgbClr val="E7B860"/>
          </a:solidFill>
          <a:ln/>
        </p:spPr>
      </p:sp>
      <p:sp>
        <p:nvSpPr>
          <p:cNvPr id="12" name="Text 10"/>
          <p:cNvSpPr/>
          <p:nvPr/>
        </p:nvSpPr>
        <p:spPr>
          <a:xfrm>
            <a:off x="3949601" y="1166812"/>
            <a:ext cx="3216325" cy="44291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3488"/>
              </a:lnSpc>
              <a:buNone/>
            </a:pPr>
            <a:r>
              <a:rPr lang="en-US" sz="2050" b="1" dirty="0">
                <a:solidFill>
                  <a:srgbClr val="222C4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64,8%</a:t>
            </a:r>
            <a:endParaRPr lang="en-US" sz="2050" dirty="0"/>
          </a:p>
        </p:txBody>
      </p:sp>
      <p:sp>
        <p:nvSpPr>
          <p:cNvPr id="13" name="Text 11"/>
          <p:cNvSpPr/>
          <p:nvPr/>
        </p:nvSpPr>
        <p:spPr>
          <a:xfrm>
            <a:off x="3949601" y="1609725"/>
            <a:ext cx="3216325" cy="20669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27"/>
              </a:lnSpc>
              <a:buNone/>
            </a:pPr>
            <a:r>
              <a:rPr lang="en-US" sz="1050" b="1" dirty="0">
                <a:solidFill>
                  <a:srgbClr val="1C1E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 plurianual 2027 relevado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3949601" y="1816298"/>
            <a:ext cx="3216325" cy="18454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453"/>
              </a:lnSpc>
              <a:buNone/>
            </a:pPr>
            <a:r>
              <a:rPr lang="en-US" sz="950" dirty="0">
                <a:solidFill>
                  <a:srgbClr val="5C60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plurianual $ 2.832.751 M · ajuste −$ 996.118 M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7042100" y="1052512"/>
            <a:ext cx="3159026" cy="1062633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16" name="Shape 14"/>
          <p:cNvSpPr/>
          <p:nvPr/>
        </p:nvSpPr>
        <p:spPr>
          <a:xfrm>
            <a:off x="7042100" y="1052512"/>
            <a:ext cx="38100" cy="1062633"/>
          </a:xfrm>
          <a:prstGeom prst="rect">
            <a:avLst/>
          </a:prstGeom>
          <a:solidFill>
            <a:srgbClr val="E7B860"/>
          </a:solidFill>
          <a:ln/>
        </p:spPr>
      </p:sp>
      <p:sp>
        <p:nvSpPr>
          <p:cNvPr id="17" name="Text 15"/>
          <p:cNvSpPr/>
          <p:nvPr/>
        </p:nvSpPr>
        <p:spPr>
          <a:xfrm>
            <a:off x="7223075" y="1166812"/>
            <a:ext cx="3216176" cy="44291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3488"/>
              </a:lnSpc>
              <a:buNone/>
            </a:pPr>
            <a:r>
              <a:rPr lang="en-US" sz="2050" b="1" dirty="0">
                <a:solidFill>
                  <a:srgbClr val="222C4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53,4%</a:t>
            </a:r>
            <a:endParaRPr lang="en-US" sz="2050" dirty="0"/>
          </a:p>
        </p:txBody>
      </p:sp>
      <p:sp>
        <p:nvSpPr>
          <p:cNvPr id="18" name="Text 16"/>
          <p:cNvSpPr/>
          <p:nvPr/>
        </p:nvSpPr>
        <p:spPr>
          <a:xfrm>
            <a:off x="7223075" y="1609725"/>
            <a:ext cx="3216176" cy="20669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27"/>
              </a:lnSpc>
              <a:buNone/>
            </a:pPr>
            <a:r>
              <a:rPr lang="en-US" sz="1050" b="1" dirty="0">
                <a:solidFill>
                  <a:srgbClr val="1C1E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Cobertura del requerido de las áreas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7223075" y="1816298"/>
            <a:ext cx="3216176" cy="18454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453"/>
              </a:lnSpc>
              <a:buNone/>
            </a:pPr>
            <a:r>
              <a:rPr lang="en-US" sz="950" dirty="0">
                <a:solidFill>
                  <a:srgbClr val="5C60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requerido $ 3.436.617 M · brecha $ 1.599.985 M</a:t>
            </a:r>
            <a:endParaRPr lang="en-US" sz="950" dirty="0"/>
          </a:p>
        </p:txBody>
      </p:sp>
      <p:sp>
        <p:nvSpPr>
          <p:cNvPr id="20" name="Shape 18"/>
          <p:cNvSpPr/>
          <p:nvPr/>
        </p:nvSpPr>
        <p:spPr>
          <a:xfrm>
            <a:off x="495300" y="2229445"/>
            <a:ext cx="3159026" cy="1247180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21" name="Shape 19"/>
          <p:cNvSpPr/>
          <p:nvPr/>
        </p:nvSpPr>
        <p:spPr>
          <a:xfrm>
            <a:off x="495300" y="2229445"/>
            <a:ext cx="38100" cy="1247180"/>
          </a:xfrm>
          <a:prstGeom prst="rect">
            <a:avLst/>
          </a:prstGeom>
          <a:solidFill>
            <a:srgbClr val="E7B860"/>
          </a:solidFill>
          <a:ln/>
        </p:spPr>
      </p:sp>
      <p:sp>
        <p:nvSpPr>
          <p:cNvPr id="22" name="Text 20"/>
          <p:cNvSpPr/>
          <p:nvPr/>
        </p:nvSpPr>
        <p:spPr>
          <a:xfrm>
            <a:off x="676275" y="2343745"/>
            <a:ext cx="3216176" cy="44291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3488"/>
              </a:lnSpc>
              <a:buNone/>
            </a:pPr>
            <a:r>
              <a:rPr lang="en-US" sz="2050" b="1" dirty="0">
                <a:solidFill>
                  <a:srgbClr val="222C4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4,5%</a:t>
            </a:r>
            <a:endParaRPr lang="en-US" sz="2050" dirty="0"/>
          </a:p>
        </p:txBody>
      </p:sp>
      <p:sp>
        <p:nvSpPr>
          <p:cNvPr id="23" name="Text 21"/>
          <p:cNvSpPr/>
          <p:nvPr/>
        </p:nvSpPr>
        <p:spPr>
          <a:xfrm>
            <a:off x="676275" y="2786658"/>
            <a:ext cx="3216176" cy="20669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27"/>
              </a:lnSpc>
              <a:buNone/>
            </a:pPr>
            <a:r>
              <a:rPr lang="en-US" sz="1050" b="1" dirty="0">
                <a:solidFill>
                  <a:srgbClr val="1C1E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 sobre techo pedido fue otorgado</a:t>
            </a:r>
            <a:endParaRPr lang="en-US" sz="1050" dirty="0"/>
          </a:p>
        </p:txBody>
      </p:sp>
      <p:sp>
        <p:nvSpPr>
          <p:cNvPr id="24" name="Text 22"/>
          <p:cNvSpPr/>
          <p:nvPr/>
        </p:nvSpPr>
        <p:spPr>
          <a:xfrm>
            <a:off x="676275" y="2993231"/>
            <a:ext cx="2892326" cy="3690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53"/>
              </a:lnSpc>
              <a:buNone/>
            </a:pPr>
            <a:r>
              <a:rPr lang="en-US" sz="950" dirty="0">
                <a:solidFill>
                  <a:srgbClr val="5C60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pedido $ 934.523 M · otorgado $ 42.088 M (sólo capital)</a:t>
            </a:r>
            <a:endParaRPr lang="en-US" sz="950" dirty="0"/>
          </a:p>
        </p:txBody>
      </p:sp>
      <p:sp>
        <p:nvSpPr>
          <p:cNvPr id="25" name="Shape 23"/>
          <p:cNvSpPr/>
          <p:nvPr/>
        </p:nvSpPr>
        <p:spPr>
          <a:xfrm>
            <a:off x="3768626" y="2229445"/>
            <a:ext cx="3159175" cy="1247180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26" name="Shape 24"/>
          <p:cNvSpPr/>
          <p:nvPr/>
        </p:nvSpPr>
        <p:spPr>
          <a:xfrm>
            <a:off x="3768626" y="2229445"/>
            <a:ext cx="38100" cy="1247180"/>
          </a:xfrm>
          <a:prstGeom prst="rect">
            <a:avLst/>
          </a:prstGeom>
          <a:solidFill>
            <a:srgbClr val="E7B860"/>
          </a:solidFill>
          <a:ln/>
        </p:spPr>
      </p:sp>
      <p:sp>
        <p:nvSpPr>
          <p:cNvPr id="27" name="Text 25"/>
          <p:cNvSpPr/>
          <p:nvPr/>
        </p:nvSpPr>
        <p:spPr>
          <a:xfrm>
            <a:off x="3949601" y="2343745"/>
            <a:ext cx="3216325" cy="44291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3488"/>
              </a:lnSpc>
              <a:buNone/>
            </a:pPr>
            <a:r>
              <a:rPr lang="en-US" sz="2050" b="1" dirty="0">
                <a:solidFill>
                  <a:srgbClr val="222C4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107,4%</a:t>
            </a:r>
            <a:endParaRPr lang="en-US" sz="2050" dirty="0"/>
          </a:p>
        </p:txBody>
      </p:sp>
      <p:sp>
        <p:nvSpPr>
          <p:cNvPr id="28" name="Text 26"/>
          <p:cNvSpPr/>
          <p:nvPr/>
        </p:nvSpPr>
        <p:spPr>
          <a:xfrm>
            <a:off x="3949601" y="2786658"/>
            <a:ext cx="3216325" cy="20669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27"/>
              </a:lnSpc>
              <a:buNone/>
            </a:pPr>
            <a:r>
              <a:rPr lang="en-US" sz="1050" b="1" dirty="0">
                <a:solidFill>
                  <a:srgbClr val="1C1E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Ejecución / otorgado 2022–2025</a:t>
            </a:r>
            <a:endParaRPr lang="en-US" sz="1050" dirty="0"/>
          </a:p>
        </p:txBody>
      </p:sp>
      <p:sp>
        <p:nvSpPr>
          <p:cNvPr id="29" name="Text 27"/>
          <p:cNvSpPr/>
          <p:nvPr/>
        </p:nvSpPr>
        <p:spPr>
          <a:xfrm>
            <a:off x="3949601" y="2993231"/>
            <a:ext cx="2892475" cy="3690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53"/>
              </a:lnSpc>
              <a:buNone/>
            </a:pPr>
            <a:r>
              <a:rPr lang="en-US" sz="950" dirty="0">
                <a:solidFill>
                  <a:srgbClr val="5C60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superior al otorgado en 3 de 4 ejercicios · 2026: 58,9% a agosto</a:t>
            </a:r>
            <a:endParaRPr lang="en-US" sz="950" dirty="0"/>
          </a:p>
        </p:txBody>
      </p:sp>
      <p:sp>
        <p:nvSpPr>
          <p:cNvPr id="30" name="Shape 28"/>
          <p:cNvSpPr/>
          <p:nvPr/>
        </p:nvSpPr>
        <p:spPr>
          <a:xfrm>
            <a:off x="7042100" y="2229445"/>
            <a:ext cx="3159026" cy="1247180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31" name="Shape 29"/>
          <p:cNvSpPr/>
          <p:nvPr/>
        </p:nvSpPr>
        <p:spPr>
          <a:xfrm>
            <a:off x="7042100" y="2229445"/>
            <a:ext cx="38100" cy="1247180"/>
          </a:xfrm>
          <a:prstGeom prst="rect">
            <a:avLst/>
          </a:prstGeom>
          <a:solidFill>
            <a:srgbClr val="E7B860"/>
          </a:solidFill>
          <a:ln/>
        </p:spPr>
      </p:sp>
      <p:sp>
        <p:nvSpPr>
          <p:cNvPr id="32" name="Text 30"/>
          <p:cNvSpPr/>
          <p:nvPr/>
        </p:nvSpPr>
        <p:spPr>
          <a:xfrm>
            <a:off x="7223075" y="2343745"/>
            <a:ext cx="3216176" cy="44291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3488"/>
              </a:lnSpc>
              <a:buNone/>
            </a:pPr>
            <a:r>
              <a:rPr lang="en-US" sz="2050" b="1" dirty="0">
                <a:solidFill>
                  <a:srgbClr val="222C4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8,7%</a:t>
            </a:r>
            <a:endParaRPr lang="en-US" sz="2050" dirty="0"/>
          </a:p>
        </p:txBody>
      </p:sp>
      <p:sp>
        <p:nvSpPr>
          <p:cNvPr id="33" name="Text 31"/>
          <p:cNvSpPr/>
          <p:nvPr/>
        </p:nvSpPr>
        <p:spPr>
          <a:xfrm>
            <a:off x="7223075" y="2786658"/>
            <a:ext cx="3216176" cy="20669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27"/>
              </a:lnSpc>
              <a:buNone/>
            </a:pPr>
            <a:r>
              <a:rPr lang="en-US" sz="1050" b="1" dirty="0">
                <a:solidFill>
                  <a:srgbClr val="1C1E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Subsidio · ingresos / gastos corrientes</a:t>
            </a:r>
            <a:endParaRPr lang="en-US" sz="1050" dirty="0"/>
          </a:p>
        </p:txBody>
      </p:sp>
      <p:sp>
        <p:nvSpPr>
          <p:cNvPr id="34" name="Text 32"/>
          <p:cNvSpPr/>
          <p:nvPr/>
        </p:nvSpPr>
        <p:spPr>
          <a:xfrm>
            <a:off x="7223075" y="2993231"/>
            <a:ext cx="2892326" cy="3690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53"/>
              </a:lnSpc>
              <a:buNone/>
            </a:pPr>
            <a:r>
              <a:rPr lang="en-US" sz="950" dirty="0">
                <a:solidFill>
                  <a:srgbClr val="5C60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gasto operativo $ 1.379.892 M · $ 6.124 por pasajero pago</a:t>
            </a:r>
            <a:endParaRPr lang="en-US" sz="950" dirty="0"/>
          </a:p>
        </p:txBody>
      </p:sp>
      <p:sp>
        <p:nvSpPr>
          <p:cNvPr id="35" name="Shape 33"/>
          <p:cNvSpPr/>
          <p:nvPr/>
        </p:nvSpPr>
        <p:spPr>
          <a:xfrm>
            <a:off x="495300" y="3609975"/>
            <a:ext cx="9705975" cy="1038225"/>
          </a:xfrm>
          <a:prstGeom prst="rect">
            <a:avLst/>
          </a:prstGeom>
          <a:solidFill>
            <a:srgbClr val="FFF8EA"/>
          </a:solidFill>
          <a:ln/>
        </p:spPr>
      </p:sp>
      <p:sp>
        <p:nvSpPr>
          <p:cNvPr id="36" name="Shape 34"/>
          <p:cNvSpPr/>
          <p:nvPr/>
        </p:nvSpPr>
        <p:spPr>
          <a:xfrm>
            <a:off x="495300" y="3609975"/>
            <a:ext cx="38100" cy="1038225"/>
          </a:xfrm>
          <a:prstGeom prst="rect">
            <a:avLst/>
          </a:prstGeom>
          <a:solidFill>
            <a:srgbClr val="E7B860"/>
          </a:solidFill>
          <a:ln/>
        </p:spPr>
      </p:sp>
      <p:sp>
        <p:nvSpPr>
          <p:cNvPr id="37" name="Text 35"/>
          <p:cNvSpPr/>
          <p:nvPr/>
        </p:nvSpPr>
        <p:spPr>
          <a:xfrm>
            <a:off x="676275" y="3714750"/>
            <a:ext cx="9439275" cy="828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31"/>
              </a:lnSpc>
              <a:buNone/>
            </a:pPr>
            <a:r>
              <a:rPr lang="en-US" sz="1100" b="1" dirty="0">
                <a:solidFill>
                  <a:srgbClr val="222C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Síntesis:</a:t>
            </a:r>
            <a:pPr algn="l" indent="0" marL="0">
              <a:lnSpc>
                <a:spcPts val="1631"/>
              </a:lnSpc>
              <a:buNone/>
            </a:pPr>
            <a:r>
              <a:rPr lang="en-US" sz="1100" dirty="0">
                <a:solidFill>
                  <a:srgbClr val="2A2D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el presupuesto 2027 representa el 53,4% de lo requerido por las áreas y el 64,8% del plurianual 2027. Gastos en Personal registra una cobertura del 94,7%; en consecuencia, la reducción se concentra en el gasto operativo (Bienes de Consumo y Servicios No Personales: </a:t>
            </a:r>
            <a:pPr algn="l" indent="0" marL="0">
              <a:lnSpc>
                <a:spcPts val="1631"/>
              </a:lnSpc>
              <a:buNone/>
            </a:pPr>
            <a:r>
              <a:rPr lang="en-US" sz="1100" b="1" dirty="0">
                <a:solidFill>
                  <a:srgbClr val="222C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27,5%</a:t>
            </a:r>
            <a:pPr algn="l" indent="0" marL="0">
              <a:lnSpc>
                <a:spcPts val="1631"/>
              </a:lnSpc>
              <a:buNone/>
            </a:pPr>
            <a:r>
              <a:rPr lang="en-US" sz="1100" dirty="0">
                <a:solidFill>
                  <a:srgbClr val="2A2D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de cobertura) y en la Emergencia Ferroviaria. En los ejercicios 2022, 2023 y 2025 la ejecución superó el crédito inicial otorgado (2025: 109,5%).</a:t>
            </a:r>
            <a:endParaRPr lang="en-US" sz="1100" dirty="0"/>
          </a:p>
        </p:txBody>
      </p:sp>
      <p:sp>
        <p:nvSpPr>
          <p:cNvPr id="38" name="Text 36"/>
          <p:cNvSpPr/>
          <p:nvPr/>
        </p:nvSpPr>
        <p:spPr>
          <a:xfrm>
            <a:off x="495300" y="4781550"/>
            <a:ext cx="10086975" cy="2509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76"/>
              </a:lnSpc>
              <a:buNone/>
            </a:pPr>
            <a:r>
              <a:rPr lang="en-US" sz="1150" b="1" dirty="0">
                <a:solidFill>
                  <a:srgbClr val="222C4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Mensajes clave</a:t>
            </a:r>
            <a:endParaRPr lang="en-US" sz="1150" dirty="0"/>
          </a:p>
        </p:txBody>
      </p:sp>
      <p:sp>
        <p:nvSpPr>
          <p:cNvPr id="39" name="Text 37"/>
          <p:cNvSpPr/>
          <p:nvPr/>
        </p:nvSpPr>
        <p:spPr>
          <a:xfrm>
            <a:off x="533400" y="5089624"/>
            <a:ext cx="9725025" cy="4723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860"/>
              </a:lnSpc>
              <a:buSzPct val="100000"/>
              <a:buChar char="•"/>
            </a:pPr>
            <a:r>
              <a:rPr lang="en-US" sz="1200" dirty="0">
                <a:solidFill>
                  <a:srgbClr val="1C1E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Composición: techo de la Secretaría de Transporte $ 1.537.804 M + ingresos propios $ 131.190 M + sobre techo de capital $ 42.088 M + SIFER $ 125.550 M = </a:t>
            </a:r>
            <a:pPr algn="l" marL="342900" indent="-342900">
              <a:lnSpc>
                <a:spcPts val="1860"/>
              </a:lnSpc>
              <a:buSzPct val="100000"/>
              <a:buChar char="•"/>
            </a:pPr>
            <a:r>
              <a:rPr lang="en-US" sz="1200" b="1" dirty="0">
                <a:solidFill>
                  <a:srgbClr val="1C1E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$ 1.836.632 M</a:t>
            </a:r>
            <a:pPr algn="l" marL="342900" indent="-342900">
              <a:lnSpc>
                <a:spcPts val="1860"/>
              </a:lnSpc>
              <a:buSzPct val="100000"/>
              <a:buChar char="•"/>
            </a:pPr>
            <a:r>
              <a:rPr lang="en-US" sz="1200" dirty="0">
                <a:solidFill>
                  <a:srgbClr val="1C1E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200" dirty="0"/>
          </a:p>
        </p:txBody>
      </p:sp>
      <p:sp>
        <p:nvSpPr>
          <p:cNvPr id="40" name="Text 38"/>
          <p:cNvSpPr/>
          <p:nvPr/>
        </p:nvSpPr>
        <p:spPr>
          <a:xfrm>
            <a:off x="533400" y="5609630"/>
            <a:ext cx="9725025" cy="4723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860"/>
              </a:lnSpc>
              <a:buSzPct val="100000"/>
              <a:buChar char="•"/>
            </a:pPr>
            <a:r>
              <a:rPr lang="en-US" sz="1200" dirty="0">
                <a:solidFill>
                  <a:srgbClr val="1C1E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sobre techo solicitado para gastos corrientes ($ 427.203 M) </a:t>
            </a:r>
            <a:pPr algn="l" marL="342900" indent="-342900">
              <a:lnSpc>
                <a:spcPts val="1860"/>
              </a:lnSpc>
              <a:buSzPct val="100000"/>
              <a:buChar char="•"/>
            </a:pPr>
            <a:r>
              <a:rPr lang="en-US" sz="1200" b="1" dirty="0">
                <a:solidFill>
                  <a:srgbClr val="1C1E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fue otorgado</a:t>
            </a:r>
            <a:pPr algn="l" marL="342900" indent="-342900">
              <a:lnSpc>
                <a:spcPts val="1860"/>
              </a:lnSpc>
              <a:buSzPct val="100000"/>
              <a:buChar char="•"/>
            </a:pPr>
            <a:r>
              <a:rPr lang="en-US" sz="1200" dirty="0">
                <a:solidFill>
                  <a:srgbClr val="1C1E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; el correspondiente a gastos de capital se otorgó en un 8,3%.</a:t>
            </a:r>
            <a:endParaRPr lang="en-US" sz="1200" dirty="0"/>
          </a:p>
        </p:txBody>
      </p:sp>
      <p:sp>
        <p:nvSpPr>
          <p:cNvPr id="41" name="Text 39"/>
          <p:cNvSpPr/>
          <p:nvPr/>
        </p:nvSpPr>
        <p:spPr>
          <a:xfrm>
            <a:off x="533400" y="6129635"/>
            <a:ext cx="9725025" cy="4723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860"/>
              </a:lnSpc>
              <a:buSzPct val="100000"/>
              <a:buChar char="•"/>
            </a:pPr>
            <a:r>
              <a:rPr lang="en-US" sz="1200" dirty="0">
                <a:solidFill>
                  <a:srgbClr val="1C1E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Gerencia de Material Rodante: órdenes de compra 2027 por $ 491.410 M frente a un techo de $ 86.508 M en los incisos 2 y 3, con un </a:t>
            </a:r>
            <a:pPr algn="l" marL="342900" indent="-342900">
              <a:lnSpc>
                <a:spcPts val="1860"/>
              </a:lnSpc>
              <a:buSzPct val="100000"/>
              <a:buChar char="•"/>
            </a:pPr>
            <a:r>
              <a:rPr lang="en-US" sz="1200" b="1" dirty="0">
                <a:solidFill>
                  <a:srgbClr val="1C1E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déficit de $ 404.902 M</a:t>
            </a:r>
            <a:pPr algn="l" marL="342900" indent="-342900">
              <a:lnSpc>
                <a:spcPts val="1860"/>
              </a:lnSpc>
              <a:buSzPct val="100000"/>
              <a:buChar char="•"/>
            </a:pPr>
            <a:r>
              <a:rPr lang="en-US" sz="1200" dirty="0">
                <a:solidFill>
                  <a:srgbClr val="1C1E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200" dirty="0"/>
          </a:p>
        </p:txBody>
      </p:sp>
      <p:sp>
        <p:nvSpPr>
          <p:cNvPr id="42" name="Text 40"/>
          <p:cNvSpPr/>
          <p:nvPr/>
        </p:nvSpPr>
        <p:spPr>
          <a:xfrm>
            <a:off x="533400" y="6649641"/>
            <a:ext cx="9725025" cy="4723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860"/>
              </a:lnSpc>
              <a:buSzPct val="100000"/>
              <a:buChar char="•"/>
            </a:pPr>
            <a:r>
              <a:rPr lang="en-US" sz="1200" dirty="0">
                <a:solidFill>
                  <a:srgbClr val="1C1E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gasto discrecional se concentra en el lineamiento Seguridad operacional y mantenimiento (</a:t>
            </a:r>
            <a:pPr algn="l" marL="342900" indent="-342900">
              <a:lnSpc>
                <a:spcPts val="1860"/>
              </a:lnSpc>
              <a:buSzPct val="100000"/>
              <a:buChar char="•"/>
            </a:pPr>
            <a:r>
              <a:rPr lang="en-US" sz="1200" b="1" dirty="0">
                <a:solidFill>
                  <a:srgbClr val="1C1E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68,0%</a:t>
            </a:r>
            <a:pPr algn="l" marL="342900" indent="-342900">
              <a:lnSpc>
                <a:spcPts val="1860"/>
              </a:lnSpc>
              <a:buSzPct val="100000"/>
              <a:buChar char="•"/>
            </a:pPr>
            <a:r>
              <a:rPr lang="en-US" sz="1200" dirty="0">
                <a:solidFill>
                  <a:srgbClr val="1C1E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); 13 compromisos de Presidencia carecen de partida o presentan cobertura inferior al 35%.</a:t>
            </a:r>
            <a:endParaRPr lang="en-US" sz="1200" dirty="0"/>
          </a:p>
        </p:txBody>
      </p:sp>
      <p:sp>
        <p:nvSpPr>
          <p:cNvPr id="43" name="Text 41"/>
          <p:cNvSpPr/>
          <p:nvPr/>
        </p:nvSpPr>
        <p:spPr>
          <a:xfrm>
            <a:off x="438150" y="7267129"/>
            <a:ext cx="7600950" cy="16240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279"/>
              </a:lnSpc>
              <a:buNone/>
            </a:pPr>
            <a:r>
              <a:rPr lang="en-US" sz="850" dirty="0">
                <a:solidFill>
                  <a:srgbClr val="5C60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SOFSA · Presupuesto 2027 · Elaborado por la Subgerencia de Presupuesto y Control de Gestión · consultas: emmanuel.miranda@trenesargentinos.gob.ar</a:t>
            </a:r>
            <a:endParaRPr lang="en-US" sz="850" dirty="0"/>
          </a:p>
        </p:txBody>
      </p:sp>
      <p:sp>
        <p:nvSpPr>
          <p:cNvPr id="44" name="Text 42"/>
          <p:cNvSpPr/>
          <p:nvPr/>
        </p:nvSpPr>
        <p:spPr>
          <a:xfrm>
            <a:off x="9963150" y="7267129"/>
            <a:ext cx="676275" cy="16240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279"/>
              </a:lnSpc>
              <a:buNone/>
            </a:pPr>
            <a:r>
              <a:rPr lang="en-US" sz="850" dirty="0">
                <a:solidFill>
                  <a:srgbClr val="5C60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/ 21</a:t>
            </a:r>
            <a:endParaRPr lang="en-US" sz="8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696575" cy="756285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0696575" cy="57150"/>
          </a:xfrm>
          <a:prstGeom prst="rect">
            <a:avLst/>
          </a:prstGeom>
          <a:solidFill>
            <a:srgbClr val="E7B860"/>
          </a:solidFill>
          <a:ln/>
        </p:spPr>
      </p:sp>
      <p:sp>
        <p:nvSpPr>
          <p:cNvPr id="4" name="Text 2"/>
          <p:cNvSpPr/>
          <p:nvPr/>
        </p:nvSpPr>
        <p:spPr>
          <a:xfrm>
            <a:off x="495300" y="438150"/>
            <a:ext cx="10086975" cy="44291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3488"/>
              </a:lnSpc>
              <a:buNone/>
            </a:pPr>
            <a:r>
              <a:rPr lang="en-US" sz="2050" b="1" dirty="0">
                <a:solidFill>
                  <a:srgbClr val="222C4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El presupuesto 2027 en grandes números</a:t>
            </a:r>
            <a:endParaRPr lang="en-US" sz="2050" dirty="0"/>
          </a:p>
        </p:txBody>
      </p:sp>
      <p:sp>
        <p:nvSpPr>
          <p:cNvPr id="5" name="Shape 3"/>
          <p:cNvSpPr/>
          <p:nvPr/>
        </p:nvSpPr>
        <p:spPr>
          <a:xfrm>
            <a:off x="495300" y="1052512"/>
            <a:ext cx="1697236" cy="1136303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6" name="Shape 4"/>
          <p:cNvSpPr/>
          <p:nvPr/>
        </p:nvSpPr>
        <p:spPr>
          <a:xfrm>
            <a:off x="495300" y="1052512"/>
            <a:ext cx="38100" cy="1136303"/>
          </a:xfrm>
          <a:prstGeom prst="rect">
            <a:avLst/>
          </a:prstGeom>
          <a:solidFill>
            <a:srgbClr val="E7B860"/>
          </a:solidFill>
          <a:ln/>
        </p:spPr>
      </p:sp>
      <p:sp>
        <p:nvSpPr>
          <p:cNvPr id="7" name="Text 5"/>
          <p:cNvSpPr/>
          <p:nvPr/>
        </p:nvSpPr>
        <p:spPr>
          <a:xfrm>
            <a:off x="647700" y="1166812"/>
            <a:ext cx="1811536" cy="31003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441"/>
              </a:lnSpc>
              <a:buNone/>
            </a:pPr>
            <a:r>
              <a:rPr lang="en-US" sz="1450" b="1" dirty="0">
                <a:solidFill>
                  <a:srgbClr val="222C4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$ 8.735.543 M</a:t>
            </a:r>
            <a:endParaRPr lang="en-US" sz="1450" dirty="0"/>
          </a:p>
        </p:txBody>
      </p:sp>
      <p:sp>
        <p:nvSpPr>
          <p:cNvPr id="8" name="Text 6"/>
          <p:cNvSpPr/>
          <p:nvPr/>
        </p:nvSpPr>
        <p:spPr>
          <a:xfrm>
            <a:off x="647700" y="1476821"/>
            <a:ext cx="1811536" cy="20669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27"/>
              </a:lnSpc>
              <a:buNone/>
            </a:pPr>
            <a:r>
              <a:rPr lang="en-US" sz="1050" b="1" dirty="0">
                <a:solidFill>
                  <a:srgbClr val="1C1E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Plurianual 2027–2029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647700" y="1683395"/>
            <a:ext cx="1811536" cy="18454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453"/>
              </a:lnSpc>
              <a:buNone/>
            </a:pPr>
            <a:r>
              <a:rPr lang="en-US" sz="950" dirty="0">
                <a:solidFill>
                  <a:srgbClr val="5C60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formulado del trienio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2249686" y="1458218"/>
            <a:ext cx="571500" cy="3248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558"/>
              </a:lnSpc>
              <a:buNone/>
            </a:pPr>
            <a:r>
              <a:rPr lang="en-US" sz="1650" b="1" dirty="0">
                <a:solidFill>
                  <a:srgbClr val="E7B8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650" dirty="0"/>
          </a:p>
        </p:txBody>
      </p:sp>
      <p:sp>
        <p:nvSpPr>
          <p:cNvPr id="11" name="Shape 9"/>
          <p:cNvSpPr/>
          <p:nvPr/>
        </p:nvSpPr>
        <p:spPr>
          <a:xfrm>
            <a:off x="2497336" y="1052512"/>
            <a:ext cx="1697385" cy="1136303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12" name="Shape 10"/>
          <p:cNvSpPr/>
          <p:nvPr/>
        </p:nvSpPr>
        <p:spPr>
          <a:xfrm>
            <a:off x="2497336" y="1052512"/>
            <a:ext cx="38100" cy="1136303"/>
          </a:xfrm>
          <a:prstGeom prst="rect">
            <a:avLst/>
          </a:prstGeom>
          <a:solidFill>
            <a:srgbClr val="E7B860"/>
          </a:solidFill>
          <a:ln/>
        </p:spPr>
      </p:sp>
      <p:sp>
        <p:nvSpPr>
          <p:cNvPr id="13" name="Text 11"/>
          <p:cNvSpPr/>
          <p:nvPr/>
        </p:nvSpPr>
        <p:spPr>
          <a:xfrm>
            <a:off x="2649736" y="1166812"/>
            <a:ext cx="1811685" cy="31003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441"/>
              </a:lnSpc>
              <a:buNone/>
            </a:pPr>
            <a:r>
              <a:rPr lang="en-US" sz="1450" b="1" dirty="0">
                <a:solidFill>
                  <a:srgbClr val="222C4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$ 2.832.751 M</a:t>
            </a:r>
            <a:endParaRPr lang="en-US" sz="1450" dirty="0"/>
          </a:p>
        </p:txBody>
      </p:sp>
      <p:sp>
        <p:nvSpPr>
          <p:cNvPr id="14" name="Text 12"/>
          <p:cNvSpPr/>
          <p:nvPr/>
        </p:nvSpPr>
        <p:spPr>
          <a:xfrm>
            <a:off x="2649736" y="1476821"/>
            <a:ext cx="1811685" cy="20669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27"/>
              </a:lnSpc>
              <a:buNone/>
            </a:pPr>
            <a:r>
              <a:rPr lang="en-US" sz="1050" b="1" dirty="0">
                <a:solidFill>
                  <a:srgbClr val="1C1E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Plurianual 2027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2649736" y="1683395"/>
            <a:ext cx="1811685" cy="18454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453"/>
              </a:lnSpc>
              <a:buNone/>
            </a:pPr>
            <a:r>
              <a:rPr lang="en-US" sz="950" dirty="0">
                <a:solidFill>
                  <a:srgbClr val="5C60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32,4% del trienio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4251871" y="1458218"/>
            <a:ext cx="571500" cy="3248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558"/>
              </a:lnSpc>
              <a:buNone/>
            </a:pPr>
            <a:r>
              <a:rPr lang="en-US" sz="1650" b="1" dirty="0">
                <a:solidFill>
                  <a:srgbClr val="E7B8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650" dirty="0"/>
          </a:p>
        </p:txBody>
      </p:sp>
      <p:sp>
        <p:nvSpPr>
          <p:cNvPr id="17" name="Shape 15"/>
          <p:cNvSpPr/>
          <p:nvPr/>
        </p:nvSpPr>
        <p:spPr>
          <a:xfrm>
            <a:off x="4499521" y="1052512"/>
            <a:ext cx="1697385" cy="1136303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18" name="Shape 16"/>
          <p:cNvSpPr/>
          <p:nvPr/>
        </p:nvSpPr>
        <p:spPr>
          <a:xfrm>
            <a:off x="4499521" y="1052512"/>
            <a:ext cx="38100" cy="1136303"/>
          </a:xfrm>
          <a:prstGeom prst="rect">
            <a:avLst/>
          </a:prstGeom>
          <a:solidFill>
            <a:srgbClr val="E7B860"/>
          </a:solidFill>
          <a:ln/>
        </p:spPr>
      </p:sp>
      <p:sp>
        <p:nvSpPr>
          <p:cNvPr id="19" name="Text 17"/>
          <p:cNvSpPr/>
          <p:nvPr/>
        </p:nvSpPr>
        <p:spPr>
          <a:xfrm>
            <a:off x="4651921" y="1166812"/>
            <a:ext cx="1811685" cy="31003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441"/>
              </a:lnSpc>
              <a:buNone/>
            </a:pPr>
            <a:r>
              <a:rPr lang="en-US" sz="1450" b="1" dirty="0">
                <a:solidFill>
                  <a:srgbClr val="222C4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$ 3.436.617 M</a:t>
            </a:r>
            <a:endParaRPr lang="en-US" sz="1450" dirty="0"/>
          </a:p>
        </p:txBody>
      </p:sp>
      <p:sp>
        <p:nvSpPr>
          <p:cNvPr id="20" name="Text 18"/>
          <p:cNvSpPr/>
          <p:nvPr/>
        </p:nvSpPr>
        <p:spPr>
          <a:xfrm>
            <a:off x="4651921" y="1476821"/>
            <a:ext cx="1811685" cy="20669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27"/>
              </a:lnSpc>
              <a:buNone/>
            </a:pPr>
            <a:r>
              <a:rPr lang="en-US" sz="1050" b="1" dirty="0">
                <a:solidFill>
                  <a:srgbClr val="1C1E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Requerido anual 2027</a:t>
            </a:r>
            <a:endParaRPr lang="en-US" sz="1050" dirty="0"/>
          </a:p>
        </p:txBody>
      </p:sp>
      <p:sp>
        <p:nvSpPr>
          <p:cNvPr id="21" name="Text 19"/>
          <p:cNvSpPr/>
          <p:nvPr/>
        </p:nvSpPr>
        <p:spPr>
          <a:xfrm>
            <a:off x="4651921" y="1683395"/>
            <a:ext cx="1487835" cy="3690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53"/>
              </a:lnSpc>
              <a:buNone/>
            </a:pPr>
            <a:r>
              <a:rPr lang="en-US" sz="950" dirty="0">
                <a:solidFill>
                  <a:srgbClr val="5C60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solicitado por las áreas · +21,32% vs plurianual</a:t>
            </a:r>
            <a:endParaRPr lang="en-US" sz="950" dirty="0"/>
          </a:p>
        </p:txBody>
      </p:sp>
      <p:sp>
        <p:nvSpPr>
          <p:cNvPr id="22" name="Text 20"/>
          <p:cNvSpPr/>
          <p:nvPr/>
        </p:nvSpPr>
        <p:spPr>
          <a:xfrm>
            <a:off x="6254055" y="1458218"/>
            <a:ext cx="571500" cy="3248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558"/>
              </a:lnSpc>
              <a:buNone/>
            </a:pPr>
            <a:r>
              <a:rPr lang="en-US" sz="1650" b="1" dirty="0">
                <a:solidFill>
                  <a:srgbClr val="E7B8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650" dirty="0"/>
          </a:p>
        </p:txBody>
      </p:sp>
      <p:sp>
        <p:nvSpPr>
          <p:cNvPr id="23" name="Shape 21"/>
          <p:cNvSpPr/>
          <p:nvPr/>
        </p:nvSpPr>
        <p:spPr>
          <a:xfrm>
            <a:off x="6501705" y="1052512"/>
            <a:ext cx="1697385" cy="1136303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24" name="Shape 22"/>
          <p:cNvSpPr/>
          <p:nvPr/>
        </p:nvSpPr>
        <p:spPr>
          <a:xfrm>
            <a:off x="6501705" y="1052512"/>
            <a:ext cx="38100" cy="1136303"/>
          </a:xfrm>
          <a:prstGeom prst="rect">
            <a:avLst/>
          </a:prstGeom>
          <a:solidFill>
            <a:srgbClr val="E7B860"/>
          </a:solidFill>
          <a:ln/>
        </p:spPr>
      </p:sp>
      <p:sp>
        <p:nvSpPr>
          <p:cNvPr id="25" name="Text 23"/>
          <p:cNvSpPr/>
          <p:nvPr/>
        </p:nvSpPr>
        <p:spPr>
          <a:xfrm>
            <a:off x="6654105" y="1166812"/>
            <a:ext cx="1811685" cy="31003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441"/>
              </a:lnSpc>
              <a:buNone/>
            </a:pPr>
            <a:r>
              <a:rPr lang="en-US" sz="1450" b="1" dirty="0">
                <a:solidFill>
                  <a:srgbClr val="222C4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$ 1.537.804 M</a:t>
            </a:r>
            <a:endParaRPr lang="en-US" sz="1450" dirty="0"/>
          </a:p>
        </p:txBody>
      </p:sp>
      <p:sp>
        <p:nvSpPr>
          <p:cNvPr id="26" name="Text 24"/>
          <p:cNvSpPr/>
          <p:nvPr/>
        </p:nvSpPr>
        <p:spPr>
          <a:xfrm>
            <a:off x="6654105" y="1476821"/>
            <a:ext cx="1487835" cy="41314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27"/>
              </a:lnSpc>
              <a:buNone/>
            </a:pPr>
            <a:r>
              <a:rPr lang="en-US" sz="1050" b="1" dirty="0">
                <a:solidFill>
                  <a:srgbClr val="1C1E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Techo Secretaría de Transporte</a:t>
            </a:r>
            <a:endParaRPr lang="en-US" sz="1050" dirty="0"/>
          </a:p>
        </p:txBody>
      </p:sp>
      <p:sp>
        <p:nvSpPr>
          <p:cNvPr id="27" name="Text 25"/>
          <p:cNvSpPr/>
          <p:nvPr/>
        </p:nvSpPr>
        <p:spPr>
          <a:xfrm>
            <a:off x="6654105" y="1889968"/>
            <a:ext cx="1811685" cy="18454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453"/>
              </a:lnSpc>
              <a:buNone/>
            </a:pPr>
            <a:r>
              <a:rPr lang="en-US" sz="950" dirty="0">
                <a:solidFill>
                  <a:srgbClr val="5C60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44,7% del requerido</a:t>
            </a:r>
            <a:endParaRPr lang="en-US" sz="950" dirty="0"/>
          </a:p>
        </p:txBody>
      </p:sp>
      <p:sp>
        <p:nvSpPr>
          <p:cNvPr id="28" name="Text 26"/>
          <p:cNvSpPr/>
          <p:nvPr/>
        </p:nvSpPr>
        <p:spPr>
          <a:xfrm>
            <a:off x="8256240" y="1458218"/>
            <a:ext cx="571649" cy="3248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558"/>
              </a:lnSpc>
              <a:buNone/>
            </a:pPr>
            <a:r>
              <a:rPr lang="en-US" sz="1650" b="1" dirty="0">
                <a:solidFill>
                  <a:srgbClr val="E7B8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650" dirty="0"/>
          </a:p>
        </p:txBody>
      </p:sp>
      <p:sp>
        <p:nvSpPr>
          <p:cNvPr id="29" name="Shape 27"/>
          <p:cNvSpPr/>
          <p:nvPr/>
        </p:nvSpPr>
        <p:spPr>
          <a:xfrm>
            <a:off x="8504039" y="1052512"/>
            <a:ext cx="1697236" cy="1136303"/>
          </a:xfrm>
          <a:prstGeom prst="rect">
            <a:avLst/>
          </a:prstGeom>
          <a:solidFill>
            <a:srgbClr val="222C4F"/>
          </a:solidFill>
          <a:ln/>
        </p:spPr>
      </p:sp>
      <p:sp>
        <p:nvSpPr>
          <p:cNvPr id="30" name="Shape 28"/>
          <p:cNvSpPr/>
          <p:nvPr/>
        </p:nvSpPr>
        <p:spPr>
          <a:xfrm>
            <a:off x="8504039" y="1052512"/>
            <a:ext cx="38100" cy="1136303"/>
          </a:xfrm>
          <a:prstGeom prst="rect">
            <a:avLst/>
          </a:prstGeom>
          <a:solidFill>
            <a:srgbClr val="E7B860"/>
          </a:solidFill>
          <a:ln/>
        </p:spPr>
      </p:sp>
      <p:sp>
        <p:nvSpPr>
          <p:cNvPr id="31" name="Text 29"/>
          <p:cNvSpPr/>
          <p:nvPr/>
        </p:nvSpPr>
        <p:spPr>
          <a:xfrm>
            <a:off x="8656439" y="1166812"/>
            <a:ext cx="1811536" cy="31003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441"/>
              </a:lnSpc>
              <a:buNone/>
            </a:pPr>
            <a:r>
              <a:rPr lang="en-US" sz="145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$ 1.836.632 M</a:t>
            </a:r>
            <a:endParaRPr lang="en-US" sz="1450" dirty="0"/>
          </a:p>
        </p:txBody>
      </p:sp>
      <p:sp>
        <p:nvSpPr>
          <p:cNvPr id="32" name="Text 30"/>
          <p:cNvSpPr/>
          <p:nvPr/>
        </p:nvSpPr>
        <p:spPr>
          <a:xfrm>
            <a:off x="8656439" y="1476821"/>
            <a:ext cx="1811536" cy="20669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27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Presupuesto 2027</a:t>
            </a:r>
            <a:endParaRPr lang="en-US" sz="1050" dirty="0"/>
          </a:p>
        </p:txBody>
      </p:sp>
      <p:sp>
        <p:nvSpPr>
          <p:cNvPr id="33" name="Text 31"/>
          <p:cNvSpPr/>
          <p:nvPr/>
        </p:nvSpPr>
        <p:spPr>
          <a:xfrm>
            <a:off x="8656439" y="1683395"/>
            <a:ext cx="1487686" cy="3690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53"/>
              </a:lnSpc>
              <a:buNone/>
            </a:pPr>
            <a:r>
              <a:rPr lang="en-US" sz="950" dirty="0">
                <a:solidFill>
                  <a:srgbClr val="C9D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techo + ingresos propios + sobre techo + SIFER</a:t>
            </a:r>
            <a:endParaRPr lang="en-US" sz="95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95300" y="2379315"/>
          <a:ext cx="5448746" cy="914400"/>
        </p:xfrm>
        <a:graphic>
          <a:graphicData uri="http://schemas.openxmlformats.org/drawingml/2006/table">
            <a:tbl>
              <a:tblPr/>
              <a:tblGrid>
                <a:gridCol w="1162050"/>
                <a:gridCol w="1181100"/>
                <a:gridCol w="1181100"/>
                <a:gridCol w="1181100"/>
                <a:gridCol w="743396"/>
              </a:tblGrid>
              <a:tr h="3220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spc="9" kern="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Tipo de gasto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5250" marR="9525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22C4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spc="9" kern="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Plurianual 27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5250" marR="9525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22C4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spc="9" kern="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Requerido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5250" marR="9525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22C4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spc="9" kern="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Techo 2027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5250" marR="9525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22C4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spc="9" kern="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Cobertura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5250" marR="9525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22C4F"/>
                    </a:solidFill>
                  </a:tcPr>
                </a:tc>
              </a:tr>
              <a:tr h="35406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C1E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Gastos corrientes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5250" marR="9525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C1E27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$ 2.167.519 M</a:t>
                      </a:r>
                      <a:endParaRPr lang="en-US" sz="10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5250" marR="9525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C1E27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$ 2.882.395 M</a:t>
                      </a:r>
                      <a:endParaRPr lang="en-US" sz="10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5250" marR="9525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1C1E27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$ 1.511.082 M</a:t>
                      </a:r>
                      <a:endParaRPr lang="en-US" sz="10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5250" marR="9525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C1E27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52,4%</a:t>
                      </a:r>
                      <a:endParaRPr lang="en-US" sz="10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5250" marR="9525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58825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C1E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Gastos de capital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5250" marR="9525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C1E27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$ 665.231 M</a:t>
                      </a:r>
                      <a:endParaRPr lang="en-US" sz="10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5250" marR="9525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C1E27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$ 554.223 M</a:t>
                      </a:r>
                      <a:endParaRPr lang="en-US" sz="10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5250" marR="9525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1C1E27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$ 325.550 M</a:t>
                      </a:r>
                      <a:endParaRPr lang="en-US" sz="10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5250" marR="9525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C1E27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58,7%</a:t>
                      </a:r>
                      <a:endParaRPr lang="en-US" sz="10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5250" marR="9525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58825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1C1E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5250" marR="9525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2F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1C1E27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$ 2.832.751 M</a:t>
                      </a:r>
                      <a:endParaRPr lang="en-US" sz="10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5250" marR="9525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2F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1C1E27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$ 3.436.617 M</a:t>
                      </a:r>
                      <a:endParaRPr lang="en-US" sz="10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5250" marR="9525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2F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1C1E27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$ 1.836.632 M</a:t>
                      </a:r>
                      <a:endParaRPr lang="en-US" sz="10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5250" marR="9525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2F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1C1E27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53,4%</a:t>
                      </a:r>
                      <a:endParaRPr lang="en-US" sz="10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5250" marR="9525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2F8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7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096446" y="2379315"/>
          <a:ext cx="4104829" cy="914400"/>
        </p:xfrm>
        <a:graphic>
          <a:graphicData uri="http://schemas.openxmlformats.org/drawingml/2006/table">
            <a:tbl>
              <a:tblPr/>
              <a:tblGrid>
                <a:gridCol w="2221260"/>
                <a:gridCol w="1269206"/>
                <a:gridCol w="614363"/>
              </a:tblGrid>
              <a:tr h="3220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spc="9" kern="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Financiamiento 2027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5250" marR="9525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22C4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spc="9" kern="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Monto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5250" marR="9525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22C4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spc="9" kern="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5250" marR="9525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22C4F"/>
                    </a:solidFill>
                  </a:tcPr>
                </a:tc>
              </a:tr>
              <a:tr h="35406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C1E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Tesoro · corrientes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5250" marR="9525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C1E27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$ 1.379.892 M</a:t>
                      </a:r>
                      <a:endParaRPr lang="en-US" sz="10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5250" marR="9525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C1E27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75,1%</a:t>
                      </a:r>
                      <a:endParaRPr lang="en-US" sz="10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5250" marR="9525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58825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C1E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Tesoro · capital (incl. sobre techo)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5250" marR="9525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C1E27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$ 200.000 M</a:t>
                      </a:r>
                      <a:endParaRPr lang="en-US" sz="10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5250" marR="9525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C1E27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10,9%</a:t>
                      </a:r>
                      <a:endParaRPr lang="en-US" sz="10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5250" marR="9525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58825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C1E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Ingresos propios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5250" marR="9525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C1E27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$ 131.190 M</a:t>
                      </a:r>
                      <a:endParaRPr lang="en-US" sz="10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5250" marR="9525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C1E27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7,1%</a:t>
                      </a:r>
                      <a:endParaRPr lang="en-US" sz="10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5250" marR="9525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58825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C1E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SIFER (DMU)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5250" marR="9525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C1E27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$ 125.550 M</a:t>
                      </a:r>
                      <a:endParaRPr lang="en-US" sz="10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5250" marR="9525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C1E27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6,8%</a:t>
                      </a:r>
                      <a:endParaRPr lang="en-US" sz="10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5250" marR="9525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58825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1C1E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5250" marR="9525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2F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1C1E27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$ 1.836.632 M</a:t>
                      </a:r>
                      <a:endParaRPr lang="en-US" sz="10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5250" marR="9525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2F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1C1E27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100%</a:t>
                      </a:r>
                      <a:endParaRPr lang="en-US" sz="10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5250" marR="9525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2F8"/>
                    </a:solidFill>
                  </a:tcPr>
                </a:tc>
              </a:tr>
            </a:tbl>
          </a:graphicData>
        </a:graphic>
      </p:graphicFrame>
      <p:sp>
        <p:nvSpPr>
          <p:cNvPr id="36" name="Shape 32"/>
          <p:cNvSpPr/>
          <p:nvPr/>
        </p:nvSpPr>
        <p:spPr>
          <a:xfrm>
            <a:off x="495300" y="4628852"/>
            <a:ext cx="9705975" cy="831056"/>
          </a:xfrm>
          <a:prstGeom prst="rect">
            <a:avLst/>
          </a:prstGeom>
          <a:solidFill>
            <a:srgbClr val="FFF8EA"/>
          </a:solidFill>
          <a:ln/>
        </p:spPr>
      </p:sp>
      <p:sp>
        <p:nvSpPr>
          <p:cNvPr id="37" name="Shape 33"/>
          <p:cNvSpPr/>
          <p:nvPr/>
        </p:nvSpPr>
        <p:spPr>
          <a:xfrm>
            <a:off x="495300" y="4628852"/>
            <a:ext cx="38100" cy="831056"/>
          </a:xfrm>
          <a:prstGeom prst="rect">
            <a:avLst/>
          </a:prstGeom>
          <a:solidFill>
            <a:srgbClr val="E7B860"/>
          </a:solidFill>
          <a:ln/>
        </p:spPr>
      </p:sp>
      <p:sp>
        <p:nvSpPr>
          <p:cNvPr id="38" name="Text 34"/>
          <p:cNvSpPr/>
          <p:nvPr/>
        </p:nvSpPr>
        <p:spPr>
          <a:xfrm>
            <a:off x="676275" y="4733627"/>
            <a:ext cx="9439275" cy="62150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31"/>
              </a:lnSpc>
              <a:buNone/>
            </a:pPr>
            <a:r>
              <a:rPr lang="en-US" sz="1100" b="1" dirty="0">
                <a:solidFill>
                  <a:srgbClr val="222C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Síntesis:</a:t>
            </a:r>
            <a:pPr algn="l" indent="0" marL="0">
              <a:lnSpc>
                <a:spcPts val="1631"/>
              </a:lnSpc>
              <a:buNone/>
            </a:pPr>
            <a:r>
              <a:rPr lang="en-US" sz="1100" dirty="0">
                <a:solidFill>
                  <a:srgbClr val="2A2D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sobre un plurianual 2027 de $ 2.832.751 M y un requerido de $ 3.436.617 M, el presupuesto asciende a $ 1.836.632 M (64,8% del plurianual y 53,4% del requerido). Los gastos corrientes representan el 82,3% del total, con una cobertura del 52,4% respecto de lo requerido; los gastos de capital alcanzan una cobertura del 58,7%. El Tesoro Nacional financia el 86,0% del presupuesto.</a:t>
            </a:r>
            <a:endParaRPr lang="en-US" sz="1100" dirty="0"/>
          </a:p>
        </p:txBody>
      </p:sp>
      <p:sp>
        <p:nvSpPr>
          <p:cNvPr id="39" name="Text 35"/>
          <p:cNvSpPr/>
          <p:nvPr/>
        </p:nvSpPr>
        <p:spPr>
          <a:xfrm>
            <a:off x="438150" y="7267129"/>
            <a:ext cx="7600950" cy="16240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279"/>
              </a:lnSpc>
              <a:buNone/>
            </a:pPr>
            <a:r>
              <a:rPr lang="en-US" sz="850" dirty="0">
                <a:solidFill>
                  <a:srgbClr val="5C60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SOFSA · Presupuesto 2027 · Elaborado por la Subgerencia de Presupuesto y Control de Gestión · consultas: emmanuel.miranda@trenesargentinos.gob.ar</a:t>
            </a:r>
            <a:endParaRPr lang="en-US" sz="850" dirty="0"/>
          </a:p>
        </p:txBody>
      </p:sp>
      <p:sp>
        <p:nvSpPr>
          <p:cNvPr id="40" name="Text 36"/>
          <p:cNvSpPr/>
          <p:nvPr/>
        </p:nvSpPr>
        <p:spPr>
          <a:xfrm>
            <a:off x="9963150" y="7267129"/>
            <a:ext cx="676275" cy="16240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279"/>
              </a:lnSpc>
              <a:buNone/>
            </a:pPr>
            <a:r>
              <a:rPr lang="en-US" sz="850" dirty="0">
                <a:solidFill>
                  <a:srgbClr val="5C60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/ 21</a:t>
            </a:r>
            <a:endParaRPr lang="en-US" sz="8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696575" cy="756285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0696575" cy="57150"/>
          </a:xfrm>
          <a:prstGeom prst="rect">
            <a:avLst/>
          </a:prstGeom>
          <a:solidFill>
            <a:srgbClr val="E7B860"/>
          </a:solidFill>
          <a:ln/>
        </p:spPr>
      </p:sp>
      <p:sp>
        <p:nvSpPr>
          <p:cNvPr id="4" name="Text 2"/>
          <p:cNvSpPr/>
          <p:nvPr/>
        </p:nvSpPr>
        <p:spPr>
          <a:xfrm>
            <a:off x="495300" y="438150"/>
            <a:ext cx="10086975" cy="44291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3488"/>
              </a:lnSpc>
              <a:buNone/>
            </a:pPr>
            <a:r>
              <a:rPr lang="en-US" sz="2050" b="1" dirty="0">
                <a:solidFill>
                  <a:srgbClr val="222C4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Del plurianual al presupuesto anual</a:t>
            </a:r>
            <a:endParaRPr lang="en-US" sz="205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95300" y="1052512"/>
            <a:ext cx="9705975" cy="49530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495300" y="6138862"/>
            <a:ext cx="9705975" cy="831056"/>
          </a:xfrm>
          <a:prstGeom prst="rect">
            <a:avLst/>
          </a:prstGeom>
          <a:solidFill>
            <a:srgbClr val="FFF8EA"/>
          </a:solidFill>
          <a:ln/>
        </p:spPr>
      </p:sp>
      <p:sp>
        <p:nvSpPr>
          <p:cNvPr id="7" name="Shape 4"/>
          <p:cNvSpPr/>
          <p:nvPr/>
        </p:nvSpPr>
        <p:spPr>
          <a:xfrm>
            <a:off x="495300" y="6138862"/>
            <a:ext cx="38100" cy="831056"/>
          </a:xfrm>
          <a:prstGeom prst="rect">
            <a:avLst/>
          </a:prstGeom>
          <a:solidFill>
            <a:srgbClr val="E7B860"/>
          </a:solidFill>
          <a:ln/>
        </p:spPr>
      </p:sp>
      <p:sp>
        <p:nvSpPr>
          <p:cNvPr id="8" name="Text 5"/>
          <p:cNvSpPr/>
          <p:nvPr/>
        </p:nvSpPr>
        <p:spPr>
          <a:xfrm>
            <a:off x="676275" y="6243638"/>
            <a:ext cx="9439275" cy="62150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31"/>
              </a:lnSpc>
              <a:buNone/>
            </a:pPr>
            <a:r>
              <a:rPr lang="en-US" sz="1100" dirty="0">
                <a:solidFill>
                  <a:srgbClr val="2A2D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techo comunicado por la Secretaría de Transporte ($ 1.537.804 M) es inferior en $ 1.294.947 M al plurianual 2027. Con la incorporación de ingresos propios ($ 131.190 M), sobre techo de capital ($ 42.088 M) y SIFER ($ 125.550 M), el presupuesto asciende a $ 1.836.632 M. No cuentan con financiamiento el sobre techo corriente solicitado ($ 427.203 M) ni los sobre techos informados por las áreas ($ 162.552 M).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438150" y="7267129"/>
            <a:ext cx="7600950" cy="16240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279"/>
              </a:lnSpc>
              <a:buNone/>
            </a:pPr>
            <a:r>
              <a:rPr lang="en-US" sz="850" dirty="0">
                <a:solidFill>
                  <a:srgbClr val="5C60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SOFSA · Presupuesto 2027 · Elaborado por la Subgerencia de Presupuesto y Control de Gestión · consultas: emmanuel.miranda@trenesargentinos.gob.ar</a:t>
            </a:r>
            <a:endParaRPr lang="en-US" sz="850" dirty="0"/>
          </a:p>
        </p:txBody>
      </p:sp>
      <p:sp>
        <p:nvSpPr>
          <p:cNvPr id="10" name="Text 7"/>
          <p:cNvSpPr/>
          <p:nvPr/>
        </p:nvSpPr>
        <p:spPr>
          <a:xfrm>
            <a:off x="9963150" y="7267129"/>
            <a:ext cx="676275" cy="16240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279"/>
              </a:lnSpc>
              <a:buNone/>
            </a:pPr>
            <a:r>
              <a:rPr lang="en-US" sz="850" dirty="0">
                <a:solidFill>
                  <a:srgbClr val="5C60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/ 21</a:t>
            </a:r>
            <a:endParaRPr lang="en-US" sz="8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696575" cy="756285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0696575" cy="57150"/>
          </a:xfrm>
          <a:prstGeom prst="rect">
            <a:avLst/>
          </a:prstGeom>
          <a:solidFill>
            <a:srgbClr val="E7B860"/>
          </a:solidFill>
          <a:ln/>
        </p:spPr>
      </p:sp>
      <p:sp>
        <p:nvSpPr>
          <p:cNvPr id="4" name="Text 2"/>
          <p:cNvSpPr/>
          <p:nvPr/>
        </p:nvSpPr>
        <p:spPr>
          <a:xfrm>
            <a:off x="495300" y="438150"/>
            <a:ext cx="10086975" cy="44291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3488"/>
              </a:lnSpc>
              <a:buNone/>
            </a:pPr>
            <a:r>
              <a:rPr lang="en-US" sz="2050" b="1" dirty="0">
                <a:solidFill>
                  <a:srgbClr val="222C4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Techo 2027 por tipo de gasto e inciso</a:t>
            </a:r>
            <a:endParaRPr lang="en-US" sz="2050" dirty="0"/>
          </a:p>
        </p:txBody>
      </p:sp>
      <p:sp>
        <p:nvSpPr>
          <p:cNvPr id="5" name="Shape 3"/>
          <p:cNvSpPr/>
          <p:nvPr/>
        </p:nvSpPr>
        <p:spPr>
          <a:xfrm>
            <a:off x="495300" y="1052512"/>
            <a:ext cx="2340769" cy="1043583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6" name="Shape 4"/>
          <p:cNvSpPr/>
          <p:nvPr/>
        </p:nvSpPr>
        <p:spPr>
          <a:xfrm>
            <a:off x="495300" y="1052512"/>
            <a:ext cx="38100" cy="1043583"/>
          </a:xfrm>
          <a:prstGeom prst="rect">
            <a:avLst/>
          </a:prstGeom>
          <a:solidFill>
            <a:srgbClr val="E7B860"/>
          </a:solidFill>
          <a:ln/>
        </p:spPr>
      </p:sp>
      <p:sp>
        <p:nvSpPr>
          <p:cNvPr id="7" name="Text 5"/>
          <p:cNvSpPr/>
          <p:nvPr/>
        </p:nvSpPr>
        <p:spPr>
          <a:xfrm>
            <a:off x="666750" y="1157288"/>
            <a:ext cx="2416969" cy="44291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3488"/>
              </a:lnSpc>
              <a:buNone/>
            </a:pPr>
            <a:r>
              <a:rPr lang="en-US" sz="2050" b="1" dirty="0">
                <a:solidFill>
                  <a:srgbClr val="222C4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$ 1.511.082 M</a:t>
            </a:r>
            <a:endParaRPr lang="en-US" sz="2050" dirty="0"/>
          </a:p>
        </p:txBody>
      </p:sp>
      <p:sp>
        <p:nvSpPr>
          <p:cNvPr id="8" name="Text 6"/>
          <p:cNvSpPr/>
          <p:nvPr/>
        </p:nvSpPr>
        <p:spPr>
          <a:xfrm>
            <a:off x="666750" y="1600200"/>
            <a:ext cx="2416969" cy="20669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27"/>
              </a:lnSpc>
              <a:buNone/>
            </a:pPr>
            <a:r>
              <a:rPr lang="en-US" sz="1050" b="1" dirty="0">
                <a:solidFill>
                  <a:srgbClr val="1C1E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Gastos corrientes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666750" y="1806773"/>
            <a:ext cx="2416969" cy="18454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453"/>
              </a:lnSpc>
              <a:buNone/>
            </a:pPr>
            <a:r>
              <a:rPr lang="en-US" sz="950" dirty="0">
                <a:solidFill>
                  <a:srgbClr val="5C60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82,3% del presupuesto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2950369" y="1052512"/>
            <a:ext cx="2340769" cy="1043583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11" name="Shape 9"/>
          <p:cNvSpPr/>
          <p:nvPr/>
        </p:nvSpPr>
        <p:spPr>
          <a:xfrm>
            <a:off x="2950369" y="1052512"/>
            <a:ext cx="38100" cy="1043583"/>
          </a:xfrm>
          <a:prstGeom prst="rect">
            <a:avLst/>
          </a:prstGeom>
          <a:solidFill>
            <a:srgbClr val="E7B860"/>
          </a:solidFill>
          <a:ln/>
        </p:spPr>
      </p:sp>
      <p:sp>
        <p:nvSpPr>
          <p:cNvPr id="12" name="Text 10"/>
          <p:cNvSpPr/>
          <p:nvPr/>
        </p:nvSpPr>
        <p:spPr>
          <a:xfrm>
            <a:off x="3121819" y="1157288"/>
            <a:ext cx="2416969" cy="44291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3488"/>
              </a:lnSpc>
              <a:buNone/>
            </a:pPr>
            <a:r>
              <a:rPr lang="en-US" sz="2050" b="1" dirty="0">
                <a:solidFill>
                  <a:srgbClr val="222C4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$ 325.550 M</a:t>
            </a:r>
            <a:endParaRPr lang="en-US" sz="2050" dirty="0"/>
          </a:p>
        </p:txBody>
      </p:sp>
      <p:sp>
        <p:nvSpPr>
          <p:cNvPr id="13" name="Text 11"/>
          <p:cNvSpPr/>
          <p:nvPr/>
        </p:nvSpPr>
        <p:spPr>
          <a:xfrm>
            <a:off x="3121819" y="1600200"/>
            <a:ext cx="2416969" cy="20669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27"/>
              </a:lnSpc>
              <a:buNone/>
            </a:pPr>
            <a:r>
              <a:rPr lang="en-US" sz="1050" b="1" dirty="0">
                <a:solidFill>
                  <a:srgbClr val="1C1E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Gastos de capital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3121819" y="1806773"/>
            <a:ext cx="2416969" cy="18454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453"/>
              </a:lnSpc>
              <a:buNone/>
            </a:pPr>
            <a:r>
              <a:rPr lang="en-US" sz="950" dirty="0">
                <a:solidFill>
                  <a:srgbClr val="5C60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17,7% · incluye SIFER $ 125.550 M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5405438" y="1052512"/>
            <a:ext cx="2340769" cy="1043583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16" name="Shape 14"/>
          <p:cNvSpPr/>
          <p:nvPr/>
        </p:nvSpPr>
        <p:spPr>
          <a:xfrm>
            <a:off x="5405438" y="1052512"/>
            <a:ext cx="38100" cy="1043583"/>
          </a:xfrm>
          <a:prstGeom prst="rect">
            <a:avLst/>
          </a:prstGeom>
          <a:solidFill>
            <a:srgbClr val="E7B860"/>
          </a:solidFill>
          <a:ln/>
        </p:spPr>
      </p:sp>
      <p:sp>
        <p:nvSpPr>
          <p:cNvPr id="17" name="Text 15"/>
          <p:cNvSpPr/>
          <p:nvPr/>
        </p:nvSpPr>
        <p:spPr>
          <a:xfrm>
            <a:off x="5576888" y="1157288"/>
            <a:ext cx="2416969" cy="44291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3488"/>
              </a:lnSpc>
              <a:buNone/>
            </a:pPr>
            <a:r>
              <a:rPr lang="en-US" sz="2050" b="1" dirty="0">
                <a:solidFill>
                  <a:srgbClr val="222C4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$ 1.528.995 M</a:t>
            </a:r>
            <a:endParaRPr lang="en-US" sz="2050" dirty="0"/>
          </a:p>
        </p:txBody>
      </p:sp>
      <p:sp>
        <p:nvSpPr>
          <p:cNvPr id="18" name="Text 16"/>
          <p:cNvSpPr/>
          <p:nvPr/>
        </p:nvSpPr>
        <p:spPr>
          <a:xfrm>
            <a:off x="5576888" y="1600200"/>
            <a:ext cx="2416969" cy="20669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27"/>
              </a:lnSpc>
              <a:buNone/>
            </a:pPr>
            <a:r>
              <a:rPr lang="en-US" sz="1050" b="1" dirty="0">
                <a:solidFill>
                  <a:srgbClr val="1C1E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Gasto Habitual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5576888" y="1806773"/>
            <a:ext cx="2416969" cy="18454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453"/>
              </a:lnSpc>
              <a:buNone/>
            </a:pPr>
            <a:r>
              <a:rPr lang="en-US" sz="950" dirty="0">
                <a:solidFill>
                  <a:srgbClr val="5C60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83,2% del presupuesto</a:t>
            </a:r>
            <a:endParaRPr lang="en-US" sz="950" dirty="0"/>
          </a:p>
        </p:txBody>
      </p:sp>
      <p:sp>
        <p:nvSpPr>
          <p:cNvPr id="20" name="Shape 18"/>
          <p:cNvSpPr/>
          <p:nvPr/>
        </p:nvSpPr>
        <p:spPr>
          <a:xfrm>
            <a:off x="7860506" y="1052512"/>
            <a:ext cx="2340769" cy="1043583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21" name="Shape 19"/>
          <p:cNvSpPr/>
          <p:nvPr/>
        </p:nvSpPr>
        <p:spPr>
          <a:xfrm>
            <a:off x="7860506" y="1052512"/>
            <a:ext cx="38100" cy="1043583"/>
          </a:xfrm>
          <a:prstGeom prst="rect">
            <a:avLst/>
          </a:prstGeom>
          <a:solidFill>
            <a:srgbClr val="E7B860"/>
          </a:solidFill>
          <a:ln/>
        </p:spPr>
      </p:sp>
      <p:sp>
        <p:nvSpPr>
          <p:cNvPr id="22" name="Text 20"/>
          <p:cNvSpPr/>
          <p:nvPr/>
        </p:nvSpPr>
        <p:spPr>
          <a:xfrm>
            <a:off x="8031956" y="1157288"/>
            <a:ext cx="2416969" cy="44291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3488"/>
              </a:lnSpc>
              <a:buNone/>
            </a:pPr>
            <a:r>
              <a:rPr lang="en-US" sz="2050" b="1" dirty="0">
                <a:solidFill>
                  <a:srgbClr val="222C4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$ 307.637 M</a:t>
            </a:r>
            <a:endParaRPr lang="en-US" sz="2050" dirty="0"/>
          </a:p>
        </p:txBody>
      </p:sp>
      <p:sp>
        <p:nvSpPr>
          <p:cNvPr id="23" name="Text 21"/>
          <p:cNvSpPr/>
          <p:nvPr/>
        </p:nvSpPr>
        <p:spPr>
          <a:xfrm>
            <a:off x="8031956" y="1600200"/>
            <a:ext cx="2416969" cy="20669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27"/>
              </a:lnSpc>
              <a:buNone/>
            </a:pPr>
            <a:r>
              <a:rPr lang="en-US" sz="1050" b="1" dirty="0">
                <a:solidFill>
                  <a:srgbClr val="1C1E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Emergencia Ferroviaria</a:t>
            </a:r>
            <a:endParaRPr lang="en-US" sz="1050" dirty="0"/>
          </a:p>
        </p:txBody>
      </p:sp>
      <p:sp>
        <p:nvSpPr>
          <p:cNvPr id="24" name="Text 22"/>
          <p:cNvSpPr/>
          <p:nvPr/>
        </p:nvSpPr>
        <p:spPr>
          <a:xfrm>
            <a:off x="8031956" y="1806773"/>
            <a:ext cx="2416969" cy="18454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453"/>
              </a:lnSpc>
              <a:buNone/>
            </a:pPr>
            <a:r>
              <a:rPr lang="en-US" sz="950" dirty="0">
                <a:solidFill>
                  <a:srgbClr val="5C60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16,8% del presupuesto</a:t>
            </a:r>
            <a:endParaRPr lang="en-US" sz="95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95300" y="2210395"/>
          <a:ext cx="9705975" cy="914400"/>
        </p:xfrm>
        <a:graphic>
          <a:graphicData uri="http://schemas.openxmlformats.org/drawingml/2006/table">
            <a:tbl>
              <a:tblPr/>
              <a:tblGrid>
                <a:gridCol w="1936849"/>
                <a:gridCol w="1298228"/>
                <a:gridCol w="1298228"/>
                <a:gridCol w="1298228"/>
                <a:gridCol w="1298228"/>
                <a:gridCol w="1130647"/>
                <a:gridCol w="817066"/>
                <a:gridCol w="628501"/>
              </a:tblGrid>
              <a:tr h="26491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spc="9" kern="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Tipo de gasto / inciso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5250" marR="95250" marT="47625" marB="4762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22C4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spc="9" kern="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Plurianual 27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5250" marR="95250" marT="47625" marB="4762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22C4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spc="9" kern="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Requerido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5250" marR="95250" marT="47625" marB="4762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22C4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spc="9" kern="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Techo 2027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5250" marR="95250" marT="47625" marB="4762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22C4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spc="9" kern="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 GH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5250" marR="95250" marT="47625" marB="4762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22C4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spc="9" kern="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 EF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5250" marR="95250" marT="47625" marB="4762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22C4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spc="9" kern="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Cobertura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5250" marR="95250" marT="47625" marB="4762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22C4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spc="9" kern="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Peso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5250" marR="95250" marT="47625" marB="4762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22C4F"/>
                    </a:solidFill>
                  </a:tcPr>
                </a:tc>
              </a:tr>
              <a:tr h="296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222C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Gastos corrientes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5250" marR="95250" marT="47625" marB="4762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C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222C4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$ 2.167.519 M</a:t>
                      </a:r>
                      <a:endParaRPr lang="en-US" sz="10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5250" marR="95250" marT="47625" marB="4762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C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222C4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$ 2.882.395 M</a:t>
                      </a:r>
                      <a:endParaRPr lang="en-US" sz="10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5250" marR="95250" marT="47625" marB="4762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C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222C4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$ 1.511.082 M</a:t>
                      </a:r>
                      <a:endParaRPr lang="en-US" sz="10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5250" marR="95250" marT="47625" marB="4762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C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222C4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$ 1.403.629 M</a:t>
                      </a:r>
                      <a:endParaRPr lang="en-US" sz="10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5250" marR="95250" marT="47625" marB="4762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C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222C4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$ 107.453 M</a:t>
                      </a:r>
                      <a:endParaRPr lang="en-US" sz="10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5250" marR="95250" marT="47625" marB="4762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C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222C4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52,4%</a:t>
                      </a:r>
                      <a:endParaRPr lang="en-US" sz="10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5250" marR="95250" marT="47625" marB="4762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C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222C4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82,3%</a:t>
                      </a:r>
                      <a:endParaRPr lang="en-US" sz="10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5250" marR="95250" marT="47625" marB="4762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CF5"/>
                    </a:solidFill>
                  </a:tcPr>
                </a:tc>
              </a:tr>
              <a:tr h="301675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C1E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 Gastos en Personal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09550" marR="95250" marT="47625" marB="4762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C1E27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$ 1.060.951 M</a:t>
                      </a:r>
                      <a:endParaRPr lang="en-US" sz="10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5250" marR="95250" marT="47625" marB="4762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C1E27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$ 1.015.886 M</a:t>
                      </a:r>
                      <a:endParaRPr lang="en-US" sz="10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5250" marR="95250" marT="47625" marB="4762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1C1E27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$ 962.551 M</a:t>
                      </a:r>
                      <a:endParaRPr lang="en-US" sz="10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5250" marR="95250" marT="47625" marB="4762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C1E27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$ 962.551 M</a:t>
                      </a:r>
                      <a:endParaRPr lang="en-US" sz="10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5250" marR="95250" marT="47625" marB="4762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C1E27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—</a:t>
                      </a:r>
                      <a:endParaRPr lang="en-US" sz="10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5250" marR="95250" marT="47625" marB="4762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C1E27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94,7%</a:t>
                      </a:r>
                      <a:endParaRPr lang="en-US" sz="10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5250" marR="95250" marT="47625" marB="4762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C1E27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52,4%</a:t>
                      </a:r>
                      <a:endParaRPr lang="en-US" sz="10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5250" marR="95250" marT="47625" marB="4762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675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C1E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 Bienes de Consumo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09550" marR="95250" marT="47625" marB="4762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C1E27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$ 221.189 M</a:t>
                      </a:r>
                      <a:endParaRPr lang="en-US" sz="10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5250" marR="95250" marT="47625" marB="4762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C1E27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$ 733.954 M</a:t>
                      </a:r>
                      <a:endParaRPr lang="en-US" sz="10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5250" marR="95250" marT="47625" marB="4762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1C1E27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$ 168.250 M</a:t>
                      </a:r>
                      <a:endParaRPr lang="en-US" sz="10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5250" marR="95250" marT="47625" marB="4762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C1E27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$ 88.409 M</a:t>
                      </a:r>
                      <a:endParaRPr lang="en-US" sz="10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5250" marR="95250" marT="47625" marB="4762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C1E27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$ 79.841 M</a:t>
                      </a:r>
                      <a:endParaRPr lang="en-US" sz="10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5250" marR="95250" marT="47625" marB="4762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C1E27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22,9%</a:t>
                      </a:r>
                      <a:endParaRPr lang="en-US" sz="10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5250" marR="95250" marT="47625" marB="4762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C1E27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9,2%</a:t>
                      </a:r>
                      <a:endParaRPr lang="en-US" sz="10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5250" marR="95250" marT="47625" marB="4762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675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C1E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 Servicios No Personales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09550" marR="95250" marT="47625" marB="4762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C1E27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$ 574.604 M</a:t>
                      </a:r>
                      <a:endParaRPr lang="en-US" sz="10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5250" marR="95250" marT="47625" marB="4762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C1E27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$ 781.960 M</a:t>
                      </a:r>
                      <a:endParaRPr lang="en-US" sz="10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5250" marR="95250" marT="47625" marB="4762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1C1E27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$ 249.091 M</a:t>
                      </a:r>
                      <a:endParaRPr lang="en-US" sz="10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5250" marR="95250" marT="47625" marB="4762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C1E27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$ 221.479 M</a:t>
                      </a:r>
                      <a:endParaRPr lang="en-US" sz="10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5250" marR="95250" marT="47625" marB="4762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C1E27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$ 27.612 M</a:t>
                      </a:r>
                      <a:endParaRPr lang="en-US" sz="10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5250" marR="95250" marT="47625" marB="4762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C1E27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31,9%</a:t>
                      </a:r>
                      <a:endParaRPr lang="en-US" sz="10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5250" marR="95250" marT="47625" marB="4762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C1E27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13,6%</a:t>
                      </a:r>
                      <a:endParaRPr lang="en-US" sz="10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5250" marR="95250" marT="47625" marB="4762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675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C1E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 Impuestos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09550" marR="95250" marT="47625" marB="4762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C1E27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$ 310.775 M</a:t>
                      </a:r>
                      <a:endParaRPr lang="en-US" sz="10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5250" marR="95250" marT="47625" marB="4762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C1E27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$ 350.595 M</a:t>
                      </a:r>
                      <a:endParaRPr lang="en-US" sz="10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5250" marR="95250" marT="47625" marB="4762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1C1E27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$ 131.190 M</a:t>
                      </a:r>
                      <a:endParaRPr lang="en-US" sz="10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5250" marR="95250" marT="47625" marB="4762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C1E27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$ 131.190 M</a:t>
                      </a:r>
                      <a:endParaRPr lang="en-US" sz="10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5250" marR="95250" marT="47625" marB="4762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C1E27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—</a:t>
                      </a:r>
                      <a:endParaRPr lang="en-US" sz="10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5250" marR="95250" marT="47625" marB="4762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C1E27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37,4%</a:t>
                      </a:r>
                      <a:endParaRPr lang="en-US" sz="10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5250" marR="95250" marT="47625" marB="4762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C1E27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7,1%</a:t>
                      </a:r>
                      <a:endParaRPr lang="en-US" sz="10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5250" marR="95250" marT="47625" marB="4762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675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222C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Gastos de capital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5250" marR="95250" marT="47625" marB="4762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C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222C4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$ 665.231 M</a:t>
                      </a:r>
                      <a:endParaRPr lang="en-US" sz="10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5250" marR="95250" marT="47625" marB="4762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C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222C4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$ 554.223 M</a:t>
                      </a:r>
                      <a:endParaRPr lang="en-US" sz="10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5250" marR="95250" marT="47625" marB="4762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C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222C4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$ 325.550 M</a:t>
                      </a:r>
                      <a:endParaRPr lang="en-US" sz="10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5250" marR="95250" marT="47625" marB="4762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C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222C4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$ 125.366 M</a:t>
                      </a:r>
                      <a:endParaRPr lang="en-US" sz="10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5250" marR="95250" marT="47625" marB="4762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C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222C4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$ 200.184 M</a:t>
                      </a:r>
                      <a:endParaRPr lang="en-US" sz="10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5250" marR="95250" marT="47625" marB="4762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C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222C4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58,7%</a:t>
                      </a:r>
                      <a:endParaRPr lang="en-US" sz="10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5250" marR="95250" marT="47625" marB="4762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C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222C4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17,7%</a:t>
                      </a:r>
                      <a:endParaRPr lang="en-US" sz="10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5250" marR="95250" marT="47625" marB="4762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CF5"/>
                    </a:solidFill>
                  </a:tcPr>
                </a:tc>
              </a:tr>
              <a:tr h="301675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C1E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 Bienes de Uso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09550" marR="95250" marT="47625" marB="4762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C1E27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$ 665.231 M</a:t>
                      </a:r>
                      <a:endParaRPr lang="en-US" sz="10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5250" marR="95250" marT="47625" marB="4762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C1E27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$ 554.223 M</a:t>
                      </a:r>
                      <a:endParaRPr lang="en-US" sz="10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5250" marR="95250" marT="47625" marB="4762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1C1E27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$ 325.550 M</a:t>
                      </a:r>
                      <a:endParaRPr lang="en-US" sz="10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5250" marR="95250" marT="47625" marB="4762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C1E27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$ 125.366 M</a:t>
                      </a:r>
                      <a:endParaRPr lang="en-US" sz="10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5250" marR="95250" marT="47625" marB="4762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C1E27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$ 200.184 M</a:t>
                      </a:r>
                      <a:endParaRPr lang="en-US" sz="10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5250" marR="95250" marT="47625" marB="4762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C1E27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58,7%</a:t>
                      </a:r>
                      <a:endParaRPr lang="en-US" sz="10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5250" marR="95250" marT="47625" marB="4762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C1E27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17,7%</a:t>
                      </a:r>
                      <a:endParaRPr lang="en-US" sz="10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5250" marR="95250" marT="47625" marB="4762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675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1C1E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5250" marR="95250" marT="47625" marB="4762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2F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1C1E27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$ 2.832.751 M</a:t>
                      </a:r>
                      <a:endParaRPr lang="en-US" sz="10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5250" marR="95250" marT="47625" marB="4762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2F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1C1E27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$ 3.436.617 M</a:t>
                      </a:r>
                      <a:endParaRPr lang="en-US" sz="10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5250" marR="95250" marT="47625" marB="4762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2F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1C1E27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$ 1.836.632 M</a:t>
                      </a:r>
                      <a:endParaRPr lang="en-US" sz="10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5250" marR="95250" marT="47625" marB="4762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2F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1C1E27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$ 1.528.995 M</a:t>
                      </a:r>
                      <a:endParaRPr lang="en-US" sz="10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5250" marR="95250" marT="47625" marB="4762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2F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1C1E27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$ 307.637 M</a:t>
                      </a:r>
                      <a:endParaRPr lang="en-US" sz="10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5250" marR="95250" marT="47625" marB="4762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2F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1C1E27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53,4%</a:t>
                      </a:r>
                      <a:endParaRPr lang="en-US" sz="10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5250" marR="95250" marT="47625" marB="4762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2F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1C1E27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100%</a:t>
                      </a:r>
                      <a:endParaRPr lang="en-US" sz="10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5250" marR="95250" marT="47625" marB="4762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2F8"/>
                    </a:solidFill>
                  </a:tcPr>
                </a:tc>
              </a:tr>
            </a:tbl>
          </a:graphicData>
        </a:graphic>
      </p:graphicFrame>
      <p:sp>
        <p:nvSpPr>
          <p:cNvPr id="26" name="Shape 23"/>
          <p:cNvSpPr/>
          <p:nvPr/>
        </p:nvSpPr>
        <p:spPr>
          <a:xfrm>
            <a:off x="495300" y="5022056"/>
            <a:ext cx="9705975" cy="831056"/>
          </a:xfrm>
          <a:prstGeom prst="rect">
            <a:avLst/>
          </a:prstGeom>
          <a:solidFill>
            <a:srgbClr val="FFF8EA"/>
          </a:solidFill>
          <a:ln/>
        </p:spPr>
      </p:sp>
      <p:sp>
        <p:nvSpPr>
          <p:cNvPr id="27" name="Shape 24"/>
          <p:cNvSpPr/>
          <p:nvPr/>
        </p:nvSpPr>
        <p:spPr>
          <a:xfrm>
            <a:off x="495300" y="5022056"/>
            <a:ext cx="38100" cy="831056"/>
          </a:xfrm>
          <a:prstGeom prst="rect">
            <a:avLst/>
          </a:prstGeom>
          <a:solidFill>
            <a:srgbClr val="E7B860"/>
          </a:solidFill>
          <a:ln/>
        </p:spPr>
      </p:sp>
      <p:sp>
        <p:nvSpPr>
          <p:cNvPr id="28" name="Text 25"/>
          <p:cNvSpPr/>
          <p:nvPr/>
        </p:nvSpPr>
        <p:spPr>
          <a:xfrm>
            <a:off x="676275" y="5126831"/>
            <a:ext cx="9439275" cy="62150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31"/>
              </a:lnSpc>
              <a:buNone/>
            </a:pPr>
            <a:r>
              <a:rPr lang="en-US" sz="1100" dirty="0">
                <a:solidFill>
                  <a:srgbClr val="2A2D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Gastos en Personal representa el 52,4% del presupuesto, con una cobertura del 94,7% respecto de lo requerido. El inciso Impuestos se financia en su totalidad con ingresos propios ($ 131.190 M). Bienes de Uso se integra con techo ($ 157.912 M), sobre techo de capital ($ 42.088 M) y SIFER ($ 125.550 M, Material Rodante DMU).</a:t>
            </a:r>
            <a:endParaRPr lang="en-US" sz="1100" dirty="0"/>
          </a:p>
        </p:txBody>
      </p:sp>
      <p:sp>
        <p:nvSpPr>
          <p:cNvPr id="29" name="Text 26"/>
          <p:cNvSpPr/>
          <p:nvPr/>
        </p:nvSpPr>
        <p:spPr>
          <a:xfrm>
            <a:off x="438150" y="7267129"/>
            <a:ext cx="7600950" cy="16240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279"/>
              </a:lnSpc>
              <a:buNone/>
            </a:pPr>
            <a:r>
              <a:rPr lang="en-US" sz="850" dirty="0">
                <a:solidFill>
                  <a:srgbClr val="5C60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SOFSA · Presupuesto 2027 · Elaborado por la Subgerencia de Presupuesto y Control de Gestión · consultas: emmanuel.miranda@trenesargentinos.gob.ar</a:t>
            </a:r>
            <a:endParaRPr lang="en-US" sz="850" dirty="0"/>
          </a:p>
        </p:txBody>
      </p:sp>
      <p:sp>
        <p:nvSpPr>
          <p:cNvPr id="30" name="Text 27"/>
          <p:cNvSpPr/>
          <p:nvPr/>
        </p:nvSpPr>
        <p:spPr>
          <a:xfrm>
            <a:off x="9963150" y="7267129"/>
            <a:ext cx="676275" cy="16240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279"/>
              </a:lnSpc>
              <a:buNone/>
            </a:pPr>
            <a:r>
              <a:rPr lang="en-US" sz="850" dirty="0">
                <a:solidFill>
                  <a:srgbClr val="5C60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/ 21</a:t>
            </a:r>
            <a:endParaRPr lang="en-US" sz="8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696575" cy="756285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0696575" cy="57150"/>
          </a:xfrm>
          <a:prstGeom prst="rect">
            <a:avLst/>
          </a:prstGeom>
          <a:solidFill>
            <a:srgbClr val="E7B860"/>
          </a:solidFill>
          <a:ln/>
        </p:spPr>
      </p:sp>
      <p:sp>
        <p:nvSpPr>
          <p:cNvPr id="4" name="Text 2"/>
          <p:cNvSpPr/>
          <p:nvPr/>
        </p:nvSpPr>
        <p:spPr>
          <a:xfrm>
            <a:off x="495300" y="438150"/>
            <a:ext cx="10086975" cy="44291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3488"/>
              </a:lnSpc>
              <a:buNone/>
            </a:pPr>
            <a:r>
              <a:rPr lang="en-US" sz="2050" b="1" dirty="0">
                <a:solidFill>
                  <a:srgbClr val="222C4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Plurianual 2027–2029 vs presupuesto anual, por inciso</a:t>
            </a:r>
            <a:endParaRPr lang="en-US" sz="205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95300" y="1052512"/>
          <a:ext cx="9705975" cy="914400"/>
        </p:xfrm>
        <a:graphic>
          <a:graphicData uri="http://schemas.openxmlformats.org/drawingml/2006/table">
            <a:tbl>
              <a:tblPr/>
              <a:tblGrid>
                <a:gridCol w="1513136"/>
                <a:gridCol w="1019026"/>
                <a:gridCol w="1019026"/>
                <a:gridCol w="1019026"/>
                <a:gridCol w="1011882"/>
                <a:gridCol w="1011882"/>
                <a:gridCol w="1011882"/>
                <a:gridCol w="991195"/>
                <a:gridCol w="1108918"/>
              </a:tblGrid>
              <a:tr h="30301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spc="9" kern="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Inciso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6675" marR="66675" marT="66675" marB="6667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22C4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spc="9" kern="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Plurianual 2027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6675" marR="66675" marT="66675" marB="6667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22C4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spc="9" kern="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Plurianual 2028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6675" marR="66675" marT="66675" marB="6667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22C4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spc="9" kern="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Plurianual 2029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6675" marR="66675" marT="66675" marB="6667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22C4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spc="9" kern="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Trienio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6675" marR="66675" marT="66675" marB="6667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22C4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spc="9" kern="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Requerido 2027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6675" marR="66675" marT="66675" marB="6667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22C4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spc="9" kern="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Techo 2027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6675" marR="66675" marT="66675" marB="6667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22C4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spc="9" kern="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Techo / pluri 27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6675" marR="66675" marT="66675" marB="6667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22C4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spc="9" kern="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Techo / requerido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6675" marR="66675" marT="66675" marB="6667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22C4F"/>
                    </a:solidFill>
                  </a:tcPr>
                </a:tc>
              </a:tr>
              <a:tr h="307777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C1E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 Gastos en Personal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6675" marR="66675" marT="66675" marB="6667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C1E27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$ 1.060.951 M</a:t>
                      </a:r>
                      <a:endParaRPr lang="en-US" sz="8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66675" marR="66675" marT="66675" marB="6667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C1E27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$ 1.150.025 M</a:t>
                      </a:r>
                      <a:endParaRPr lang="en-US" sz="8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66675" marR="66675" marT="66675" marB="6667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C1E27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$ 1.276.103 M</a:t>
                      </a:r>
                      <a:endParaRPr lang="en-US" sz="8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66675" marR="66675" marT="66675" marB="6667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C1E27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$ 3.487.079 M</a:t>
                      </a:r>
                      <a:endParaRPr lang="en-US" sz="8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66675" marR="66675" marT="66675" marB="6667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C1E27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$ 1.015.886 M</a:t>
                      </a:r>
                      <a:endParaRPr lang="en-US" sz="8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66675" marR="66675" marT="66675" marB="6667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1C1E27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$ 962.551 M</a:t>
                      </a:r>
                      <a:endParaRPr lang="en-US" sz="8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66675" marR="66675" marT="66675" marB="6667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C1E27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90,7%</a:t>
                      </a:r>
                      <a:endParaRPr lang="en-US" sz="8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66675" marR="66675" marT="66675" marB="6667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C1E27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94,7%</a:t>
                      </a:r>
                      <a:endParaRPr lang="en-US" sz="8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66675" marR="66675" marT="66675" marB="6667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253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C1E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 Bienes de Consumo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6675" marR="66675" marT="66675" marB="6667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C1E27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$ 221.189 M</a:t>
                      </a:r>
                      <a:endParaRPr lang="en-US" sz="8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66675" marR="66675" marT="66675" marB="6667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C1E27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$ 282.488 M</a:t>
                      </a:r>
                      <a:endParaRPr lang="en-US" sz="8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66675" marR="66675" marT="66675" marB="6667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C1E27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$ 385.833 M</a:t>
                      </a:r>
                      <a:endParaRPr lang="en-US" sz="8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66675" marR="66675" marT="66675" marB="6667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C1E27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$ 889.510 M</a:t>
                      </a:r>
                      <a:endParaRPr lang="en-US" sz="8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66675" marR="66675" marT="66675" marB="6667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C1E27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$ 733.954 M</a:t>
                      </a:r>
                      <a:endParaRPr lang="en-US" sz="8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66675" marR="66675" marT="66675" marB="6667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1C1E27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$ 168.250 M</a:t>
                      </a:r>
                      <a:endParaRPr lang="en-US" sz="8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66675" marR="66675" marT="66675" marB="6667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C1E27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76,1%</a:t>
                      </a:r>
                      <a:endParaRPr lang="en-US" sz="8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66675" marR="66675" marT="66675" marB="6667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C1E27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22,9%</a:t>
                      </a:r>
                      <a:endParaRPr lang="en-US" sz="8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66675" marR="66675" marT="66675" marB="6667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253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C1E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 Servicios No Personales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6675" marR="66675" marT="66675" marB="6667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C1E27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$ 574.604 M</a:t>
                      </a:r>
                      <a:endParaRPr lang="en-US" sz="8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66675" marR="66675" marT="66675" marB="6667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C1E27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$ 742.830 M</a:t>
                      </a:r>
                      <a:endParaRPr lang="en-US" sz="8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66675" marR="66675" marT="66675" marB="6667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C1E27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$ 849.157 M</a:t>
                      </a:r>
                      <a:endParaRPr lang="en-US" sz="8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66675" marR="66675" marT="66675" marB="6667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C1E27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$ 2.166.591 M</a:t>
                      </a:r>
                      <a:endParaRPr lang="en-US" sz="8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66675" marR="66675" marT="66675" marB="6667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C1E27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$ 781.960 M</a:t>
                      </a:r>
                      <a:endParaRPr lang="en-US" sz="8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66675" marR="66675" marT="66675" marB="6667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1C1E27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$ 249.091 M</a:t>
                      </a:r>
                      <a:endParaRPr lang="en-US" sz="8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66675" marR="66675" marT="66675" marB="6667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C1E27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43,3%</a:t>
                      </a:r>
                      <a:endParaRPr lang="en-US" sz="8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66675" marR="66675" marT="66675" marB="6667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C1E27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31,9%</a:t>
                      </a:r>
                      <a:endParaRPr lang="en-US" sz="8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66675" marR="66675" marT="66675" marB="6667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253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C1E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 Impuestos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6675" marR="66675" marT="66675" marB="6667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C1E27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$ 310.775 M</a:t>
                      </a:r>
                      <a:endParaRPr lang="en-US" sz="8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66675" marR="66675" marT="66675" marB="6667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C1E27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$ 274.665 M</a:t>
                      </a:r>
                      <a:endParaRPr lang="en-US" sz="8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66675" marR="66675" marT="66675" marB="6667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C1E27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$ 277.276 M</a:t>
                      </a:r>
                      <a:endParaRPr lang="en-US" sz="8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66675" marR="66675" marT="66675" marB="6667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C1E27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$ 862.716 M</a:t>
                      </a:r>
                      <a:endParaRPr lang="en-US" sz="8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66675" marR="66675" marT="66675" marB="6667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C1E27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$ 350.595 M</a:t>
                      </a:r>
                      <a:endParaRPr lang="en-US" sz="8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66675" marR="66675" marT="66675" marB="6667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1C1E27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$ 131.190 M</a:t>
                      </a:r>
                      <a:endParaRPr lang="en-US" sz="8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66675" marR="66675" marT="66675" marB="6667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C1E27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42,2%</a:t>
                      </a:r>
                      <a:endParaRPr lang="en-US" sz="8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66675" marR="66675" marT="66675" marB="6667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C1E27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37,4%</a:t>
                      </a:r>
                      <a:endParaRPr lang="en-US" sz="8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66675" marR="66675" marT="66675" marB="6667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253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C1E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 Bienes de Uso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6675" marR="66675" marT="66675" marB="6667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C1E27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$ 665.231 M</a:t>
                      </a:r>
                      <a:endParaRPr lang="en-US" sz="8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66675" marR="66675" marT="66675" marB="6667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C1E27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$ 369.385 M</a:t>
                      </a:r>
                      <a:endParaRPr lang="en-US" sz="8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66675" marR="66675" marT="66675" marB="6667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C1E27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$ 295.031 M</a:t>
                      </a:r>
                      <a:endParaRPr lang="en-US" sz="8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66675" marR="66675" marT="66675" marB="6667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C1E27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$ 1.329.647 M</a:t>
                      </a:r>
                      <a:endParaRPr lang="en-US" sz="8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66675" marR="66675" marT="66675" marB="6667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C1E27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$ 554.223 M</a:t>
                      </a:r>
                      <a:endParaRPr lang="en-US" sz="8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66675" marR="66675" marT="66675" marB="6667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1C1E27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$ 325.550 M</a:t>
                      </a:r>
                      <a:endParaRPr lang="en-US" sz="8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66675" marR="66675" marT="66675" marB="6667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C1E27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48,9%</a:t>
                      </a:r>
                      <a:endParaRPr lang="en-US" sz="8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66675" marR="66675" marT="66675" marB="6667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C1E27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58,7%</a:t>
                      </a:r>
                      <a:endParaRPr lang="en-US" sz="8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66675" marR="66675" marT="66675" marB="6667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253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5C60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Gasto Habitual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6675" marR="66675" marT="66675" marB="6667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C1E27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$ 1.975.386 M</a:t>
                      </a:r>
                      <a:endParaRPr lang="en-US" sz="8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66675" marR="66675" marT="66675" marB="6667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C1E27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$ 2.246.717 M</a:t>
                      </a:r>
                      <a:endParaRPr lang="en-US" sz="8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66675" marR="66675" marT="66675" marB="6667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C1E27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$ 2.592.772 M</a:t>
                      </a:r>
                      <a:endParaRPr lang="en-US" sz="8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66675" marR="66675" marT="66675" marB="6667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C1E27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$ 6.814.875 M</a:t>
                      </a:r>
                      <a:endParaRPr lang="en-US" sz="8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66675" marR="66675" marT="66675" marB="6667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C1E27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$ 2.451.190 M</a:t>
                      </a:r>
                      <a:endParaRPr lang="en-US" sz="8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66675" marR="66675" marT="66675" marB="6667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C1E27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$ 1.528.995 M</a:t>
                      </a:r>
                      <a:endParaRPr lang="en-US" sz="8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66675" marR="66675" marT="66675" marB="6667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C1E27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77,4%</a:t>
                      </a:r>
                      <a:endParaRPr lang="en-US" sz="8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66675" marR="66675" marT="66675" marB="6667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C1E27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62,4%</a:t>
                      </a:r>
                      <a:endParaRPr lang="en-US" sz="8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66675" marR="66675" marT="66675" marB="6667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253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5C60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Emergencia Ferroviaria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6675" marR="66675" marT="66675" marB="6667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C1E27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$ 857.364 M</a:t>
                      </a:r>
                      <a:endParaRPr lang="en-US" sz="8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66675" marR="66675" marT="66675" marB="6667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C1E27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$ 572.677 M</a:t>
                      </a:r>
                      <a:endParaRPr lang="en-US" sz="8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66675" marR="66675" marT="66675" marB="6667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C1E27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$ 490.628 M</a:t>
                      </a:r>
                      <a:endParaRPr lang="en-US" sz="8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66675" marR="66675" marT="66675" marB="6667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C1E27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$ 1.920.669 M</a:t>
                      </a:r>
                      <a:endParaRPr lang="en-US" sz="8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66675" marR="66675" marT="66675" marB="6667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C1E27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$ 985.427 M</a:t>
                      </a:r>
                      <a:endParaRPr lang="en-US" sz="8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66675" marR="66675" marT="66675" marB="6667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C1E27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$ 307.637 M</a:t>
                      </a:r>
                      <a:endParaRPr lang="en-US" sz="8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66675" marR="66675" marT="66675" marB="6667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C1E27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35,9%</a:t>
                      </a:r>
                      <a:endParaRPr lang="en-US" sz="8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66675" marR="66675" marT="66675" marB="6667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C1E27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31,2%</a:t>
                      </a:r>
                      <a:endParaRPr lang="en-US" sz="8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66675" marR="66675" marT="66675" marB="6667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253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1C1E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6675" marR="66675" marT="66675" marB="6667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2F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1C1E27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$ 2.832.751 M</a:t>
                      </a:r>
                      <a:endParaRPr lang="en-US" sz="8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66675" marR="66675" marT="66675" marB="6667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2F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1C1E27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$ 2.819.393 M</a:t>
                      </a:r>
                      <a:endParaRPr lang="en-US" sz="8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66675" marR="66675" marT="66675" marB="6667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2F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1C1E27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$ 3.083.400 M</a:t>
                      </a:r>
                      <a:endParaRPr lang="en-US" sz="8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66675" marR="66675" marT="66675" marB="6667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2F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1C1E27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$ 8.735.543 M</a:t>
                      </a:r>
                      <a:endParaRPr lang="en-US" sz="8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66675" marR="66675" marT="66675" marB="6667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2F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1C1E27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$ 3.436.617 M</a:t>
                      </a:r>
                      <a:endParaRPr lang="en-US" sz="8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66675" marR="66675" marT="66675" marB="6667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2F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1C1E27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$ 1.836.632 M</a:t>
                      </a:r>
                      <a:endParaRPr lang="en-US" sz="8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66675" marR="66675" marT="66675" marB="6667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2F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1C1E27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64,8%</a:t>
                      </a:r>
                      <a:endParaRPr lang="en-US" sz="8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66675" marR="66675" marT="66675" marB="6667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2F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1C1E27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53,4%</a:t>
                      </a:r>
                      <a:endParaRPr lang="en-US" sz="8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66675" marR="66675" marT="66675" marB="6667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2F8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495300" y="3989189"/>
            <a:ext cx="9705975" cy="831056"/>
          </a:xfrm>
          <a:prstGeom prst="rect">
            <a:avLst/>
          </a:prstGeom>
          <a:solidFill>
            <a:srgbClr val="FFF8EA"/>
          </a:solidFill>
          <a:ln/>
        </p:spPr>
      </p:sp>
      <p:sp>
        <p:nvSpPr>
          <p:cNvPr id="7" name="Shape 4"/>
          <p:cNvSpPr/>
          <p:nvPr/>
        </p:nvSpPr>
        <p:spPr>
          <a:xfrm>
            <a:off x="495300" y="3989189"/>
            <a:ext cx="38100" cy="831056"/>
          </a:xfrm>
          <a:prstGeom prst="rect">
            <a:avLst/>
          </a:prstGeom>
          <a:solidFill>
            <a:srgbClr val="E7B860"/>
          </a:solidFill>
          <a:ln/>
        </p:spPr>
      </p:sp>
      <p:sp>
        <p:nvSpPr>
          <p:cNvPr id="8" name="Text 5"/>
          <p:cNvSpPr/>
          <p:nvPr/>
        </p:nvSpPr>
        <p:spPr>
          <a:xfrm>
            <a:off x="676275" y="4093964"/>
            <a:ext cx="9439275" cy="62150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31"/>
              </a:lnSpc>
              <a:buNone/>
            </a:pPr>
            <a:r>
              <a:rPr lang="en-US" sz="1100" b="1" dirty="0">
                <a:solidFill>
                  <a:srgbClr val="222C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Síntesis:</a:t>
            </a:r>
            <a:pPr algn="l" indent="0" marL="0">
              <a:lnSpc>
                <a:spcPts val="1631"/>
              </a:lnSpc>
              <a:buNone/>
            </a:pPr>
            <a:r>
              <a:rPr lang="en-US" sz="1100" dirty="0">
                <a:solidFill>
                  <a:srgbClr val="2A2D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la Emergencia Ferroviaria obtiene un techo equivalente al 35,9% de lo previsto en el plurianual 2027, frente al 77,4% del Gasto Habitual. De aplicarse a 2028 y 2029 la relación techo/plurianual de 2027 (64,8%), los montos resultantes serían de $ 1.827.972 M y $ 1.999.142 M, respectivamente </a:t>
            </a:r>
            <a:pPr algn="l" indent="0" marL="0">
              <a:lnSpc>
                <a:spcPts val="1631"/>
              </a:lnSpc>
              <a:buNone/>
            </a:pPr>
            <a:r>
              <a:rPr lang="en-US" sz="1100" i="1" dirty="0">
                <a:solidFill>
                  <a:srgbClr val="2A2D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(escenario ilustrativo)</a:t>
            </a:r>
            <a:pPr algn="l" indent="0" marL="0">
              <a:lnSpc>
                <a:spcPts val="1631"/>
              </a:lnSpc>
              <a:buNone/>
            </a:pPr>
            <a:r>
              <a:rPr lang="en-US" sz="1100" dirty="0">
                <a:solidFill>
                  <a:srgbClr val="2A2D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438150" y="7267129"/>
            <a:ext cx="7600950" cy="16240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279"/>
              </a:lnSpc>
              <a:buNone/>
            </a:pPr>
            <a:r>
              <a:rPr lang="en-US" sz="850" dirty="0">
                <a:solidFill>
                  <a:srgbClr val="5C60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SOFSA · Presupuesto 2027 · Elaborado por la Subgerencia de Presupuesto y Control de Gestión · consultas: emmanuel.miranda@trenesargentinos.gob.ar</a:t>
            </a:r>
            <a:endParaRPr lang="en-US" sz="850" dirty="0"/>
          </a:p>
        </p:txBody>
      </p:sp>
      <p:sp>
        <p:nvSpPr>
          <p:cNvPr id="10" name="Text 7"/>
          <p:cNvSpPr/>
          <p:nvPr/>
        </p:nvSpPr>
        <p:spPr>
          <a:xfrm>
            <a:off x="9963150" y="7267129"/>
            <a:ext cx="676275" cy="16240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279"/>
              </a:lnSpc>
              <a:buNone/>
            </a:pPr>
            <a:r>
              <a:rPr lang="en-US" sz="850" dirty="0">
                <a:solidFill>
                  <a:srgbClr val="5C60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/ 21</a:t>
            </a:r>
            <a:endParaRPr lang="en-US" sz="8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696575" cy="756285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0696575" cy="57150"/>
          </a:xfrm>
          <a:prstGeom prst="rect">
            <a:avLst/>
          </a:prstGeom>
          <a:solidFill>
            <a:srgbClr val="E7B860"/>
          </a:solidFill>
          <a:ln/>
        </p:spPr>
      </p:sp>
      <p:sp>
        <p:nvSpPr>
          <p:cNvPr id="4" name="Text 2"/>
          <p:cNvSpPr/>
          <p:nvPr/>
        </p:nvSpPr>
        <p:spPr>
          <a:xfrm>
            <a:off x="495300" y="438150"/>
            <a:ext cx="10086975" cy="44291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3488"/>
              </a:lnSpc>
              <a:buNone/>
            </a:pPr>
            <a:r>
              <a:rPr lang="en-US" sz="2050" b="1" dirty="0">
                <a:solidFill>
                  <a:srgbClr val="222C4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Ingresos propios 2027</a:t>
            </a:r>
            <a:endParaRPr lang="en-US" sz="2050" dirty="0"/>
          </a:p>
        </p:txBody>
      </p:sp>
      <p:sp>
        <p:nvSpPr>
          <p:cNvPr id="5" name="Shape 3"/>
          <p:cNvSpPr/>
          <p:nvPr/>
        </p:nvSpPr>
        <p:spPr>
          <a:xfrm>
            <a:off x="495300" y="1052512"/>
            <a:ext cx="2340769" cy="1043583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6" name="Shape 4"/>
          <p:cNvSpPr/>
          <p:nvPr/>
        </p:nvSpPr>
        <p:spPr>
          <a:xfrm>
            <a:off x="495300" y="1052512"/>
            <a:ext cx="38100" cy="1043583"/>
          </a:xfrm>
          <a:prstGeom prst="rect">
            <a:avLst/>
          </a:prstGeom>
          <a:solidFill>
            <a:srgbClr val="E7B860"/>
          </a:solidFill>
          <a:ln/>
        </p:spPr>
      </p:sp>
      <p:sp>
        <p:nvSpPr>
          <p:cNvPr id="7" name="Text 5"/>
          <p:cNvSpPr/>
          <p:nvPr/>
        </p:nvSpPr>
        <p:spPr>
          <a:xfrm>
            <a:off x="666750" y="1157288"/>
            <a:ext cx="2416969" cy="44291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3488"/>
              </a:lnSpc>
              <a:buNone/>
            </a:pPr>
            <a:r>
              <a:rPr lang="en-US" sz="2050" b="1" dirty="0">
                <a:solidFill>
                  <a:srgbClr val="222C4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$ 131.190 M</a:t>
            </a:r>
            <a:endParaRPr lang="en-US" sz="2050" dirty="0"/>
          </a:p>
        </p:txBody>
      </p:sp>
      <p:sp>
        <p:nvSpPr>
          <p:cNvPr id="8" name="Text 6"/>
          <p:cNvSpPr/>
          <p:nvPr/>
        </p:nvSpPr>
        <p:spPr>
          <a:xfrm>
            <a:off x="666750" y="1600200"/>
            <a:ext cx="2416969" cy="20669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27"/>
              </a:lnSpc>
              <a:buNone/>
            </a:pPr>
            <a:r>
              <a:rPr lang="en-US" sz="1050" b="1" dirty="0">
                <a:solidFill>
                  <a:srgbClr val="1C1E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Ingresos propios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666750" y="1806773"/>
            <a:ext cx="2416969" cy="18454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453"/>
              </a:lnSpc>
              <a:buNone/>
            </a:pPr>
            <a:r>
              <a:rPr lang="en-US" sz="950" dirty="0">
                <a:solidFill>
                  <a:srgbClr val="5C60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7,1% del presupuesto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2950369" y="1052512"/>
            <a:ext cx="2340769" cy="1043583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11" name="Shape 9"/>
          <p:cNvSpPr/>
          <p:nvPr/>
        </p:nvSpPr>
        <p:spPr>
          <a:xfrm>
            <a:off x="2950369" y="1052512"/>
            <a:ext cx="38100" cy="1043583"/>
          </a:xfrm>
          <a:prstGeom prst="rect">
            <a:avLst/>
          </a:prstGeom>
          <a:solidFill>
            <a:srgbClr val="E7B860"/>
          </a:solidFill>
          <a:ln/>
        </p:spPr>
      </p:sp>
      <p:sp>
        <p:nvSpPr>
          <p:cNvPr id="12" name="Text 10"/>
          <p:cNvSpPr/>
          <p:nvPr/>
        </p:nvSpPr>
        <p:spPr>
          <a:xfrm>
            <a:off x="3121819" y="1157288"/>
            <a:ext cx="2416969" cy="44291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3488"/>
              </a:lnSpc>
              <a:buNone/>
            </a:pPr>
            <a:r>
              <a:rPr lang="en-US" sz="2050" b="1" dirty="0">
                <a:solidFill>
                  <a:srgbClr val="222C4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$ 121.404 M</a:t>
            </a:r>
            <a:endParaRPr lang="en-US" sz="2050" dirty="0"/>
          </a:p>
        </p:txBody>
      </p:sp>
      <p:sp>
        <p:nvSpPr>
          <p:cNvPr id="13" name="Text 11"/>
          <p:cNvSpPr/>
          <p:nvPr/>
        </p:nvSpPr>
        <p:spPr>
          <a:xfrm>
            <a:off x="3121819" y="1600200"/>
            <a:ext cx="2416969" cy="20669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27"/>
              </a:lnSpc>
              <a:buNone/>
            </a:pPr>
            <a:r>
              <a:rPr lang="en-US" sz="1050" b="1" dirty="0">
                <a:solidFill>
                  <a:srgbClr val="1C1E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Venta de pasajes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3121819" y="1806773"/>
            <a:ext cx="2416969" cy="18454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453"/>
              </a:lnSpc>
              <a:buNone/>
            </a:pPr>
            <a:r>
              <a:rPr lang="en-US" sz="950" dirty="0">
                <a:solidFill>
                  <a:srgbClr val="5C60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92,5% de los ingresos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5405438" y="1052512"/>
            <a:ext cx="2340769" cy="1043583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16" name="Shape 14"/>
          <p:cNvSpPr/>
          <p:nvPr/>
        </p:nvSpPr>
        <p:spPr>
          <a:xfrm>
            <a:off x="5405438" y="1052512"/>
            <a:ext cx="38100" cy="1043583"/>
          </a:xfrm>
          <a:prstGeom prst="rect">
            <a:avLst/>
          </a:prstGeom>
          <a:solidFill>
            <a:srgbClr val="E7B860"/>
          </a:solidFill>
          <a:ln/>
        </p:spPr>
      </p:sp>
      <p:sp>
        <p:nvSpPr>
          <p:cNvPr id="17" name="Text 15"/>
          <p:cNvSpPr/>
          <p:nvPr/>
        </p:nvSpPr>
        <p:spPr>
          <a:xfrm>
            <a:off x="5576888" y="1157288"/>
            <a:ext cx="2416969" cy="44291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3488"/>
              </a:lnSpc>
              <a:buNone/>
            </a:pPr>
            <a:r>
              <a:rPr lang="en-US" sz="2050" b="1" dirty="0">
                <a:solidFill>
                  <a:srgbClr val="222C4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225,3 M</a:t>
            </a:r>
            <a:endParaRPr lang="en-US" sz="2050" dirty="0"/>
          </a:p>
        </p:txBody>
      </p:sp>
      <p:sp>
        <p:nvSpPr>
          <p:cNvPr id="18" name="Text 16"/>
          <p:cNvSpPr/>
          <p:nvPr/>
        </p:nvSpPr>
        <p:spPr>
          <a:xfrm>
            <a:off x="5576888" y="1600200"/>
            <a:ext cx="2416969" cy="20669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27"/>
              </a:lnSpc>
              <a:buNone/>
            </a:pPr>
            <a:r>
              <a:rPr lang="en-US" sz="1050" b="1" dirty="0">
                <a:solidFill>
                  <a:srgbClr val="1C1E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Pasajeros pagos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5576888" y="1806773"/>
            <a:ext cx="2416969" cy="18454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453"/>
              </a:lnSpc>
              <a:buNone/>
            </a:pPr>
            <a:r>
              <a:rPr lang="en-US" sz="950" dirty="0">
                <a:solidFill>
                  <a:srgbClr val="5C60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18,8 M por mes</a:t>
            </a:r>
            <a:endParaRPr lang="en-US" sz="950" dirty="0"/>
          </a:p>
        </p:txBody>
      </p:sp>
      <p:sp>
        <p:nvSpPr>
          <p:cNvPr id="20" name="Shape 18"/>
          <p:cNvSpPr/>
          <p:nvPr/>
        </p:nvSpPr>
        <p:spPr>
          <a:xfrm>
            <a:off x="7860506" y="1052512"/>
            <a:ext cx="2340769" cy="1043583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21" name="Shape 19"/>
          <p:cNvSpPr/>
          <p:nvPr/>
        </p:nvSpPr>
        <p:spPr>
          <a:xfrm>
            <a:off x="7860506" y="1052512"/>
            <a:ext cx="38100" cy="1043583"/>
          </a:xfrm>
          <a:prstGeom prst="rect">
            <a:avLst/>
          </a:prstGeom>
          <a:solidFill>
            <a:srgbClr val="E7B860"/>
          </a:solidFill>
          <a:ln/>
        </p:spPr>
      </p:sp>
      <p:sp>
        <p:nvSpPr>
          <p:cNvPr id="22" name="Text 20"/>
          <p:cNvSpPr/>
          <p:nvPr/>
        </p:nvSpPr>
        <p:spPr>
          <a:xfrm>
            <a:off x="8031956" y="1157288"/>
            <a:ext cx="2416969" cy="44291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3488"/>
              </a:lnSpc>
              <a:buNone/>
            </a:pPr>
            <a:r>
              <a:rPr lang="en-US" sz="2050" b="1" dirty="0">
                <a:solidFill>
                  <a:srgbClr val="222C4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$ 539</a:t>
            </a:r>
            <a:endParaRPr lang="en-US" sz="2050" dirty="0"/>
          </a:p>
        </p:txBody>
      </p:sp>
      <p:sp>
        <p:nvSpPr>
          <p:cNvPr id="23" name="Text 21"/>
          <p:cNvSpPr/>
          <p:nvPr/>
        </p:nvSpPr>
        <p:spPr>
          <a:xfrm>
            <a:off x="8031956" y="1600200"/>
            <a:ext cx="2416969" cy="20669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27"/>
              </a:lnSpc>
              <a:buNone/>
            </a:pPr>
            <a:r>
              <a:rPr lang="en-US" sz="1050" b="1" dirty="0">
                <a:solidFill>
                  <a:srgbClr val="1C1E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Boleto promedio</a:t>
            </a:r>
            <a:endParaRPr lang="en-US" sz="1050" dirty="0"/>
          </a:p>
        </p:txBody>
      </p:sp>
      <p:sp>
        <p:nvSpPr>
          <p:cNvPr id="24" name="Text 22"/>
          <p:cNvSpPr/>
          <p:nvPr/>
        </p:nvSpPr>
        <p:spPr>
          <a:xfrm>
            <a:off x="8031956" y="1806773"/>
            <a:ext cx="2416969" cy="18454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453"/>
              </a:lnSpc>
              <a:buNone/>
            </a:pPr>
            <a:r>
              <a:rPr lang="en-US" sz="950" dirty="0">
                <a:solidFill>
                  <a:srgbClr val="5C60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venta de pasajes / pasajeros pagos</a:t>
            </a:r>
            <a:endParaRPr lang="en-US" sz="95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95300" y="2343745"/>
          <a:ext cx="4245918" cy="914400"/>
        </p:xfrm>
        <a:graphic>
          <a:graphicData uri="http://schemas.openxmlformats.org/drawingml/2006/table">
            <a:tbl>
              <a:tblPr/>
              <a:tblGrid>
                <a:gridCol w="2528441"/>
                <a:gridCol w="1109067"/>
                <a:gridCol w="608409"/>
              </a:tblGrid>
              <a:tr h="2458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spc="9" kern="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Concepto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22C4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spc="9" kern="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Monto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22C4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spc="9" kern="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22C4F"/>
                    </a:solidFill>
                  </a:tcPr>
                </a:tc>
              </a:tr>
              <a:tr h="250627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C1E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Venta pasajes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C1E27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$ 121.404 M</a:t>
                      </a:r>
                      <a:endParaRPr lang="en-US" sz="8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C1E27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92,5%</a:t>
                      </a:r>
                      <a:endParaRPr lang="en-US" sz="8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5538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C1E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Otros Ingresos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C1E27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$ 9.786 M</a:t>
                      </a:r>
                      <a:endParaRPr lang="en-US" sz="8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C1E27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7,5%</a:t>
                      </a:r>
                      <a:endParaRPr lang="en-US" sz="8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5538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C1E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Arrendamientos de Locales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C1E27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$ 9.223 M</a:t>
                      </a:r>
                      <a:endParaRPr lang="en-US" sz="8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C1E27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7,0%</a:t>
                      </a:r>
                      <a:endParaRPr lang="en-US" sz="8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5538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C1E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Peajes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C1E27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$ 740 M</a:t>
                      </a:r>
                      <a:endParaRPr lang="en-US" sz="8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C1E27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0,6%</a:t>
                      </a:r>
                      <a:endParaRPr lang="en-US" sz="8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5538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C1E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Ingresos por Publicidad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C1E27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$ 659 M</a:t>
                      </a:r>
                      <a:endParaRPr lang="en-US" sz="8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C1E27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0,5%</a:t>
                      </a:r>
                      <a:endParaRPr lang="en-US" sz="8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5538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C1E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Ingresos por Coche Comedor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C1E27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$ 351 M</a:t>
                      </a:r>
                      <a:endParaRPr lang="en-US" sz="8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C1E27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0,3%</a:t>
                      </a:r>
                      <a:endParaRPr lang="en-US" sz="8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5538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C1E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Recupero de Gastos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C1E27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$ 264 M</a:t>
                      </a:r>
                      <a:endParaRPr lang="en-US" sz="8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C1E27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0,2%</a:t>
                      </a:r>
                      <a:endParaRPr lang="en-US" sz="8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5538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C1E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Ingresos por Serv. Complementarios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C1E27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$ 140 M</a:t>
                      </a:r>
                      <a:endParaRPr lang="en-US" sz="8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C1E27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0,1%</a:t>
                      </a:r>
                      <a:endParaRPr lang="en-US" sz="8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5538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C1E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Comisión por recarga SUBE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C1E27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−$ 1.592 M</a:t>
                      </a:r>
                      <a:endParaRPr lang="en-US" sz="8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C1E27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-1,2%</a:t>
                      </a:r>
                      <a:endParaRPr lang="en-US" sz="8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5538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1C1E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2F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1C1E27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$ 131.190 M</a:t>
                      </a:r>
                      <a:endParaRPr lang="en-US" sz="8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2F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1C1E27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100%</a:t>
                      </a:r>
                      <a:endParaRPr lang="en-US" sz="8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2F8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5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893618" y="2343745"/>
          <a:ext cx="5307657" cy="914400"/>
        </p:xfrm>
        <a:graphic>
          <a:graphicData uri="http://schemas.openxmlformats.org/drawingml/2006/table">
            <a:tbl>
              <a:tblPr/>
              <a:tblGrid>
                <a:gridCol w="1335732"/>
                <a:gridCol w="1164580"/>
                <a:gridCol w="1014859"/>
                <a:gridCol w="830907"/>
                <a:gridCol w="961579"/>
              </a:tblGrid>
              <a:tr h="2458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spc="9" kern="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Línea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22C4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spc="9" kern="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Pasajeros pagos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22C4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spc="9" kern="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Venta pasajes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22C4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spc="9" kern="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Otros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22C4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spc="9" kern="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Boleto prom.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22C4F"/>
                    </a:solidFill>
                  </a:tcPr>
                </a:tc>
              </a:tr>
              <a:tr h="250627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C1E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Línea Roca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C1E27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99,6 M</a:t>
                      </a:r>
                      <a:endParaRPr lang="en-US" sz="8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C1E27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$ 51.793 M</a:t>
                      </a:r>
                      <a:endParaRPr lang="en-US" sz="8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C1E27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$ 2.725 M</a:t>
                      </a:r>
                      <a:endParaRPr lang="en-US" sz="8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C1E27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$ 520</a:t>
                      </a:r>
                      <a:endParaRPr lang="en-US" sz="8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5538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C1E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Línea Sarmiento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C1E27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53,8 M</a:t>
                      </a:r>
                      <a:endParaRPr lang="en-US" sz="8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C1E27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$ 30.272 M</a:t>
                      </a:r>
                      <a:endParaRPr lang="en-US" sz="8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C1E27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$ 2.703 M</a:t>
                      </a:r>
                      <a:endParaRPr lang="en-US" sz="8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C1E27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$ 563</a:t>
                      </a:r>
                      <a:endParaRPr lang="en-US" sz="8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5538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C1E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Línea San Martín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C1E27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29,3 M</a:t>
                      </a:r>
                      <a:endParaRPr lang="en-US" sz="8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C1E27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$ 17.204 M</a:t>
                      </a:r>
                      <a:endParaRPr lang="en-US" sz="8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C1E27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$ 864 M</a:t>
                      </a:r>
                      <a:endParaRPr lang="en-US" sz="8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C1E27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$ 588</a:t>
                      </a:r>
                      <a:endParaRPr lang="en-US" sz="8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5538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C1E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Línea Mitre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C1E27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25,3 M</a:t>
                      </a:r>
                      <a:endParaRPr lang="en-US" sz="8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C1E27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$ 8.515 M</a:t>
                      </a:r>
                      <a:endParaRPr lang="en-US" sz="8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C1E27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$ 1.416 M</a:t>
                      </a:r>
                      <a:endParaRPr lang="en-US" sz="8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C1E27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$ 337</a:t>
                      </a:r>
                      <a:endParaRPr lang="en-US" sz="8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5538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C1E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Línea Belgrano Sur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C1E27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13,5 M</a:t>
                      </a:r>
                      <a:endParaRPr lang="en-US" sz="8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C1E27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$ 5.754 M</a:t>
                      </a:r>
                      <a:endParaRPr lang="en-US" sz="8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C1E27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$ 406 M</a:t>
                      </a:r>
                      <a:endParaRPr lang="en-US" sz="8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C1E27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$ 426</a:t>
                      </a:r>
                      <a:endParaRPr lang="en-US" sz="8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5538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C1E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Const - Mar del Plata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C1E27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0,6 M</a:t>
                      </a:r>
                      <a:endParaRPr lang="en-US" sz="8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C1E27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$ 4.302 M</a:t>
                      </a:r>
                      <a:endParaRPr lang="en-US" sz="8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C1E27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$ 449 M</a:t>
                      </a:r>
                      <a:endParaRPr lang="en-US" sz="8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C1E27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$ 7.193</a:t>
                      </a:r>
                      <a:endParaRPr lang="en-US" sz="8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5538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C1E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Línea TDLC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C1E27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1,2 M</a:t>
                      </a:r>
                      <a:endParaRPr lang="en-US" sz="8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C1E27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$ 1.349 M</a:t>
                      </a:r>
                      <a:endParaRPr lang="en-US" sz="8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C1E27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$ 787 M</a:t>
                      </a:r>
                      <a:endParaRPr lang="en-US" sz="8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C1E27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$ 1.123</a:t>
                      </a:r>
                      <a:endParaRPr lang="en-US" sz="8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5538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C1E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Retiro - Junín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C1E27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0,2 M</a:t>
                      </a:r>
                      <a:endParaRPr lang="en-US" sz="8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C1E27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$ 771 M</a:t>
                      </a:r>
                      <a:endParaRPr lang="en-US" sz="8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C1E27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$ 39 M</a:t>
                      </a:r>
                      <a:endParaRPr lang="en-US" sz="8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C1E27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$ 4.548</a:t>
                      </a:r>
                      <a:endParaRPr lang="en-US" sz="8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5538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C1E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Retiro - Rosario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C1E27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0,2 M</a:t>
                      </a:r>
                      <a:endParaRPr lang="en-US" sz="8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C1E27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$ 597 M</a:t>
                      </a:r>
                      <a:endParaRPr lang="en-US" sz="8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C1E27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$ 135 M</a:t>
                      </a:r>
                      <a:endParaRPr lang="en-US" sz="8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C1E27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$ 3.592</a:t>
                      </a:r>
                      <a:endParaRPr lang="en-US" sz="8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5538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C1E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Resto (8 servicios)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C1E27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1,8 M</a:t>
                      </a:r>
                      <a:endParaRPr lang="en-US" sz="8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C1E27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$ 847 M</a:t>
                      </a:r>
                      <a:endParaRPr lang="en-US" sz="8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C1E27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$ 264 M</a:t>
                      </a:r>
                      <a:endParaRPr lang="en-US" sz="8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C1E27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$ 474</a:t>
                      </a:r>
                      <a:endParaRPr lang="en-US" sz="8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5538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1C1E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2F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1C1E27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225,3 M</a:t>
                      </a:r>
                      <a:endParaRPr lang="en-US" sz="8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2F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1C1E27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$ 121.404 M</a:t>
                      </a:r>
                      <a:endParaRPr lang="en-US" sz="8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2F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1C1E27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$ 9.786 M</a:t>
                      </a:r>
                      <a:endParaRPr lang="en-US" sz="8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2F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1C1E27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$ 539</a:t>
                      </a:r>
                      <a:endParaRPr lang="en-US" sz="8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2F8"/>
                    </a:solidFill>
                  </a:tcPr>
                </a:tc>
              </a:tr>
            </a:tbl>
          </a:graphicData>
        </a:graphic>
      </p:graphicFrame>
      <p:sp>
        <p:nvSpPr>
          <p:cNvPr id="27" name="Shape 23"/>
          <p:cNvSpPr/>
          <p:nvPr/>
        </p:nvSpPr>
        <p:spPr>
          <a:xfrm>
            <a:off x="495300" y="5532239"/>
            <a:ext cx="9705975" cy="623888"/>
          </a:xfrm>
          <a:prstGeom prst="rect">
            <a:avLst/>
          </a:prstGeom>
          <a:solidFill>
            <a:srgbClr val="FFF8EA"/>
          </a:solidFill>
          <a:ln/>
        </p:spPr>
      </p:sp>
      <p:sp>
        <p:nvSpPr>
          <p:cNvPr id="28" name="Shape 24"/>
          <p:cNvSpPr/>
          <p:nvPr/>
        </p:nvSpPr>
        <p:spPr>
          <a:xfrm>
            <a:off x="495300" y="5532239"/>
            <a:ext cx="38100" cy="623888"/>
          </a:xfrm>
          <a:prstGeom prst="rect">
            <a:avLst/>
          </a:prstGeom>
          <a:solidFill>
            <a:srgbClr val="E7B860"/>
          </a:solidFill>
          <a:ln/>
        </p:spPr>
      </p:sp>
      <p:sp>
        <p:nvSpPr>
          <p:cNvPr id="29" name="Text 25"/>
          <p:cNvSpPr/>
          <p:nvPr/>
        </p:nvSpPr>
        <p:spPr>
          <a:xfrm>
            <a:off x="676275" y="5637014"/>
            <a:ext cx="9439275" cy="4143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31"/>
              </a:lnSpc>
              <a:buNone/>
            </a:pPr>
            <a:r>
              <a:rPr lang="en-US" sz="1100" b="1" dirty="0">
                <a:solidFill>
                  <a:srgbClr val="222C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Síntesis:</a:t>
            </a:r>
            <a:pPr algn="l" indent="0" marL="0">
              <a:lnSpc>
                <a:spcPts val="1631"/>
              </a:lnSpc>
              <a:buNone/>
            </a:pPr>
            <a:r>
              <a:rPr lang="en-US" sz="1100" dirty="0">
                <a:solidFill>
                  <a:srgbClr val="2A2D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la venta de pasajes representa el 92,5% de los ingresos propios; Línea Roca y Línea Sarmiento concentran el 67,6% de dicha recaudación. Los ingresos propios financian el 7,1% del presupuesto y la totalidad del inciso Impuestos.</a:t>
            </a:r>
            <a:endParaRPr lang="en-US" sz="1100" dirty="0"/>
          </a:p>
        </p:txBody>
      </p:sp>
      <p:sp>
        <p:nvSpPr>
          <p:cNvPr id="30" name="Text 26"/>
          <p:cNvSpPr/>
          <p:nvPr/>
        </p:nvSpPr>
        <p:spPr>
          <a:xfrm>
            <a:off x="438150" y="7267129"/>
            <a:ext cx="7600950" cy="16240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279"/>
              </a:lnSpc>
              <a:buNone/>
            </a:pPr>
            <a:r>
              <a:rPr lang="en-US" sz="850" dirty="0">
                <a:solidFill>
                  <a:srgbClr val="5C60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SOFSA · Presupuesto 2027 · Elaborado por la Subgerencia de Presupuesto y Control de Gestión · consultas: emmanuel.miranda@trenesargentinos.gob.ar</a:t>
            </a:r>
            <a:endParaRPr lang="en-US" sz="850" dirty="0"/>
          </a:p>
        </p:txBody>
      </p:sp>
      <p:sp>
        <p:nvSpPr>
          <p:cNvPr id="31" name="Text 27"/>
          <p:cNvSpPr/>
          <p:nvPr/>
        </p:nvSpPr>
        <p:spPr>
          <a:xfrm>
            <a:off x="9963150" y="7267129"/>
            <a:ext cx="676275" cy="16240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279"/>
              </a:lnSpc>
              <a:buNone/>
            </a:pPr>
            <a:r>
              <a:rPr lang="en-US" sz="850" dirty="0">
                <a:solidFill>
                  <a:srgbClr val="5C60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/ 21</a:t>
            </a:r>
            <a:endParaRPr lang="en-US" sz="8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696575" cy="756285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0696575" cy="57150"/>
          </a:xfrm>
          <a:prstGeom prst="rect">
            <a:avLst/>
          </a:prstGeom>
          <a:solidFill>
            <a:srgbClr val="E7B860"/>
          </a:solidFill>
          <a:ln/>
        </p:spPr>
      </p:sp>
      <p:sp>
        <p:nvSpPr>
          <p:cNvPr id="4" name="Text 2"/>
          <p:cNvSpPr/>
          <p:nvPr/>
        </p:nvSpPr>
        <p:spPr>
          <a:xfrm>
            <a:off x="495300" y="438150"/>
            <a:ext cx="10086975" cy="44291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3488"/>
              </a:lnSpc>
              <a:buNone/>
            </a:pPr>
            <a:r>
              <a:rPr lang="en-US" sz="2050" b="1" dirty="0">
                <a:solidFill>
                  <a:srgbClr val="222C4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Gasto operativo, ingresos y subsidio</a:t>
            </a:r>
            <a:endParaRPr lang="en-US" sz="2050" dirty="0"/>
          </a:p>
        </p:txBody>
      </p:sp>
      <p:sp>
        <p:nvSpPr>
          <p:cNvPr id="5" name="Shape 3"/>
          <p:cNvSpPr/>
          <p:nvPr/>
        </p:nvSpPr>
        <p:spPr>
          <a:xfrm>
            <a:off x="495300" y="1052512"/>
            <a:ext cx="3159026" cy="1062633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6" name="Shape 4"/>
          <p:cNvSpPr/>
          <p:nvPr/>
        </p:nvSpPr>
        <p:spPr>
          <a:xfrm>
            <a:off x="495300" y="1052512"/>
            <a:ext cx="38100" cy="1062633"/>
          </a:xfrm>
          <a:prstGeom prst="rect">
            <a:avLst/>
          </a:prstGeom>
          <a:solidFill>
            <a:srgbClr val="E7B860"/>
          </a:solidFill>
          <a:ln/>
        </p:spPr>
      </p:sp>
      <p:sp>
        <p:nvSpPr>
          <p:cNvPr id="7" name="Text 5"/>
          <p:cNvSpPr/>
          <p:nvPr/>
        </p:nvSpPr>
        <p:spPr>
          <a:xfrm>
            <a:off x="676275" y="1166812"/>
            <a:ext cx="3216176" cy="44291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3488"/>
              </a:lnSpc>
              <a:buNone/>
            </a:pPr>
            <a:r>
              <a:rPr lang="en-US" sz="2050" b="1" dirty="0">
                <a:solidFill>
                  <a:srgbClr val="222C4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$ 1.511.082 M</a:t>
            </a:r>
            <a:endParaRPr lang="en-US" sz="2050" dirty="0"/>
          </a:p>
        </p:txBody>
      </p:sp>
      <p:sp>
        <p:nvSpPr>
          <p:cNvPr id="8" name="Text 6"/>
          <p:cNvSpPr/>
          <p:nvPr/>
        </p:nvSpPr>
        <p:spPr>
          <a:xfrm>
            <a:off x="676275" y="1609725"/>
            <a:ext cx="3216176" cy="20669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27"/>
              </a:lnSpc>
              <a:buNone/>
            </a:pPr>
            <a:r>
              <a:rPr lang="en-US" sz="1050" b="1" dirty="0">
                <a:solidFill>
                  <a:srgbClr val="1C1E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Gastos corrientes 2027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676275" y="1816298"/>
            <a:ext cx="3216176" cy="18454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453"/>
              </a:lnSpc>
              <a:buNone/>
            </a:pPr>
            <a:r>
              <a:rPr lang="en-US" sz="950" dirty="0">
                <a:solidFill>
                  <a:srgbClr val="5C60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incisos I, II, III y V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3768626" y="1052512"/>
            <a:ext cx="3159175" cy="1062633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11" name="Shape 9"/>
          <p:cNvSpPr/>
          <p:nvPr/>
        </p:nvSpPr>
        <p:spPr>
          <a:xfrm>
            <a:off x="3768626" y="1052512"/>
            <a:ext cx="38100" cy="1062633"/>
          </a:xfrm>
          <a:prstGeom prst="rect">
            <a:avLst/>
          </a:prstGeom>
          <a:solidFill>
            <a:srgbClr val="E7B860"/>
          </a:solidFill>
          <a:ln/>
        </p:spPr>
      </p:sp>
      <p:sp>
        <p:nvSpPr>
          <p:cNvPr id="12" name="Text 10"/>
          <p:cNvSpPr/>
          <p:nvPr/>
        </p:nvSpPr>
        <p:spPr>
          <a:xfrm>
            <a:off x="3949601" y="1166812"/>
            <a:ext cx="3216325" cy="44291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3488"/>
              </a:lnSpc>
              <a:buNone/>
            </a:pPr>
            <a:r>
              <a:rPr lang="en-US" sz="2050" b="1" dirty="0">
                <a:solidFill>
                  <a:srgbClr val="222C4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$ 131.190 M</a:t>
            </a:r>
            <a:endParaRPr lang="en-US" sz="2050" dirty="0"/>
          </a:p>
        </p:txBody>
      </p:sp>
      <p:sp>
        <p:nvSpPr>
          <p:cNvPr id="13" name="Text 11"/>
          <p:cNvSpPr/>
          <p:nvPr/>
        </p:nvSpPr>
        <p:spPr>
          <a:xfrm>
            <a:off x="3949601" y="1609725"/>
            <a:ext cx="3216325" cy="20669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27"/>
              </a:lnSpc>
              <a:buNone/>
            </a:pPr>
            <a:r>
              <a:rPr lang="en-US" sz="1050" b="1" dirty="0">
                <a:solidFill>
                  <a:srgbClr val="1C1E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Ingresos propios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3949601" y="1816298"/>
            <a:ext cx="3216325" cy="18454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453"/>
              </a:lnSpc>
              <a:buNone/>
            </a:pPr>
            <a:r>
              <a:rPr lang="en-US" sz="950" dirty="0">
                <a:solidFill>
                  <a:srgbClr val="5C60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venta de pasajes $ 121.404 M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7042100" y="1052512"/>
            <a:ext cx="3159026" cy="1062633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16" name="Shape 14"/>
          <p:cNvSpPr/>
          <p:nvPr/>
        </p:nvSpPr>
        <p:spPr>
          <a:xfrm>
            <a:off x="7042100" y="1052512"/>
            <a:ext cx="38100" cy="1062633"/>
          </a:xfrm>
          <a:prstGeom prst="rect">
            <a:avLst/>
          </a:prstGeom>
          <a:solidFill>
            <a:srgbClr val="E7B860"/>
          </a:solidFill>
          <a:ln/>
        </p:spPr>
      </p:sp>
      <p:sp>
        <p:nvSpPr>
          <p:cNvPr id="17" name="Text 15"/>
          <p:cNvSpPr/>
          <p:nvPr/>
        </p:nvSpPr>
        <p:spPr>
          <a:xfrm>
            <a:off x="7223075" y="1166812"/>
            <a:ext cx="3216176" cy="44291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3488"/>
              </a:lnSpc>
              <a:buNone/>
            </a:pPr>
            <a:r>
              <a:rPr lang="en-US" sz="2050" b="1" dirty="0">
                <a:solidFill>
                  <a:srgbClr val="222C4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$ 1.379.892 M</a:t>
            </a:r>
            <a:endParaRPr lang="en-US" sz="2050" dirty="0"/>
          </a:p>
        </p:txBody>
      </p:sp>
      <p:sp>
        <p:nvSpPr>
          <p:cNvPr id="18" name="Text 16"/>
          <p:cNvSpPr/>
          <p:nvPr/>
        </p:nvSpPr>
        <p:spPr>
          <a:xfrm>
            <a:off x="7223075" y="1609725"/>
            <a:ext cx="3216176" cy="20669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27"/>
              </a:lnSpc>
              <a:buNone/>
            </a:pPr>
            <a:r>
              <a:rPr lang="en-US" sz="1050" b="1" dirty="0">
                <a:solidFill>
                  <a:srgbClr val="1C1E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Gasto operativo (GC − ingresos)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7223075" y="1816298"/>
            <a:ext cx="3216176" cy="18454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453"/>
              </a:lnSpc>
              <a:buNone/>
            </a:pPr>
            <a:r>
              <a:rPr lang="en-US" sz="950" dirty="0">
                <a:solidFill>
                  <a:srgbClr val="5C60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equivale al techo ME para gastos corrientes</a:t>
            </a:r>
            <a:endParaRPr lang="en-US" sz="950" dirty="0"/>
          </a:p>
        </p:txBody>
      </p:sp>
      <p:sp>
        <p:nvSpPr>
          <p:cNvPr id="20" name="Shape 18"/>
          <p:cNvSpPr/>
          <p:nvPr/>
        </p:nvSpPr>
        <p:spPr>
          <a:xfrm>
            <a:off x="495300" y="2229445"/>
            <a:ext cx="3159026" cy="1062633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21" name="Shape 19"/>
          <p:cNvSpPr/>
          <p:nvPr/>
        </p:nvSpPr>
        <p:spPr>
          <a:xfrm>
            <a:off x="495300" y="2229445"/>
            <a:ext cx="38100" cy="1062633"/>
          </a:xfrm>
          <a:prstGeom prst="rect">
            <a:avLst/>
          </a:prstGeom>
          <a:solidFill>
            <a:srgbClr val="E7B860"/>
          </a:solidFill>
          <a:ln/>
        </p:spPr>
      </p:sp>
      <p:sp>
        <p:nvSpPr>
          <p:cNvPr id="22" name="Text 20"/>
          <p:cNvSpPr/>
          <p:nvPr/>
        </p:nvSpPr>
        <p:spPr>
          <a:xfrm>
            <a:off x="676275" y="2343745"/>
            <a:ext cx="3216176" cy="44291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3488"/>
              </a:lnSpc>
              <a:buNone/>
            </a:pPr>
            <a:r>
              <a:rPr lang="en-US" sz="2050" b="1" dirty="0">
                <a:solidFill>
                  <a:srgbClr val="222C4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8,7%</a:t>
            </a:r>
            <a:endParaRPr lang="en-US" sz="2050" dirty="0"/>
          </a:p>
        </p:txBody>
      </p:sp>
      <p:sp>
        <p:nvSpPr>
          <p:cNvPr id="23" name="Text 21"/>
          <p:cNvSpPr/>
          <p:nvPr/>
        </p:nvSpPr>
        <p:spPr>
          <a:xfrm>
            <a:off x="676275" y="2786658"/>
            <a:ext cx="3216176" cy="20669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27"/>
              </a:lnSpc>
              <a:buNone/>
            </a:pPr>
            <a:r>
              <a:rPr lang="en-US" sz="1050" b="1" dirty="0">
                <a:solidFill>
                  <a:srgbClr val="1C1E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Subsidio · ingresos / GC</a:t>
            </a:r>
            <a:endParaRPr lang="en-US" sz="1050" dirty="0"/>
          </a:p>
        </p:txBody>
      </p:sp>
      <p:sp>
        <p:nvSpPr>
          <p:cNvPr id="24" name="Text 22"/>
          <p:cNvSpPr/>
          <p:nvPr/>
        </p:nvSpPr>
        <p:spPr>
          <a:xfrm>
            <a:off x="676275" y="2993231"/>
            <a:ext cx="3216176" cy="18454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453"/>
              </a:lnSpc>
              <a:buNone/>
            </a:pPr>
            <a:r>
              <a:rPr lang="en-US" sz="950" dirty="0">
                <a:solidFill>
                  <a:srgbClr val="5C60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ingresos / gasto operativo: 9,5%</a:t>
            </a:r>
            <a:endParaRPr lang="en-US" sz="950" dirty="0"/>
          </a:p>
        </p:txBody>
      </p:sp>
      <p:sp>
        <p:nvSpPr>
          <p:cNvPr id="25" name="Shape 23"/>
          <p:cNvSpPr/>
          <p:nvPr/>
        </p:nvSpPr>
        <p:spPr>
          <a:xfrm>
            <a:off x="3768626" y="2229445"/>
            <a:ext cx="3159175" cy="1062633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26" name="Shape 24"/>
          <p:cNvSpPr/>
          <p:nvPr/>
        </p:nvSpPr>
        <p:spPr>
          <a:xfrm>
            <a:off x="3768626" y="2229445"/>
            <a:ext cx="38100" cy="1062633"/>
          </a:xfrm>
          <a:prstGeom prst="rect">
            <a:avLst/>
          </a:prstGeom>
          <a:solidFill>
            <a:srgbClr val="E7B860"/>
          </a:solidFill>
          <a:ln/>
        </p:spPr>
      </p:sp>
      <p:sp>
        <p:nvSpPr>
          <p:cNvPr id="27" name="Text 25"/>
          <p:cNvSpPr/>
          <p:nvPr/>
        </p:nvSpPr>
        <p:spPr>
          <a:xfrm>
            <a:off x="3949601" y="2343745"/>
            <a:ext cx="3216325" cy="44291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3488"/>
              </a:lnSpc>
              <a:buNone/>
            </a:pPr>
            <a:r>
              <a:rPr lang="en-US" sz="2050" b="1" dirty="0">
                <a:solidFill>
                  <a:srgbClr val="222C4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225,3 M</a:t>
            </a:r>
            <a:endParaRPr lang="en-US" sz="2050" dirty="0"/>
          </a:p>
        </p:txBody>
      </p:sp>
      <p:sp>
        <p:nvSpPr>
          <p:cNvPr id="28" name="Text 26"/>
          <p:cNvSpPr/>
          <p:nvPr/>
        </p:nvSpPr>
        <p:spPr>
          <a:xfrm>
            <a:off x="3949601" y="2786658"/>
            <a:ext cx="3216325" cy="20669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27"/>
              </a:lnSpc>
              <a:buNone/>
            </a:pPr>
            <a:r>
              <a:rPr lang="en-US" sz="1050" b="1" dirty="0">
                <a:solidFill>
                  <a:srgbClr val="1C1E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Pasajeros pagos 2027</a:t>
            </a:r>
            <a:endParaRPr lang="en-US" sz="1050" dirty="0"/>
          </a:p>
        </p:txBody>
      </p:sp>
      <p:sp>
        <p:nvSpPr>
          <p:cNvPr id="29" name="Text 27"/>
          <p:cNvSpPr/>
          <p:nvPr/>
        </p:nvSpPr>
        <p:spPr>
          <a:xfrm>
            <a:off x="3949601" y="2993231"/>
            <a:ext cx="3216325" cy="18454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453"/>
              </a:lnSpc>
              <a:buNone/>
            </a:pPr>
            <a:r>
              <a:rPr lang="en-US" sz="950" dirty="0">
                <a:solidFill>
                  <a:srgbClr val="5C60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boleto promedio $ 539</a:t>
            </a:r>
            <a:endParaRPr lang="en-US" sz="950" dirty="0"/>
          </a:p>
        </p:txBody>
      </p:sp>
      <p:sp>
        <p:nvSpPr>
          <p:cNvPr id="30" name="Shape 28"/>
          <p:cNvSpPr/>
          <p:nvPr/>
        </p:nvSpPr>
        <p:spPr>
          <a:xfrm>
            <a:off x="7042100" y="2229445"/>
            <a:ext cx="3159026" cy="1062633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31" name="Shape 29"/>
          <p:cNvSpPr/>
          <p:nvPr/>
        </p:nvSpPr>
        <p:spPr>
          <a:xfrm>
            <a:off x="7042100" y="2229445"/>
            <a:ext cx="38100" cy="1062633"/>
          </a:xfrm>
          <a:prstGeom prst="rect">
            <a:avLst/>
          </a:prstGeom>
          <a:solidFill>
            <a:srgbClr val="E7B860"/>
          </a:solidFill>
          <a:ln/>
        </p:spPr>
      </p:sp>
      <p:sp>
        <p:nvSpPr>
          <p:cNvPr id="32" name="Text 30"/>
          <p:cNvSpPr/>
          <p:nvPr/>
        </p:nvSpPr>
        <p:spPr>
          <a:xfrm>
            <a:off x="7223075" y="2343745"/>
            <a:ext cx="3216176" cy="44291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3488"/>
              </a:lnSpc>
              <a:buNone/>
            </a:pPr>
            <a:r>
              <a:rPr lang="en-US" sz="2050" b="1" dirty="0">
                <a:solidFill>
                  <a:srgbClr val="222C4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$ 6.124</a:t>
            </a:r>
            <a:endParaRPr lang="en-US" sz="2050" dirty="0"/>
          </a:p>
        </p:txBody>
      </p:sp>
      <p:sp>
        <p:nvSpPr>
          <p:cNvPr id="33" name="Text 31"/>
          <p:cNvSpPr/>
          <p:nvPr/>
        </p:nvSpPr>
        <p:spPr>
          <a:xfrm>
            <a:off x="7223075" y="2786658"/>
            <a:ext cx="3216176" cy="20669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27"/>
              </a:lnSpc>
              <a:buNone/>
            </a:pPr>
            <a:r>
              <a:rPr lang="en-US" sz="1050" b="1" dirty="0">
                <a:solidFill>
                  <a:srgbClr val="1C1E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Subsidio por pasajero pago</a:t>
            </a:r>
            <a:endParaRPr lang="en-US" sz="1050" dirty="0"/>
          </a:p>
        </p:txBody>
      </p:sp>
      <p:sp>
        <p:nvSpPr>
          <p:cNvPr id="34" name="Text 32"/>
          <p:cNvSpPr/>
          <p:nvPr/>
        </p:nvSpPr>
        <p:spPr>
          <a:xfrm>
            <a:off x="7223075" y="2993231"/>
            <a:ext cx="3216176" cy="18454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453"/>
              </a:lnSpc>
              <a:buNone/>
            </a:pPr>
            <a:r>
              <a:rPr lang="en-US" sz="950" dirty="0">
                <a:solidFill>
                  <a:srgbClr val="5C60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11,4 veces el boleto promedio</a:t>
            </a:r>
            <a:endParaRPr lang="en-US" sz="950" dirty="0"/>
          </a:p>
        </p:txBody>
      </p:sp>
      <p:graphicFrame>
        <p:nvGraphicFramePr>
          <p:cNvPr id="35" name="Chart 0" descr=""/>
          <p:cNvGraphicFramePr/>
          <p:nvPr/>
        </p:nvGraphicFramePr>
        <p:xfrm>
          <a:off x="495300" y="3406378"/>
          <a:ext cx="9705975" cy="238125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36" name="Shape 33"/>
          <p:cNvSpPr/>
          <p:nvPr/>
        </p:nvSpPr>
        <p:spPr>
          <a:xfrm>
            <a:off x="495300" y="5920978"/>
            <a:ext cx="9705975" cy="623888"/>
          </a:xfrm>
          <a:prstGeom prst="rect">
            <a:avLst/>
          </a:prstGeom>
          <a:solidFill>
            <a:srgbClr val="FFF8EA"/>
          </a:solidFill>
          <a:ln/>
        </p:spPr>
      </p:sp>
      <p:sp>
        <p:nvSpPr>
          <p:cNvPr id="37" name="Shape 34"/>
          <p:cNvSpPr/>
          <p:nvPr/>
        </p:nvSpPr>
        <p:spPr>
          <a:xfrm>
            <a:off x="495300" y="5920978"/>
            <a:ext cx="38100" cy="623888"/>
          </a:xfrm>
          <a:prstGeom prst="rect">
            <a:avLst/>
          </a:prstGeom>
          <a:solidFill>
            <a:srgbClr val="E7B860"/>
          </a:solidFill>
          <a:ln/>
        </p:spPr>
      </p:sp>
      <p:sp>
        <p:nvSpPr>
          <p:cNvPr id="38" name="Text 35"/>
          <p:cNvSpPr/>
          <p:nvPr/>
        </p:nvSpPr>
        <p:spPr>
          <a:xfrm>
            <a:off x="676275" y="6025753"/>
            <a:ext cx="9439275" cy="4143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31"/>
              </a:lnSpc>
              <a:buNone/>
            </a:pPr>
            <a:r>
              <a:rPr lang="en-US" sz="1100" dirty="0">
                <a:solidFill>
                  <a:srgbClr val="2A2D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 ingresos propios cubren el 8,7% del gasto corriente; el gasto operativo restante ($ 1.379.892 M) se financia con transferencias del Tesoro Nacional. El aporte estatal por pasajero pago asciende a $ 6.124, frente a un boleto promedio de $ 539.</a:t>
            </a:r>
            <a:endParaRPr lang="en-US" sz="1100" dirty="0"/>
          </a:p>
        </p:txBody>
      </p:sp>
      <p:sp>
        <p:nvSpPr>
          <p:cNvPr id="39" name="Text 36"/>
          <p:cNvSpPr/>
          <p:nvPr/>
        </p:nvSpPr>
        <p:spPr>
          <a:xfrm>
            <a:off x="438150" y="7267129"/>
            <a:ext cx="7600950" cy="16240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279"/>
              </a:lnSpc>
              <a:buNone/>
            </a:pPr>
            <a:r>
              <a:rPr lang="en-US" sz="850" dirty="0">
                <a:solidFill>
                  <a:srgbClr val="5C60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SOFSA · Presupuesto 2027 · Elaborado por la Subgerencia de Presupuesto y Control de Gestión · consultas: emmanuel.miranda@trenesargentinos.gob.ar</a:t>
            </a:r>
            <a:endParaRPr lang="en-US" sz="850" dirty="0"/>
          </a:p>
        </p:txBody>
      </p:sp>
      <p:sp>
        <p:nvSpPr>
          <p:cNvPr id="40" name="Text 37"/>
          <p:cNvSpPr/>
          <p:nvPr/>
        </p:nvSpPr>
        <p:spPr>
          <a:xfrm>
            <a:off x="9963150" y="7267129"/>
            <a:ext cx="676275" cy="16240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279"/>
              </a:lnSpc>
              <a:buNone/>
            </a:pPr>
            <a:r>
              <a:rPr lang="en-US" sz="850" dirty="0">
                <a:solidFill>
                  <a:srgbClr val="5C60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/ 21</a:t>
            </a:r>
            <a:endParaRPr lang="en-US" sz="8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696575" cy="756285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0696575" cy="57150"/>
          </a:xfrm>
          <a:prstGeom prst="rect">
            <a:avLst/>
          </a:prstGeom>
          <a:solidFill>
            <a:srgbClr val="E7B860"/>
          </a:solidFill>
          <a:ln/>
        </p:spPr>
      </p:sp>
      <p:sp>
        <p:nvSpPr>
          <p:cNvPr id="4" name="Text 2"/>
          <p:cNvSpPr/>
          <p:nvPr/>
        </p:nvSpPr>
        <p:spPr>
          <a:xfrm>
            <a:off x="495300" y="438150"/>
            <a:ext cx="10086975" cy="44291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3488"/>
              </a:lnSpc>
              <a:buNone/>
            </a:pPr>
            <a:r>
              <a:rPr lang="en-US" sz="2050" b="1" dirty="0">
                <a:solidFill>
                  <a:srgbClr val="222C4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Techos, sobre techos y financiamiento</a:t>
            </a:r>
            <a:endParaRPr lang="en-US" sz="205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95300" y="1052512"/>
          <a:ext cx="9705975" cy="914400"/>
        </p:xfrm>
        <a:graphic>
          <a:graphicData uri="http://schemas.openxmlformats.org/drawingml/2006/table">
            <a:tbl>
              <a:tblPr/>
              <a:tblGrid>
                <a:gridCol w="576709"/>
                <a:gridCol w="1375321"/>
                <a:gridCol w="1442740"/>
                <a:gridCol w="1589484"/>
                <a:gridCol w="1057870"/>
                <a:gridCol w="1197769"/>
                <a:gridCol w="1533971"/>
                <a:gridCol w="932111"/>
              </a:tblGrid>
              <a:tr h="3220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spc="9" kern="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Año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5250" marR="9525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22C4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spc="9" kern="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Techo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5250" marR="9525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22C4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spc="9" kern="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Sobre techo pedido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5250" marR="9525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22C4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spc="9" kern="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Sobre techo otorgado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5250" marR="9525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22C4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spc="9" kern="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% del pedido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5250" marR="9525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22C4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spc="9" kern="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SIFER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5250" marR="9525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22C4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spc="9" kern="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 Tesoro + SIFER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5250" marR="9525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22C4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spc="9" kern="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Var. i.a.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5250" marR="9525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22C4F"/>
                    </a:solidFill>
                  </a:tcPr>
                </a:tc>
              </a:tr>
              <a:tr h="35406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C1E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5250" marR="9525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C1E27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$ 95.622 M</a:t>
                      </a:r>
                      <a:endParaRPr lang="en-US" sz="10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5250" marR="9525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C1E27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—</a:t>
                      </a:r>
                      <a:endParaRPr lang="en-US" sz="10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5250" marR="9525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C1E27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—</a:t>
                      </a:r>
                      <a:endParaRPr lang="en-US" sz="10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5250" marR="9525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C1E27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—</a:t>
                      </a:r>
                      <a:endParaRPr lang="en-US" sz="10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5250" marR="9525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C1E27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—</a:t>
                      </a:r>
                      <a:endParaRPr lang="en-US" sz="10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5250" marR="9525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1C1E27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$ 95.622 M</a:t>
                      </a:r>
                      <a:endParaRPr lang="en-US" sz="10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5250" marR="9525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C1E27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+34,78%</a:t>
                      </a:r>
                      <a:endParaRPr lang="en-US" sz="10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5250" marR="9525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58825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C1E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5250" marR="9525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C1E27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$ 231.095 M</a:t>
                      </a:r>
                      <a:endParaRPr lang="en-US" sz="10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5250" marR="9525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C1E27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$ 83.496 M</a:t>
                      </a:r>
                      <a:endParaRPr lang="en-US" sz="10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5250" marR="9525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C1E27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$ 0</a:t>
                      </a:r>
                      <a:endParaRPr lang="en-US" sz="10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5250" marR="9525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C1E27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0,0%</a:t>
                      </a:r>
                      <a:endParaRPr lang="en-US" sz="10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5250" marR="9525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C1E27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—</a:t>
                      </a:r>
                      <a:endParaRPr lang="en-US" sz="10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5250" marR="9525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1C1E27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$ 231.095 M</a:t>
                      </a:r>
                      <a:endParaRPr lang="en-US" sz="10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5250" marR="9525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C1E27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+141,67%</a:t>
                      </a:r>
                      <a:endParaRPr lang="en-US" sz="10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5250" marR="9525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58825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C1E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5250" marR="9525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C1E27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$ 533.100 M</a:t>
                      </a:r>
                      <a:endParaRPr lang="en-US" sz="10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5250" marR="9525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C1E27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$ 401.205 M</a:t>
                      </a:r>
                      <a:endParaRPr lang="en-US" sz="10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5250" marR="9525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C1E27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$ 0</a:t>
                      </a:r>
                      <a:endParaRPr lang="en-US" sz="10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5250" marR="9525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C1E27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0,0%</a:t>
                      </a:r>
                      <a:endParaRPr lang="en-US" sz="10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5250" marR="9525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C1E27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—</a:t>
                      </a:r>
                      <a:endParaRPr lang="en-US" sz="10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5250" marR="9525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1C1E27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$ 533.100 M</a:t>
                      </a:r>
                      <a:endParaRPr lang="en-US" sz="10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5250" marR="9525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C1E27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+130,68%</a:t>
                      </a:r>
                      <a:endParaRPr lang="en-US" sz="10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5250" marR="9525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58825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C1E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5250" marR="9525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C1E27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$ 852.834 M</a:t>
                      </a:r>
                      <a:endParaRPr lang="en-US" sz="10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5250" marR="9525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C1E27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—</a:t>
                      </a:r>
                      <a:endParaRPr lang="en-US" sz="10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5250" marR="9525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C1E27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$ 195.142 M</a:t>
                      </a:r>
                      <a:endParaRPr lang="en-US" sz="10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5250" marR="9525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C1E27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—</a:t>
                      </a:r>
                      <a:endParaRPr lang="en-US" sz="10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5250" marR="9525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C1E27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—</a:t>
                      </a:r>
                      <a:endParaRPr lang="en-US" sz="10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5250" marR="9525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1C1E27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$ 1.047.976 M</a:t>
                      </a:r>
                      <a:endParaRPr lang="en-US" sz="10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5250" marR="9525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C1E27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+96,58%</a:t>
                      </a:r>
                      <a:endParaRPr lang="en-US" sz="10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5250" marR="9525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58825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C1E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5250" marR="9525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C1E27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$ 1.179.027 M</a:t>
                      </a:r>
                      <a:endParaRPr lang="en-US" sz="10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5250" marR="9525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C1E27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—</a:t>
                      </a:r>
                      <a:endParaRPr lang="en-US" sz="10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5250" marR="9525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C1E27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$ 124.835 M</a:t>
                      </a:r>
                      <a:endParaRPr lang="en-US" sz="10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5250" marR="9525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C1E27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—</a:t>
                      </a:r>
                      <a:endParaRPr lang="en-US" sz="10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5250" marR="9525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C1E27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$ 93.023 M</a:t>
                      </a:r>
                      <a:endParaRPr lang="en-US" sz="10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5250" marR="9525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1C1E27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$ 1.396.885 M</a:t>
                      </a:r>
                      <a:endParaRPr lang="en-US" sz="10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5250" marR="9525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C1E27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+33,29%</a:t>
                      </a:r>
                      <a:endParaRPr lang="en-US" sz="10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5250" marR="9525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58825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1C1E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5250" marR="9525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2F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1C1E27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$ 1.537.804 M</a:t>
                      </a:r>
                      <a:endParaRPr lang="en-US" sz="10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5250" marR="9525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2F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1C1E27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$ 934.523 M</a:t>
                      </a:r>
                      <a:endParaRPr lang="en-US" sz="10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5250" marR="9525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2F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1C1E27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$ 42.088 M</a:t>
                      </a:r>
                      <a:endParaRPr lang="en-US" sz="10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5250" marR="9525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2F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1C1E27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4,5%</a:t>
                      </a:r>
                      <a:endParaRPr lang="en-US" sz="10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5250" marR="9525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2F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1C1E27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$ 125.550 M</a:t>
                      </a:r>
                      <a:endParaRPr lang="en-US" sz="10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5250" marR="9525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2F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1C1E27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$ 1.705.442 M</a:t>
                      </a:r>
                      <a:endParaRPr lang="en-US" sz="10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5250" marR="9525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2F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1C1E27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+22,09%</a:t>
                      </a:r>
                      <a:endParaRPr lang="en-US" sz="10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5250" marR="9525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2F8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495300" y="3660874"/>
            <a:ext cx="9705975" cy="831056"/>
          </a:xfrm>
          <a:prstGeom prst="rect">
            <a:avLst/>
          </a:prstGeom>
          <a:solidFill>
            <a:srgbClr val="FFF8EA"/>
          </a:solidFill>
          <a:ln/>
        </p:spPr>
      </p:sp>
      <p:sp>
        <p:nvSpPr>
          <p:cNvPr id="7" name="Shape 4"/>
          <p:cNvSpPr/>
          <p:nvPr/>
        </p:nvSpPr>
        <p:spPr>
          <a:xfrm>
            <a:off x="495300" y="3660874"/>
            <a:ext cx="38100" cy="831056"/>
          </a:xfrm>
          <a:prstGeom prst="rect">
            <a:avLst/>
          </a:prstGeom>
          <a:solidFill>
            <a:srgbClr val="E7B860"/>
          </a:solidFill>
          <a:ln/>
        </p:spPr>
      </p:sp>
      <p:sp>
        <p:nvSpPr>
          <p:cNvPr id="8" name="Text 5"/>
          <p:cNvSpPr/>
          <p:nvPr/>
        </p:nvSpPr>
        <p:spPr>
          <a:xfrm>
            <a:off x="676275" y="3765649"/>
            <a:ext cx="9439275" cy="62150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31"/>
              </a:lnSpc>
              <a:buNone/>
            </a:pPr>
            <a:r>
              <a:rPr lang="en-US" sz="1100" b="1" dirty="0">
                <a:solidFill>
                  <a:srgbClr val="222C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Solicitud de sobre techo 2027</a:t>
            </a:r>
            <a:pPr algn="l" indent="0" marL="0">
              <a:lnSpc>
                <a:spcPts val="1631"/>
              </a:lnSpc>
              <a:buNone/>
            </a:pPr>
            <a:r>
              <a:rPr lang="en-US" sz="1100" dirty="0">
                <a:solidFill>
                  <a:srgbClr val="2A2D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(NO-2026-72466251-APN-GPYCG#SOFSE): $ 427.203 M para gastos corrientes y $ 507.319 M para gastos de capital. Se otorgaron $ 42.088 M, exclusivamente para gastos de capital (8,3% de lo solicitado para capital; 4,5% del total solicitado). En 2026 se otorgaron $ 124.835 M de sobre techo y $ 93.023 M de SIFER.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438150" y="7267129"/>
            <a:ext cx="7600950" cy="16240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279"/>
              </a:lnSpc>
              <a:buNone/>
            </a:pPr>
            <a:r>
              <a:rPr lang="en-US" sz="850" dirty="0">
                <a:solidFill>
                  <a:srgbClr val="5C60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SOFSA · Presupuesto 2027 · Elaborado por la Subgerencia de Presupuesto y Control de Gestión · consultas: emmanuel.miranda@trenesargentinos.gob.ar</a:t>
            </a:r>
            <a:endParaRPr lang="en-US" sz="850" dirty="0"/>
          </a:p>
        </p:txBody>
      </p:sp>
      <p:sp>
        <p:nvSpPr>
          <p:cNvPr id="10" name="Text 7"/>
          <p:cNvSpPr/>
          <p:nvPr/>
        </p:nvSpPr>
        <p:spPr>
          <a:xfrm>
            <a:off x="9963150" y="7267129"/>
            <a:ext cx="676275" cy="16240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279"/>
              </a:lnSpc>
              <a:buNone/>
            </a:pPr>
            <a:r>
              <a:rPr lang="en-US" sz="850" dirty="0">
                <a:solidFill>
                  <a:srgbClr val="5C60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 / 21</a:t>
            </a:r>
            <a:endParaRPr lang="en-US" sz="8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696575" cy="756285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0696575" cy="57150"/>
          </a:xfrm>
          <a:prstGeom prst="rect">
            <a:avLst/>
          </a:prstGeom>
          <a:solidFill>
            <a:srgbClr val="E7B860"/>
          </a:solidFill>
          <a:ln/>
        </p:spPr>
      </p:sp>
      <p:sp>
        <p:nvSpPr>
          <p:cNvPr id="4" name="Text 2"/>
          <p:cNvSpPr/>
          <p:nvPr/>
        </p:nvSpPr>
        <p:spPr>
          <a:xfrm>
            <a:off x="495300" y="438150"/>
            <a:ext cx="10086975" cy="44291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3488"/>
              </a:lnSpc>
              <a:buNone/>
            </a:pPr>
            <a:r>
              <a:rPr lang="en-US" sz="2050" b="1" dirty="0">
                <a:solidFill>
                  <a:srgbClr val="222C4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Ejecución vs presupuesto otorgado</a:t>
            </a:r>
            <a:endParaRPr lang="en-US" sz="205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95300" y="1052512"/>
          <a:ext cx="9705975" cy="914400"/>
        </p:xfrm>
        <a:graphic>
          <a:graphicData uri="http://schemas.openxmlformats.org/drawingml/2006/table">
            <a:tbl>
              <a:tblPr/>
              <a:tblGrid>
                <a:gridCol w="1158478"/>
                <a:gridCol w="1368028"/>
                <a:gridCol w="1368028"/>
                <a:gridCol w="1603177"/>
                <a:gridCol w="1368028"/>
                <a:gridCol w="1514921"/>
                <a:gridCol w="1325314"/>
              </a:tblGrid>
              <a:tr h="26491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spc="9" kern="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Año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5250" marR="95250" marT="47625" marB="4762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22C4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spc="9" kern="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Formulación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5250" marR="95250" marT="47625" marB="4762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22C4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spc="9" kern="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Otorgado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5250" marR="95250" marT="47625" marB="4762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22C4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spc="9" kern="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Otorgado / formulado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5250" marR="95250" marT="47625" marB="4762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22C4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spc="9" kern="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Ejecución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5250" marR="95250" marT="47625" marB="4762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22C4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spc="9" kern="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Ejecución / otorgado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5250" marR="95250" marT="47625" marB="4762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22C4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spc="9" kern="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Var. otorgado i.a.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5250" marR="95250" marT="47625" marB="4762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22C4F"/>
                    </a:solidFill>
                  </a:tcPr>
                </a:tc>
              </a:tr>
              <a:tr h="296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C1E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5250" marR="95250" marT="47625" marB="4762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C1E27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$ 165.166 M</a:t>
                      </a:r>
                      <a:endParaRPr lang="en-US" sz="10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5250" marR="95250" marT="47625" marB="4762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1C1E27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$ 177.290 M</a:t>
                      </a:r>
                      <a:endParaRPr lang="en-US" sz="10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5250" marR="95250" marT="47625" marB="4762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C1E27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107,3%</a:t>
                      </a:r>
                      <a:endParaRPr lang="en-US" sz="10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5250" marR="95250" marT="47625" marB="4762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C1E27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$ 189.623 M</a:t>
                      </a:r>
                      <a:endParaRPr lang="en-US" sz="10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5250" marR="95250" marT="47625" marB="4762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C25A3C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107,0%</a:t>
                      </a:r>
                      <a:endParaRPr lang="en-US" sz="10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5250" marR="95250" marT="47625" marB="4762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C1E27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—</a:t>
                      </a:r>
                      <a:endParaRPr lang="en-US" sz="10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5250" marR="95250" marT="47625" marB="4762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675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C1E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5250" marR="95250" marT="47625" marB="4762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C1E27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$ 375.995 M</a:t>
                      </a:r>
                      <a:endParaRPr lang="en-US" sz="10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5250" marR="95250" marT="47625" marB="4762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1C1E27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$ 336.200 M</a:t>
                      </a:r>
                      <a:endParaRPr lang="en-US" sz="10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5250" marR="95250" marT="47625" marB="4762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C1E27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89,4%</a:t>
                      </a:r>
                      <a:endParaRPr lang="en-US" sz="10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5250" marR="95250" marT="47625" marB="4762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C1E27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$ 392.383 M</a:t>
                      </a:r>
                      <a:endParaRPr lang="en-US" sz="10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5250" marR="95250" marT="47625" marB="4762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C25A3C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116,7%</a:t>
                      </a:r>
                      <a:endParaRPr lang="en-US" sz="10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5250" marR="95250" marT="47625" marB="4762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C1E27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+89,63%</a:t>
                      </a:r>
                      <a:endParaRPr lang="en-US" sz="10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5250" marR="95250" marT="47625" marB="4762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675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C1E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5250" marR="95250" marT="47625" marB="4762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C1E27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$ 1.029.299 M</a:t>
                      </a:r>
                      <a:endParaRPr lang="en-US" sz="10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5250" marR="95250" marT="47625" marB="4762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1C1E27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$ 872.457 M</a:t>
                      </a:r>
                      <a:endParaRPr lang="en-US" sz="10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5250" marR="95250" marT="47625" marB="4762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C1E27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84,8%</a:t>
                      </a:r>
                      <a:endParaRPr lang="en-US" sz="10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5250" marR="95250" marT="47625" marB="4762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C1E27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$ 839.416 M</a:t>
                      </a:r>
                      <a:endParaRPr lang="en-US" sz="10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5250" marR="95250" marT="47625" marB="4762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2E8B72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96,2%</a:t>
                      </a:r>
                      <a:endParaRPr lang="en-US" sz="10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5250" marR="95250" marT="47625" marB="4762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C1E27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+159,51%</a:t>
                      </a:r>
                      <a:endParaRPr lang="en-US" sz="10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5250" marR="95250" marT="47625" marB="4762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675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C1E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5250" marR="95250" marT="47625" marB="4762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C1E27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$ 2.296.663 M</a:t>
                      </a:r>
                      <a:endParaRPr lang="en-US" sz="10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5250" marR="95250" marT="47625" marB="4762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1C1E27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$ 1.232.141 M</a:t>
                      </a:r>
                      <a:endParaRPr lang="en-US" sz="10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5250" marR="95250" marT="47625" marB="4762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C1E27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53,6%</a:t>
                      </a:r>
                      <a:endParaRPr lang="en-US" sz="10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5250" marR="95250" marT="47625" marB="4762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C1E27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$ 1.349.745 M</a:t>
                      </a:r>
                      <a:endParaRPr lang="en-US" sz="10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5250" marR="95250" marT="47625" marB="4762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C25A3C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109,5%</a:t>
                      </a:r>
                      <a:endParaRPr lang="en-US" sz="10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5250" marR="95250" marT="47625" marB="4762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C1E27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+41,23%</a:t>
                      </a:r>
                      <a:endParaRPr lang="en-US" sz="10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5250" marR="95250" marT="47625" marB="4762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675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C1E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 </a:t>
                      </a:r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5C60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(a agosto)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5250" marR="95250" marT="47625" marB="4762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C1E27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$ 2.686.994 M</a:t>
                      </a:r>
                      <a:endParaRPr lang="en-US" sz="10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5250" marR="95250" marT="47625" marB="4762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1C1E27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$ 1.497.742 M</a:t>
                      </a:r>
                      <a:endParaRPr lang="en-US" sz="10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5250" marR="95250" marT="47625" marB="4762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C1E27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55,7%</a:t>
                      </a:r>
                      <a:endParaRPr lang="en-US" sz="10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5250" marR="95250" marT="47625" marB="4762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C1E27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$ 882.562 M</a:t>
                      </a:r>
                      <a:endParaRPr lang="en-US" sz="10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5250" marR="95250" marT="47625" marB="4762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C1E27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58,9%</a:t>
                      </a:r>
                      <a:endParaRPr lang="en-US" sz="10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5250" marR="95250" marT="47625" marB="4762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C1E27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+21,56%</a:t>
                      </a:r>
                      <a:endParaRPr lang="en-US" sz="10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5250" marR="95250" marT="47625" marB="4762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675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1C1E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5250" marR="95250" marT="47625" marB="4762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2F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1C1E27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$ 2.832.751 M</a:t>
                      </a:r>
                      <a:endParaRPr lang="en-US" sz="10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5250" marR="95250" marT="47625" marB="4762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2F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1C1E27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$ 1.836.632 M</a:t>
                      </a:r>
                      <a:endParaRPr lang="en-US" sz="10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5250" marR="95250" marT="47625" marB="4762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2F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1C1E27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64,8%</a:t>
                      </a:r>
                      <a:endParaRPr lang="en-US" sz="10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5250" marR="95250" marT="47625" marB="4762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2F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1C1E27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—</a:t>
                      </a:r>
                      <a:endParaRPr lang="en-US" sz="10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5250" marR="95250" marT="47625" marB="4762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2F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1C1E27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—</a:t>
                      </a:r>
                      <a:endParaRPr lang="en-US" sz="10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5250" marR="95250" marT="47625" marB="4762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2F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1C1E27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+22,63%</a:t>
                      </a:r>
                      <a:endParaRPr lang="en-US" sz="10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5250" marR="95250" marT="47625" marB="4762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2F8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6" name="Chart 0" descr=""/>
          <p:cNvGraphicFramePr/>
          <p:nvPr/>
        </p:nvGraphicFramePr>
        <p:xfrm>
          <a:off x="495300" y="3241774"/>
          <a:ext cx="9705975" cy="238125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7" name="Shape 3"/>
          <p:cNvSpPr/>
          <p:nvPr/>
        </p:nvSpPr>
        <p:spPr>
          <a:xfrm>
            <a:off x="495300" y="5756374"/>
            <a:ext cx="9705975" cy="1038225"/>
          </a:xfrm>
          <a:prstGeom prst="rect">
            <a:avLst/>
          </a:prstGeom>
          <a:solidFill>
            <a:srgbClr val="FFF8EA"/>
          </a:solidFill>
          <a:ln/>
        </p:spPr>
      </p:sp>
      <p:sp>
        <p:nvSpPr>
          <p:cNvPr id="8" name="Shape 4"/>
          <p:cNvSpPr/>
          <p:nvPr/>
        </p:nvSpPr>
        <p:spPr>
          <a:xfrm>
            <a:off x="495300" y="5756374"/>
            <a:ext cx="38100" cy="1038225"/>
          </a:xfrm>
          <a:prstGeom prst="rect">
            <a:avLst/>
          </a:prstGeom>
          <a:solidFill>
            <a:srgbClr val="E7B860"/>
          </a:solidFill>
          <a:ln/>
        </p:spPr>
      </p:sp>
      <p:sp>
        <p:nvSpPr>
          <p:cNvPr id="9" name="Text 5"/>
          <p:cNvSpPr/>
          <p:nvPr/>
        </p:nvSpPr>
        <p:spPr>
          <a:xfrm>
            <a:off x="676275" y="5861149"/>
            <a:ext cx="9439275" cy="828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31"/>
              </a:lnSpc>
              <a:buNone/>
            </a:pPr>
            <a:r>
              <a:rPr lang="en-US" sz="1100" b="1" dirty="0">
                <a:solidFill>
                  <a:srgbClr val="222C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Síntesis:</a:t>
            </a:r>
            <a:pPr algn="l" indent="0" marL="0">
              <a:lnSpc>
                <a:spcPts val="1631"/>
              </a:lnSpc>
              <a:buNone/>
            </a:pPr>
            <a:r>
              <a:rPr lang="en-US" sz="1100" dirty="0">
                <a:solidFill>
                  <a:srgbClr val="2A2D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en los ejercicios 2022, 2023 y 2025 la ejecución superó el crédito otorgado (107,0%, 116,7% y 109,5%), como resultado de ampliaciones presupuestarias durante el ejercicio. La relación otorgado/formulado descendió de 107,3% en 2022 a 53,6% en 2025 y 64,8% en 2027. A agosto de 2026 la ejecución alcanza el 58,9% (proyección anualizada: $ 1.323.843 M, 88,4% del otorgado). El crédito 2027 registra una variación nominal de +22,63% respecto de 2026 (+3,92% en términos reales, con una inflación estimada del 18%).</a:t>
            </a:r>
            <a:endParaRPr lang="en-US" sz="1100" dirty="0"/>
          </a:p>
        </p:txBody>
      </p:sp>
      <p:sp>
        <p:nvSpPr>
          <p:cNvPr id="10" name="Text 6"/>
          <p:cNvSpPr/>
          <p:nvPr/>
        </p:nvSpPr>
        <p:spPr>
          <a:xfrm>
            <a:off x="438150" y="7267129"/>
            <a:ext cx="7600950" cy="16240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279"/>
              </a:lnSpc>
              <a:buNone/>
            </a:pPr>
            <a:r>
              <a:rPr lang="en-US" sz="850" dirty="0">
                <a:solidFill>
                  <a:srgbClr val="5C60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SOFSA · Presupuesto 2027 · Elaborado por la Subgerencia de Presupuesto y Control de Gestión · consultas: emmanuel.miranda@trenesargentinos.gob.ar</a:t>
            </a:r>
            <a:endParaRPr lang="en-US" sz="850" dirty="0"/>
          </a:p>
        </p:txBody>
      </p:sp>
      <p:sp>
        <p:nvSpPr>
          <p:cNvPr id="11" name="Text 7"/>
          <p:cNvSpPr/>
          <p:nvPr/>
        </p:nvSpPr>
        <p:spPr>
          <a:xfrm>
            <a:off x="9896475" y="7267129"/>
            <a:ext cx="742950" cy="16240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279"/>
              </a:lnSpc>
              <a:buNone/>
            </a:pPr>
            <a:r>
              <a:rPr lang="en-US" sz="850" dirty="0">
                <a:solidFill>
                  <a:srgbClr val="5C60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/ 21</a:t>
            </a:r>
            <a:endParaRPr lang="en-US" sz="8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696575" cy="756285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0696575" cy="57150"/>
          </a:xfrm>
          <a:prstGeom prst="rect">
            <a:avLst/>
          </a:prstGeom>
          <a:solidFill>
            <a:srgbClr val="E7B860"/>
          </a:solidFill>
          <a:ln/>
        </p:spPr>
      </p:sp>
      <p:sp>
        <p:nvSpPr>
          <p:cNvPr id="4" name="Text 2"/>
          <p:cNvSpPr/>
          <p:nvPr/>
        </p:nvSpPr>
        <p:spPr>
          <a:xfrm>
            <a:off x="495300" y="438150"/>
            <a:ext cx="10086975" cy="44291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3488"/>
              </a:lnSpc>
              <a:buNone/>
            </a:pPr>
            <a:r>
              <a:rPr lang="en-US" sz="2050" b="1" dirty="0">
                <a:solidFill>
                  <a:srgbClr val="222C4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Cuota mensual del techo 2027</a:t>
            </a:r>
            <a:endParaRPr lang="en-US" sz="205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495300" y="1052512"/>
          <a:ext cx="9705975" cy="49530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Text 3"/>
          <p:cNvSpPr/>
          <p:nvPr/>
        </p:nvSpPr>
        <p:spPr>
          <a:xfrm>
            <a:off x="495300" y="6100763"/>
            <a:ext cx="10086975" cy="19931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569"/>
              </a:lnSpc>
              <a:buNone/>
            </a:pPr>
            <a:r>
              <a:rPr lang="en-US" sz="1000" dirty="0">
                <a:solidFill>
                  <a:srgbClr val="5C60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 incrementos de junio y diciembre corresponden al Sueldo Anual Complementario (SAC). Promedio mensual: $ 153.053 M.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438150" y="7267129"/>
            <a:ext cx="7600950" cy="16240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279"/>
              </a:lnSpc>
              <a:buNone/>
            </a:pPr>
            <a:r>
              <a:rPr lang="en-US" sz="850" dirty="0">
                <a:solidFill>
                  <a:srgbClr val="5C60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SOFSA · Presupuesto 2027 · Elaborado por la Subgerencia de Presupuesto y Control de Gestión · consultas: emmanuel.miranda@trenesargentinos.gob.ar</a:t>
            </a:r>
            <a:endParaRPr lang="en-US" sz="850" dirty="0"/>
          </a:p>
        </p:txBody>
      </p:sp>
      <p:sp>
        <p:nvSpPr>
          <p:cNvPr id="8" name="Text 5"/>
          <p:cNvSpPr/>
          <p:nvPr/>
        </p:nvSpPr>
        <p:spPr>
          <a:xfrm>
            <a:off x="9896475" y="7267129"/>
            <a:ext cx="742950" cy="16240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279"/>
              </a:lnSpc>
              <a:buNone/>
            </a:pPr>
            <a:r>
              <a:rPr lang="en-US" sz="850" dirty="0">
                <a:solidFill>
                  <a:srgbClr val="5C60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 / 21</a:t>
            </a:r>
            <a:endParaRPr lang="en-US" sz="8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696575" cy="756285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0696575" cy="57150"/>
          </a:xfrm>
          <a:prstGeom prst="rect">
            <a:avLst/>
          </a:prstGeom>
          <a:solidFill>
            <a:srgbClr val="E7B860"/>
          </a:solidFill>
          <a:ln/>
        </p:spPr>
      </p:sp>
      <p:sp>
        <p:nvSpPr>
          <p:cNvPr id="4" name="Text 2"/>
          <p:cNvSpPr/>
          <p:nvPr/>
        </p:nvSpPr>
        <p:spPr>
          <a:xfrm>
            <a:off x="495300" y="438150"/>
            <a:ext cx="10086975" cy="44291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3488"/>
              </a:lnSpc>
              <a:buNone/>
            </a:pPr>
            <a:r>
              <a:rPr lang="en-US" sz="2050" b="1" dirty="0">
                <a:solidFill>
                  <a:srgbClr val="222C4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Lineamientos de Presidencia · asignación del techo</a:t>
            </a:r>
            <a:endParaRPr lang="en-US" sz="2050" dirty="0"/>
          </a:p>
        </p:txBody>
      </p:sp>
      <p:sp>
        <p:nvSpPr>
          <p:cNvPr id="5" name="Shape 3"/>
          <p:cNvSpPr/>
          <p:nvPr/>
        </p:nvSpPr>
        <p:spPr>
          <a:xfrm>
            <a:off x="495300" y="1052512"/>
            <a:ext cx="2340769" cy="1995339"/>
          </a:xfrm>
          <a:prstGeom prst="rect">
            <a:avLst/>
          </a:prstGeom>
          <a:solidFill>
            <a:srgbClr val="F7F8FC"/>
          </a:solidFill>
          <a:ln/>
        </p:spPr>
      </p:sp>
      <p:sp>
        <p:nvSpPr>
          <p:cNvPr id="6" name="Shape 4"/>
          <p:cNvSpPr/>
          <p:nvPr/>
        </p:nvSpPr>
        <p:spPr>
          <a:xfrm>
            <a:off x="495300" y="1052512"/>
            <a:ext cx="2340769" cy="47625"/>
          </a:xfrm>
          <a:prstGeom prst="rect">
            <a:avLst/>
          </a:prstGeom>
          <a:solidFill>
            <a:srgbClr val="2E6FA8"/>
          </a:solidFill>
          <a:ln/>
        </p:spPr>
      </p:sp>
      <p:sp>
        <p:nvSpPr>
          <p:cNvPr id="7" name="Text 5"/>
          <p:cNvSpPr/>
          <p:nvPr/>
        </p:nvSpPr>
        <p:spPr>
          <a:xfrm>
            <a:off x="628650" y="1233488"/>
            <a:ext cx="2455069" cy="304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400"/>
              </a:lnSpc>
              <a:buNone/>
            </a:pPr>
            <a:r>
              <a:rPr lang="en-US" sz="2200" b="1" dirty="0">
                <a:solidFill>
                  <a:srgbClr val="2E6FA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628650" y="1595437"/>
            <a:ext cx="2131219" cy="39856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69"/>
              </a:lnSpc>
              <a:buNone/>
            </a:pPr>
            <a:r>
              <a:rPr lang="en-US" sz="1000" b="1" dirty="0">
                <a:solidFill>
                  <a:srgbClr val="222C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Experiencia del pasajero e imagen institucional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628650" y="2051149"/>
            <a:ext cx="2455069" cy="3248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558"/>
              </a:lnSpc>
              <a:buNone/>
            </a:pPr>
            <a:r>
              <a:rPr lang="en-US" sz="1500" b="1" dirty="0">
                <a:solidFill>
                  <a:srgbClr val="2E6FA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$ 152.577 M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628650" y="2375892"/>
            <a:ext cx="2455069" cy="16978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337"/>
              </a:lnSpc>
              <a:buNone/>
            </a:pPr>
            <a:r>
              <a:rPr lang="en-US" sz="850" dirty="0">
                <a:solidFill>
                  <a:srgbClr val="5C60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8,3% del total · 20,5% del discrecional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628650" y="2545556"/>
            <a:ext cx="2455069" cy="16978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337"/>
              </a:lnSpc>
              <a:buNone/>
            </a:pPr>
            <a:r>
              <a:rPr lang="en-US" sz="850" dirty="0">
                <a:solidFill>
                  <a:srgbClr val="5C60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cobertura 40,1%</a:t>
            </a:r>
            <a:endParaRPr lang="en-US" sz="850" dirty="0"/>
          </a:p>
        </p:txBody>
      </p:sp>
      <p:sp>
        <p:nvSpPr>
          <p:cNvPr id="12" name="Shape 10"/>
          <p:cNvSpPr/>
          <p:nvPr/>
        </p:nvSpPr>
        <p:spPr>
          <a:xfrm>
            <a:off x="2950369" y="1052512"/>
            <a:ext cx="2340769" cy="1995339"/>
          </a:xfrm>
          <a:prstGeom prst="rect">
            <a:avLst/>
          </a:prstGeom>
          <a:solidFill>
            <a:srgbClr val="F7F8FC"/>
          </a:solidFill>
          <a:ln/>
        </p:spPr>
      </p:sp>
      <p:sp>
        <p:nvSpPr>
          <p:cNvPr id="13" name="Shape 11"/>
          <p:cNvSpPr/>
          <p:nvPr/>
        </p:nvSpPr>
        <p:spPr>
          <a:xfrm>
            <a:off x="2950369" y="1052512"/>
            <a:ext cx="2340769" cy="47625"/>
          </a:xfrm>
          <a:prstGeom prst="rect">
            <a:avLst/>
          </a:prstGeom>
          <a:solidFill>
            <a:srgbClr val="222C4F"/>
          </a:solidFill>
          <a:ln/>
        </p:spPr>
      </p:sp>
      <p:sp>
        <p:nvSpPr>
          <p:cNvPr id="14" name="Text 12"/>
          <p:cNvSpPr/>
          <p:nvPr/>
        </p:nvSpPr>
        <p:spPr>
          <a:xfrm>
            <a:off x="3083719" y="1233488"/>
            <a:ext cx="2455069" cy="304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400"/>
              </a:lnSpc>
              <a:buNone/>
            </a:pPr>
            <a:r>
              <a:rPr lang="en-US" sz="2200" b="1" dirty="0">
                <a:solidFill>
                  <a:srgbClr val="222C4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2200" dirty="0"/>
          </a:p>
        </p:txBody>
      </p:sp>
      <p:sp>
        <p:nvSpPr>
          <p:cNvPr id="15" name="Text 13"/>
          <p:cNvSpPr/>
          <p:nvPr/>
        </p:nvSpPr>
        <p:spPr>
          <a:xfrm>
            <a:off x="3083719" y="1595437"/>
            <a:ext cx="2131219" cy="59784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69"/>
              </a:lnSpc>
              <a:buNone/>
            </a:pPr>
            <a:r>
              <a:rPr lang="en-US" sz="1000" b="1" dirty="0">
                <a:solidFill>
                  <a:srgbClr val="222C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Seguridad operacional, mantenimiento y calidad del servicio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3083719" y="2250430"/>
            <a:ext cx="2455069" cy="3248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558"/>
              </a:lnSpc>
              <a:buNone/>
            </a:pPr>
            <a:r>
              <a:rPr lang="en-US" sz="1500" b="1" dirty="0">
                <a:solidFill>
                  <a:srgbClr val="222C4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$ 505.406 M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3083719" y="2575173"/>
            <a:ext cx="2455069" cy="16978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337"/>
              </a:lnSpc>
              <a:buNone/>
            </a:pPr>
            <a:r>
              <a:rPr lang="en-US" sz="850" dirty="0">
                <a:solidFill>
                  <a:srgbClr val="5C60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27,5% del total · 68,0% del discrecional</a:t>
            </a:r>
            <a:endParaRPr lang="en-US" sz="850" dirty="0"/>
          </a:p>
        </p:txBody>
      </p:sp>
      <p:sp>
        <p:nvSpPr>
          <p:cNvPr id="18" name="Text 16"/>
          <p:cNvSpPr/>
          <p:nvPr/>
        </p:nvSpPr>
        <p:spPr>
          <a:xfrm>
            <a:off x="3083719" y="2744837"/>
            <a:ext cx="2455069" cy="16978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337"/>
              </a:lnSpc>
              <a:buNone/>
            </a:pPr>
            <a:r>
              <a:rPr lang="en-US" sz="850" dirty="0">
                <a:solidFill>
                  <a:srgbClr val="5C60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cobertura 34,1%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405438" y="1052512"/>
            <a:ext cx="2340769" cy="1995339"/>
          </a:xfrm>
          <a:prstGeom prst="rect">
            <a:avLst/>
          </a:prstGeom>
          <a:solidFill>
            <a:srgbClr val="F7F8FC"/>
          </a:solidFill>
          <a:ln/>
        </p:spPr>
      </p:sp>
      <p:sp>
        <p:nvSpPr>
          <p:cNvPr id="20" name="Shape 18"/>
          <p:cNvSpPr/>
          <p:nvPr/>
        </p:nvSpPr>
        <p:spPr>
          <a:xfrm>
            <a:off x="5405438" y="1052512"/>
            <a:ext cx="2340769" cy="47625"/>
          </a:xfrm>
          <a:prstGeom prst="rect">
            <a:avLst/>
          </a:prstGeom>
          <a:solidFill>
            <a:srgbClr val="C9974A"/>
          </a:solidFill>
          <a:ln/>
        </p:spPr>
      </p:sp>
      <p:sp>
        <p:nvSpPr>
          <p:cNvPr id="21" name="Text 19"/>
          <p:cNvSpPr/>
          <p:nvPr/>
        </p:nvSpPr>
        <p:spPr>
          <a:xfrm>
            <a:off x="5538787" y="1233488"/>
            <a:ext cx="2455069" cy="304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400"/>
              </a:lnSpc>
              <a:buNone/>
            </a:pPr>
            <a:r>
              <a:rPr lang="en-US" sz="2200" b="1" dirty="0">
                <a:solidFill>
                  <a:srgbClr val="C997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2200" dirty="0"/>
          </a:p>
        </p:txBody>
      </p:sp>
      <p:sp>
        <p:nvSpPr>
          <p:cNvPr id="22" name="Text 20"/>
          <p:cNvSpPr/>
          <p:nvPr/>
        </p:nvSpPr>
        <p:spPr>
          <a:xfrm>
            <a:off x="5538787" y="1595437"/>
            <a:ext cx="2131219" cy="39856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69"/>
              </a:lnSpc>
              <a:buNone/>
            </a:pPr>
            <a:r>
              <a:rPr lang="en-US" sz="1000" b="1" dirty="0">
                <a:solidFill>
                  <a:srgbClr val="222C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Gestión administrativa, normativa y de control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5538787" y="2051149"/>
            <a:ext cx="2455069" cy="3248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558"/>
              </a:lnSpc>
              <a:buNone/>
            </a:pPr>
            <a:r>
              <a:rPr lang="en-US" sz="1500" b="1" dirty="0">
                <a:solidFill>
                  <a:srgbClr val="C997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$ 168.295 M</a:t>
            </a:r>
            <a:endParaRPr lang="en-US" sz="1500" dirty="0"/>
          </a:p>
        </p:txBody>
      </p:sp>
      <p:sp>
        <p:nvSpPr>
          <p:cNvPr id="24" name="Text 22"/>
          <p:cNvSpPr/>
          <p:nvPr/>
        </p:nvSpPr>
        <p:spPr>
          <a:xfrm>
            <a:off x="5538787" y="2375892"/>
            <a:ext cx="2455069" cy="16978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337"/>
              </a:lnSpc>
              <a:buNone/>
            </a:pPr>
            <a:r>
              <a:rPr lang="en-US" sz="850" dirty="0">
                <a:solidFill>
                  <a:srgbClr val="5C60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9,2% del total · 5,0% del discrecional</a:t>
            </a:r>
            <a:endParaRPr lang="en-US" sz="850" dirty="0"/>
          </a:p>
        </p:txBody>
      </p:sp>
      <p:sp>
        <p:nvSpPr>
          <p:cNvPr id="25" name="Text 23"/>
          <p:cNvSpPr/>
          <p:nvPr/>
        </p:nvSpPr>
        <p:spPr>
          <a:xfrm>
            <a:off x="5538787" y="2545556"/>
            <a:ext cx="2455069" cy="16978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337"/>
              </a:lnSpc>
              <a:buNone/>
            </a:pPr>
            <a:r>
              <a:rPr lang="en-US" sz="850" dirty="0">
                <a:solidFill>
                  <a:srgbClr val="5C60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cobertura 39,1%</a:t>
            </a:r>
            <a:endParaRPr lang="en-US" sz="850" dirty="0"/>
          </a:p>
        </p:txBody>
      </p:sp>
      <p:sp>
        <p:nvSpPr>
          <p:cNvPr id="26" name="Shape 24"/>
          <p:cNvSpPr/>
          <p:nvPr/>
        </p:nvSpPr>
        <p:spPr>
          <a:xfrm>
            <a:off x="7860506" y="1052512"/>
            <a:ext cx="2340769" cy="1995339"/>
          </a:xfrm>
          <a:prstGeom prst="rect">
            <a:avLst/>
          </a:prstGeom>
          <a:solidFill>
            <a:srgbClr val="F7F8FC"/>
          </a:solidFill>
          <a:ln/>
        </p:spPr>
      </p:sp>
      <p:sp>
        <p:nvSpPr>
          <p:cNvPr id="27" name="Shape 25"/>
          <p:cNvSpPr/>
          <p:nvPr/>
        </p:nvSpPr>
        <p:spPr>
          <a:xfrm>
            <a:off x="7860506" y="1052512"/>
            <a:ext cx="2340769" cy="47625"/>
          </a:xfrm>
          <a:prstGeom prst="rect">
            <a:avLst/>
          </a:prstGeom>
          <a:solidFill>
            <a:srgbClr val="2E8B72"/>
          </a:solidFill>
          <a:ln/>
        </p:spPr>
      </p:sp>
      <p:sp>
        <p:nvSpPr>
          <p:cNvPr id="28" name="Text 26"/>
          <p:cNvSpPr/>
          <p:nvPr/>
        </p:nvSpPr>
        <p:spPr>
          <a:xfrm>
            <a:off x="7993856" y="1233488"/>
            <a:ext cx="2455069" cy="304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400"/>
              </a:lnSpc>
              <a:buNone/>
            </a:pPr>
            <a:r>
              <a:rPr lang="en-US" sz="2200" b="1" dirty="0">
                <a:solidFill>
                  <a:srgbClr val="2E8B7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</a:t>
            </a:r>
            <a:endParaRPr lang="en-US" sz="2200" dirty="0"/>
          </a:p>
        </p:txBody>
      </p:sp>
      <p:sp>
        <p:nvSpPr>
          <p:cNvPr id="29" name="Text 27"/>
          <p:cNvSpPr/>
          <p:nvPr/>
        </p:nvSpPr>
        <p:spPr>
          <a:xfrm>
            <a:off x="7993856" y="1595437"/>
            <a:ext cx="2131219" cy="39856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69"/>
              </a:lnSpc>
              <a:buNone/>
            </a:pPr>
            <a:r>
              <a:rPr lang="en-US" sz="1000" b="1" dirty="0">
                <a:solidFill>
                  <a:srgbClr val="222C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Organización, personas y eficiencia de recursos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7993856" y="2051149"/>
            <a:ext cx="2455069" cy="3248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558"/>
              </a:lnSpc>
              <a:buNone/>
            </a:pPr>
            <a:r>
              <a:rPr lang="en-US" sz="1500" b="1" dirty="0">
                <a:solidFill>
                  <a:srgbClr val="2E8B7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$ 1.010.353 M</a:t>
            </a:r>
            <a:endParaRPr lang="en-US" sz="1500" dirty="0"/>
          </a:p>
        </p:txBody>
      </p:sp>
      <p:sp>
        <p:nvSpPr>
          <p:cNvPr id="31" name="Text 29"/>
          <p:cNvSpPr/>
          <p:nvPr/>
        </p:nvSpPr>
        <p:spPr>
          <a:xfrm>
            <a:off x="7993856" y="2375892"/>
            <a:ext cx="2455069" cy="16978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337"/>
              </a:lnSpc>
              <a:buNone/>
            </a:pPr>
            <a:r>
              <a:rPr lang="en-US" sz="850" dirty="0">
                <a:solidFill>
                  <a:srgbClr val="5C60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55,0% del total · 6,4% del discrecional</a:t>
            </a:r>
            <a:endParaRPr lang="en-US" sz="850" dirty="0"/>
          </a:p>
        </p:txBody>
      </p:sp>
      <p:sp>
        <p:nvSpPr>
          <p:cNvPr id="32" name="Text 30"/>
          <p:cNvSpPr/>
          <p:nvPr/>
        </p:nvSpPr>
        <p:spPr>
          <a:xfrm>
            <a:off x="7993856" y="2545556"/>
            <a:ext cx="2455069" cy="16978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337"/>
              </a:lnSpc>
              <a:buNone/>
            </a:pPr>
            <a:r>
              <a:rPr lang="en-US" sz="850" dirty="0">
                <a:solidFill>
                  <a:srgbClr val="5C60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cobertura 88,5%</a:t>
            </a:r>
            <a:endParaRPr lang="en-US" sz="850" dirty="0"/>
          </a:p>
        </p:txBody>
      </p:sp>
      <p:sp>
        <p:nvSpPr>
          <p:cNvPr id="33" name="Text 31"/>
          <p:cNvSpPr/>
          <p:nvPr/>
        </p:nvSpPr>
        <p:spPr>
          <a:xfrm>
            <a:off x="495300" y="3143101"/>
            <a:ext cx="9763125" cy="39856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69"/>
              </a:lnSpc>
              <a:buNone/>
            </a:pPr>
            <a:r>
              <a:rPr lang="en-US" sz="1000" dirty="0">
                <a:solidFill>
                  <a:srgbClr val="5C60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proyecto/producto de la formulación se asignó a una premisa principal y, cuando corresponde, a premisas secundarias. Personal → premisa 4; Impuestos → premisa 3.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438150" y="7267129"/>
            <a:ext cx="7600950" cy="16240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279"/>
              </a:lnSpc>
              <a:buNone/>
            </a:pPr>
            <a:r>
              <a:rPr lang="en-US" sz="850" dirty="0">
                <a:solidFill>
                  <a:srgbClr val="5C60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SOFSA · Presupuesto 2027 · Elaborado por la Subgerencia de Presupuesto y Control de Gestión · consultas: emmanuel.miranda@trenesargentinos.gob.ar</a:t>
            </a:r>
            <a:endParaRPr lang="en-US" sz="850" dirty="0"/>
          </a:p>
        </p:txBody>
      </p:sp>
      <p:sp>
        <p:nvSpPr>
          <p:cNvPr id="35" name="Text 33"/>
          <p:cNvSpPr/>
          <p:nvPr/>
        </p:nvSpPr>
        <p:spPr>
          <a:xfrm>
            <a:off x="9896475" y="7267129"/>
            <a:ext cx="742950" cy="16240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279"/>
              </a:lnSpc>
              <a:buNone/>
            </a:pPr>
            <a:r>
              <a:rPr lang="en-US" sz="850" dirty="0">
                <a:solidFill>
                  <a:srgbClr val="5C60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/ 21</a:t>
            </a:r>
            <a:endParaRPr lang="en-US" sz="8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696575" cy="756285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0696575" cy="57150"/>
          </a:xfrm>
          <a:prstGeom prst="rect">
            <a:avLst/>
          </a:prstGeom>
          <a:solidFill>
            <a:srgbClr val="E7B860"/>
          </a:solidFill>
          <a:ln/>
        </p:spPr>
      </p:sp>
      <p:sp>
        <p:nvSpPr>
          <p:cNvPr id="4" name="Text 2"/>
          <p:cNvSpPr/>
          <p:nvPr/>
        </p:nvSpPr>
        <p:spPr>
          <a:xfrm>
            <a:off x="495300" y="438150"/>
            <a:ext cx="9763125" cy="885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488"/>
              </a:lnSpc>
              <a:buNone/>
            </a:pPr>
            <a:r>
              <a:rPr lang="en-US" sz="2900" b="1" dirty="0">
                <a:solidFill>
                  <a:srgbClr val="2E6FA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 </a:t>
            </a:r>
            <a:pPr algn="l" indent="0" marL="0">
              <a:lnSpc>
                <a:spcPts val="3488"/>
              </a:lnSpc>
              <a:buNone/>
            </a:pPr>
            <a:r>
              <a:rPr lang="en-US" sz="2050" b="1" dirty="0">
                <a:solidFill>
                  <a:srgbClr val="222C4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Experiencia del pasajero e imagen institucional · proyectos y productos</a:t>
            </a:r>
            <a:endParaRPr lang="en-US" sz="2900" dirty="0"/>
          </a:p>
        </p:txBody>
      </p:sp>
      <p:sp>
        <p:nvSpPr>
          <p:cNvPr id="5" name="Text 3"/>
          <p:cNvSpPr/>
          <p:nvPr/>
        </p:nvSpPr>
        <p:spPr>
          <a:xfrm>
            <a:off x="495300" y="1419225"/>
            <a:ext cx="10086975" cy="19931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569"/>
              </a:lnSpc>
              <a:buNone/>
            </a:pPr>
            <a:r>
              <a:rPr lang="en-US" sz="1000" dirty="0">
                <a:solidFill>
                  <a:srgbClr val="5C60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36 proyectos con techo · 70 productos · techo $ 152.577 M · cobertura 40,1%</a:t>
            </a:r>
            <a:endParaRPr lang="en-US" sz="100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95300" y="1713756"/>
          <a:ext cx="9705975" cy="914400"/>
        </p:xfrm>
        <a:graphic>
          <a:graphicData uri="http://schemas.openxmlformats.org/drawingml/2006/table">
            <a:tbl>
              <a:tblPr/>
              <a:tblGrid>
                <a:gridCol w="3674566"/>
                <a:gridCol w="4106912"/>
                <a:gridCol w="1080641"/>
                <a:gridCol w="843855"/>
              </a:tblGrid>
              <a:tr h="3220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spc="9" kern="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Proyecto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5250" marR="9525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22C4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spc="9" kern="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Productos principales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5250" marR="9525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22C4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spc="9" kern="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Techo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5250" marR="9525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22C4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spc="9" kern="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Cobertura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5250" marR="9525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22C4F"/>
                    </a:solidFill>
                  </a:tcPr>
                </a:tc>
              </a:tr>
              <a:tr h="51152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C1E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Estaciones Seguras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5C60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Prevención y Seg.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5250" marR="9525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C1E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Servicio de seguridad Integral · Servicio de monitoreo urbano · SAE 911 </a:t>
                      </a:r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5C60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5250" marR="9525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C1E27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$ 79.762 M</a:t>
                      </a:r>
                      <a:endParaRPr lang="en-US" sz="10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5250" marR="9525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C1E27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51,7%</a:t>
                      </a:r>
                      <a:endParaRPr lang="en-US" sz="10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5250" marR="9525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713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C1E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Fortalecimiento de la gestión operativa y seguridad del Servicio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5C60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Planific. de Compras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5250" marR="9525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C1E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Mantener las Estaciones y Trazas en cond… · Mantenimiento y Limpieza de Estaciones, … · Señalética Informativa y de Prevención e… </a:t>
                      </a:r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5C60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5250" marR="9525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C1E27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$ 31.943 M</a:t>
                      </a:r>
                      <a:endParaRPr lang="en-US" sz="10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5250" marR="9525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C1E27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28,9%</a:t>
                      </a:r>
                      <a:endParaRPr lang="en-US" sz="10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5250" marR="9525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25661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C1E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Fortalecimiento la gestión operativa del Servicio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5C60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Planific. de Compras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5250" marR="9525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C1E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Mantener las Estaciones y Trazas en cond… · Infraestructura Básica para el Funcionam… · Abastecimiento Energético Crítico para l…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5250" marR="9525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C1E27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$ 6.907 M</a:t>
                      </a:r>
                      <a:endParaRPr lang="en-US" sz="10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5250" marR="9525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C1E27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28,9%</a:t>
                      </a:r>
                      <a:endParaRPr lang="en-US" sz="10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5250" marR="9525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713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C1E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Infraestructura Digital y Telecomunicaciones para una Operació…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5C60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Tec. Inf. e In. y 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5250" marR="9525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C1E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Sistema de ticketing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5250" marR="9525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C1E27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$ 3.630 M</a:t>
                      </a:r>
                      <a:endParaRPr lang="en-US" sz="10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5250" marR="9525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C1E27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56,5%</a:t>
                      </a:r>
                      <a:endParaRPr lang="en-US" sz="10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5250" marR="9525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713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C1E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PLAN DE ADECUACIÓN DE CONDICIONES DE SEGURIDAD EN ESTACIONES C…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5C60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Gcia.Ing.e Infraest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5250" marR="9525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C1E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Obras de Inversión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5250" marR="9525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C1E27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$ 3.245 M</a:t>
                      </a:r>
                      <a:endParaRPr lang="en-US" sz="10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5250" marR="9525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C1E27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51,7%</a:t>
                      </a:r>
                      <a:endParaRPr lang="en-US" sz="10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5250" marR="9525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713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C1E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Fortalecimiento de la gestión operativa y seguridad del Servicio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5C60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Gcia.Ing.e Infraest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5250" marR="9525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C1E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Mantener las Estaciones y Trazas en cond… · Mantenimiento y Limpieza de Estaciones, … · Asistencia directa a Líneas de Operación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5250" marR="9525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C1E27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$ 3.084 M</a:t>
                      </a:r>
                      <a:endParaRPr lang="en-US" sz="10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5250" marR="9525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C1E27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16,8%</a:t>
                      </a:r>
                      <a:endParaRPr lang="en-US" sz="10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5250" marR="9525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713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C1E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Gestión para la cobertura preventiva del empleado y población …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5C60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Serv Méd-Salud Ocup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5250" marR="9525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C1E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Área Protegida · Servicio de Vacunación · Espacios de cobertura cardioprotegida </a:t>
                      </a:r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5C60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5250" marR="9525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C1E27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$ 2.610 M</a:t>
                      </a:r>
                      <a:endParaRPr lang="en-US" sz="10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5250" marR="9525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C1E27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43,2%</a:t>
                      </a:r>
                      <a:endParaRPr lang="en-US" sz="10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5250" marR="9525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 4"/>
          <p:cNvSpPr/>
          <p:nvPr/>
        </p:nvSpPr>
        <p:spPr>
          <a:xfrm>
            <a:off x="438150" y="7267129"/>
            <a:ext cx="7600950" cy="16240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279"/>
              </a:lnSpc>
              <a:buNone/>
            </a:pPr>
            <a:r>
              <a:rPr lang="en-US" sz="850" dirty="0">
                <a:solidFill>
                  <a:srgbClr val="5C60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SOFSA · Presupuesto 2027 · Elaborado por la Subgerencia de Presupuesto y Control de Gestión · consultas: emmanuel.miranda@trenesargentinos.gob.ar</a:t>
            </a:r>
            <a:endParaRPr lang="en-US" sz="850" dirty="0"/>
          </a:p>
        </p:txBody>
      </p:sp>
      <p:sp>
        <p:nvSpPr>
          <p:cNvPr id="8" name="Text 5"/>
          <p:cNvSpPr/>
          <p:nvPr/>
        </p:nvSpPr>
        <p:spPr>
          <a:xfrm>
            <a:off x="9896475" y="7267129"/>
            <a:ext cx="742950" cy="16240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279"/>
              </a:lnSpc>
              <a:buNone/>
            </a:pPr>
            <a:r>
              <a:rPr lang="en-US" sz="850" dirty="0">
                <a:solidFill>
                  <a:srgbClr val="5C60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 / 21</a:t>
            </a:r>
            <a:endParaRPr lang="en-US" sz="8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696575" cy="756285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0696575" cy="57150"/>
          </a:xfrm>
          <a:prstGeom prst="rect">
            <a:avLst/>
          </a:prstGeom>
          <a:solidFill>
            <a:srgbClr val="E7B860"/>
          </a:solidFill>
          <a:ln/>
        </p:spPr>
      </p:sp>
      <p:sp>
        <p:nvSpPr>
          <p:cNvPr id="4" name="Text 2"/>
          <p:cNvSpPr/>
          <p:nvPr/>
        </p:nvSpPr>
        <p:spPr>
          <a:xfrm>
            <a:off x="495300" y="438150"/>
            <a:ext cx="9763125" cy="885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488"/>
              </a:lnSpc>
              <a:buNone/>
            </a:pPr>
            <a:r>
              <a:rPr lang="en-US" sz="2900" b="1" dirty="0">
                <a:solidFill>
                  <a:srgbClr val="222C4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 </a:t>
            </a:r>
            <a:pPr algn="l" indent="0" marL="0">
              <a:lnSpc>
                <a:spcPts val="3488"/>
              </a:lnSpc>
              <a:buNone/>
            </a:pPr>
            <a:r>
              <a:rPr lang="en-US" sz="2050" b="1" dirty="0">
                <a:solidFill>
                  <a:srgbClr val="222C4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Seguridad operacional, mantenimiento y calidad del servicio · proyectos y productos</a:t>
            </a:r>
            <a:endParaRPr lang="en-US" sz="2900" dirty="0"/>
          </a:p>
        </p:txBody>
      </p:sp>
      <p:sp>
        <p:nvSpPr>
          <p:cNvPr id="5" name="Text 3"/>
          <p:cNvSpPr/>
          <p:nvPr/>
        </p:nvSpPr>
        <p:spPr>
          <a:xfrm>
            <a:off x="495300" y="1419225"/>
            <a:ext cx="10086975" cy="19931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569"/>
              </a:lnSpc>
              <a:buNone/>
            </a:pPr>
            <a:r>
              <a:rPr lang="en-US" sz="1000" dirty="0">
                <a:solidFill>
                  <a:srgbClr val="5C60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132 proyectos con techo · 221 productos · techo $ 505.406 M · cobertura 34,1%</a:t>
            </a:r>
            <a:endParaRPr lang="en-US" sz="1000" dirty="0"/>
          </a:p>
        </p:txBody>
      </p:sp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95300" y="1713756"/>
          <a:ext cx="9705975" cy="914400"/>
        </p:xfrm>
        <a:graphic>
          <a:graphicData uri="http://schemas.openxmlformats.org/drawingml/2006/table">
            <a:tbl>
              <a:tblPr/>
              <a:tblGrid>
                <a:gridCol w="3674566"/>
                <a:gridCol w="4106912"/>
                <a:gridCol w="1080641"/>
                <a:gridCol w="843855"/>
              </a:tblGrid>
              <a:tr h="3220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spc="9" kern="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Proyecto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5250" marR="9525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22C4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spc="9" kern="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Productos principales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5250" marR="9525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22C4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spc="9" kern="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Techo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5250" marR="9525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22C4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spc="9" kern="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Cobertura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5250" marR="9525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22C4F"/>
                    </a:solidFill>
                  </a:tcPr>
                </a:tc>
              </a:tr>
              <a:tr h="70842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C1E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Fortalecimiento de la gestión operativa y seguridad del Servicio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5C60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Material Rodante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5250" marR="9525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C1E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Adquisición de repuestos generales de MR · Servicio de reparación de Material Rodante · Servicio de inspección en talleres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5250" marR="9525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C1E27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$ 86.495 M</a:t>
                      </a:r>
                      <a:endParaRPr lang="en-US" sz="10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5250" marR="9525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C1E27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15,7%</a:t>
                      </a:r>
                      <a:endParaRPr lang="en-US" sz="10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5250" marR="9525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713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C1E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Adquisición de 17 Triplas de Trocha Ancha para los servicios p…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5C60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Material Rodante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5250" marR="9525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C1E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Emergencia Ferroviaria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5250" marR="9525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C1E27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$ 42.671 M</a:t>
                      </a:r>
                      <a:endParaRPr lang="en-US" sz="10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5250" marR="9525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C1E27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90,3%</a:t>
                      </a:r>
                      <a:endParaRPr lang="en-US" sz="10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5250" marR="9525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713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C1E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Fortalecimiento de la gestión operativa y seguridad del Servicio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5C60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Gcia. De Coord. Adm.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5250" marR="9525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C1E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Abastecimiento Energético Crítico para l…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5250" marR="9525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C1E27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$ 41.036 M</a:t>
                      </a:r>
                      <a:endParaRPr lang="en-US" sz="10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5250" marR="9525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C1E27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30,7%</a:t>
                      </a:r>
                      <a:endParaRPr lang="en-US" sz="10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5250" marR="9525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713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C1E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Adquisición de 7 Séxtuplas de Trocha Angosta para la Línea Bel…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5C60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Material Rodante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5250" marR="9525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C1E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Emergencia Ferroviaria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5250" marR="9525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C1E27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$ 35.188 M</a:t>
                      </a:r>
                      <a:endParaRPr lang="en-US" sz="10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5250" marR="9525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C1E27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52,4%</a:t>
                      </a:r>
                      <a:endParaRPr lang="en-US" sz="10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5250" marR="9525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6285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C1E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Sostenimiento de la Gestión de Combustible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5C60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Planta Combustible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5250" marR="9525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C1E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Estaciones de Servicio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5250" marR="9525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C1E27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$ 34.883 M</a:t>
                      </a:r>
                      <a:endParaRPr lang="en-US" sz="10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5250" marR="9525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C1E27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80,1%</a:t>
                      </a:r>
                      <a:endParaRPr lang="en-US" sz="10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5250" marR="9525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713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C1E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Fortalecimiento de la gestión operativa y seguridad del Servicio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5C60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Gcia.Ing.e Infraest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5250" marR="9525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C1E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Obras de Vía · Repuestos Estratégicos para Sistemas de … · Mantenimiento de zona de vía </a:t>
                      </a:r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5C60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+3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5250" marR="9525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C1E27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$ 33.650 M</a:t>
                      </a:r>
                      <a:endParaRPr lang="en-US" sz="10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5250" marR="9525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C1E27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16,8%</a:t>
                      </a:r>
                      <a:endParaRPr lang="en-US" sz="10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5250" marR="9525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713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C1E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Adquisición de 8 Triplas de Trocha Ancha para los servicios Pe…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5C60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Material Rodante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5250" marR="9525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C1E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Emergencia Ferroviaria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5250" marR="9525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C1E27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$ 20.080 M</a:t>
                      </a:r>
                      <a:endParaRPr lang="en-US" sz="10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5250" marR="9525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C1E27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90,3%</a:t>
                      </a:r>
                      <a:endParaRPr lang="en-US" sz="10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5250" marR="9525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 4"/>
          <p:cNvSpPr/>
          <p:nvPr/>
        </p:nvSpPr>
        <p:spPr>
          <a:xfrm>
            <a:off x="438150" y="7267129"/>
            <a:ext cx="7600950" cy="16240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279"/>
              </a:lnSpc>
              <a:buNone/>
            </a:pPr>
            <a:r>
              <a:rPr lang="en-US" sz="850" dirty="0">
                <a:solidFill>
                  <a:srgbClr val="5C60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SOFSA · Presupuesto 2027 · Elaborado por la Subgerencia de Presupuesto y Control de Gestión · consultas: emmanuel.miranda@trenesargentinos.gob.ar</a:t>
            </a:r>
            <a:endParaRPr lang="en-US" sz="850" dirty="0"/>
          </a:p>
        </p:txBody>
      </p:sp>
      <p:sp>
        <p:nvSpPr>
          <p:cNvPr id="8" name="Text 5"/>
          <p:cNvSpPr/>
          <p:nvPr/>
        </p:nvSpPr>
        <p:spPr>
          <a:xfrm>
            <a:off x="9896475" y="7267129"/>
            <a:ext cx="742950" cy="16240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279"/>
              </a:lnSpc>
              <a:buNone/>
            </a:pPr>
            <a:r>
              <a:rPr lang="en-US" sz="850" dirty="0">
                <a:solidFill>
                  <a:srgbClr val="5C60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 / 21</a:t>
            </a:r>
            <a:endParaRPr lang="en-US" sz="8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696575" cy="756285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0696575" cy="57150"/>
          </a:xfrm>
          <a:prstGeom prst="rect">
            <a:avLst/>
          </a:prstGeom>
          <a:solidFill>
            <a:srgbClr val="E7B860"/>
          </a:solidFill>
          <a:ln/>
        </p:spPr>
      </p:sp>
      <p:sp>
        <p:nvSpPr>
          <p:cNvPr id="4" name="Text 2"/>
          <p:cNvSpPr/>
          <p:nvPr/>
        </p:nvSpPr>
        <p:spPr>
          <a:xfrm>
            <a:off x="495300" y="438150"/>
            <a:ext cx="9763125" cy="885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488"/>
              </a:lnSpc>
              <a:buNone/>
            </a:pPr>
            <a:r>
              <a:rPr lang="en-US" sz="2900" b="1" dirty="0">
                <a:solidFill>
                  <a:srgbClr val="C997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 </a:t>
            </a:r>
            <a:pPr algn="l" indent="0" marL="0">
              <a:lnSpc>
                <a:spcPts val="3488"/>
              </a:lnSpc>
              <a:buNone/>
            </a:pPr>
            <a:r>
              <a:rPr lang="en-US" sz="2050" b="1" dirty="0">
                <a:solidFill>
                  <a:srgbClr val="222C4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Gestión administrativa, normativa y de control · proyectos y productos</a:t>
            </a:r>
            <a:endParaRPr lang="en-US" sz="2900" dirty="0"/>
          </a:p>
        </p:txBody>
      </p:sp>
      <p:sp>
        <p:nvSpPr>
          <p:cNvPr id="5" name="Text 3"/>
          <p:cNvSpPr/>
          <p:nvPr/>
        </p:nvSpPr>
        <p:spPr>
          <a:xfrm>
            <a:off x="495300" y="1419225"/>
            <a:ext cx="10086975" cy="19931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569"/>
              </a:lnSpc>
              <a:buNone/>
            </a:pPr>
            <a:r>
              <a:rPr lang="en-US" sz="1000" dirty="0">
                <a:solidFill>
                  <a:srgbClr val="5C60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36 proyectos con techo · 71 productos · techo $ 37.105 M · cobertura 46,5% · sin Impuestos</a:t>
            </a:r>
            <a:endParaRPr lang="en-US" sz="1000" dirty="0"/>
          </a:p>
        </p:txBody>
      </p:sp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95300" y="1713756"/>
          <a:ext cx="9705975" cy="914400"/>
        </p:xfrm>
        <a:graphic>
          <a:graphicData uri="http://schemas.openxmlformats.org/drawingml/2006/table">
            <a:tbl>
              <a:tblPr/>
              <a:tblGrid>
                <a:gridCol w="3707606"/>
                <a:gridCol w="4143821"/>
                <a:gridCol w="1003250"/>
                <a:gridCol w="851297"/>
              </a:tblGrid>
              <a:tr h="3220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spc="9" kern="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Proyecto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5250" marR="9525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22C4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spc="9" kern="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Productos principales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5250" marR="9525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22C4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spc="9" kern="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Techo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5250" marR="9525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22C4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spc="9" kern="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Cobertura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5250" marR="9525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22C4F"/>
                    </a:solidFill>
                  </a:tcPr>
                </a:tc>
              </a:tr>
              <a:tr h="51152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C1E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(sin proyecto asignado)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5C60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Tec. Inf. e In. y 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5250" marR="9525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C1E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Datacenter · (sin producto)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5250" marR="9525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C1E27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$ 6.880 M</a:t>
                      </a:r>
                      <a:endParaRPr lang="en-US" sz="10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5250" marR="9525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C1E27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56,5%</a:t>
                      </a:r>
                      <a:endParaRPr lang="en-US" sz="10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5250" marR="9525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25661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C1E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Eficiencia Administrativa para la Sostenibilidad Operativa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5C60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Sistemas y Procesos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5250" marR="9525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C1E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Servicios profesionales y licencias · Servicios profesionales para el mantenim… · Herramientas de Business Intelligence </a:t>
                      </a:r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5C60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5250" marR="9525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C1E27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$ 5.897 M</a:t>
                      </a:r>
                      <a:endParaRPr lang="en-US" sz="10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5250" marR="9525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C1E27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48,5%</a:t>
                      </a:r>
                      <a:endParaRPr lang="en-US" sz="10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5250" marR="9525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25661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C1E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Gestionar la política preventiva operativa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5C60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Hig, Seg. y Med. Amb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5250" marR="9525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C1E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Indumentaria y elementos de protección p… · Evaluaciones Ambientales para la Gestión…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5250" marR="9525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C1E27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$ 4.169 M</a:t>
                      </a:r>
                      <a:endParaRPr lang="en-US" sz="10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5250" marR="9525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C1E27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27,4%</a:t>
                      </a:r>
                      <a:endParaRPr lang="en-US" sz="10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5250" marR="9525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25661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C1E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Gestión de la política de Seguros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5C60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Adm. de Riesgos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5250" marR="9525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C1E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Responsabilidad Civil Comprensiva (USD) · Automotores ($) · Seguro Técnico (USD) </a:t>
                      </a:r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5C60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+9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5250" marR="9525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C1E27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$ 3.138 M</a:t>
                      </a:r>
                      <a:endParaRPr lang="en-US" sz="10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5250" marR="9525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C1E27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74,7%</a:t>
                      </a:r>
                      <a:endParaRPr lang="en-US" sz="10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5250" marR="9525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6285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C1E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Equipamiento y programas de Computación 2027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5C60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Tec. Inf. e In. y 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5250" marR="9525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C1E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Activos Fijos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5250" marR="9525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C1E27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$ 2.985 M</a:t>
                      </a:r>
                      <a:endParaRPr lang="en-US" sz="10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5250" marR="9525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C1E27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51,7%</a:t>
                      </a:r>
                      <a:endParaRPr lang="en-US" sz="10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5250" marR="9525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713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C1E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Infraestructura Digital y Telecomunicaciones para una Operació…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5C60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Tec. Inf. e In. y 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5250" marR="9525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C1E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Gestión Administrativa Estratégica y Ser…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5250" marR="9525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C1E27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$ 1.876 M</a:t>
                      </a:r>
                      <a:endParaRPr lang="en-US" sz="10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5250" marR="9525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C1E27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56,5%</a:t>
                      </a:r>
                      <a:endParaRPr lang="en-US" sz="10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5250" marR="9525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713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C1E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PROVISION Y PUESTA EN MARCHA DE PLANTAS DE TRATAMIENTO EN PRED…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5C60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Gcia.Ing.e Infraest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5250" marR="9525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C1E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Emergencia Ferroviaria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5250" marR="9525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C1E27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$ 1.167 M</a:t>
                      </a:r>
                      <a:endParaRPr lang="en-US" sz="10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5250" marR="9525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C1E27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51,7%</a:t>
                      </a:r>
                      <a:endParaRPr lang="en-US" sz="10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5250" marR="9525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 4"/>
          <p:cNvSpPr/>
          <p:nvPr/>
        </p:nvSpPr>
        <p:spPr>
          <a:xfrm>
            <a:off x="438150" y="7267129"/>
            <a:ext cx="7600950" cy="16240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279"/>
              </a:lnSpc>
              <a:buNone/>
            </a:pPr>
            <a:r>
              <a:rPr lang="en-US" sz="850" dirty="0">
                <a:solidFill>
                  <a:srgbClr val="5C60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SOFSA · Presupuesto 2027 · Elaborado por la Subgerencia de Presupuesto y Control de Gestión · consultas: emmanuel.miranda@trenesargentinos.gob.ar</a:t>
            </a:r>
            <a:endParaRPr lang="en-US" sz="850" dirty="0"/>
          </a:p>
        </p:txBody>
      </p:sp>
      <p:sp>
        <p:nvSpPr>
          <p:cNvPr id="8" name="Text 5"/>
          <p:cNvSpPr/>
          <p:nvPr/>
        </p:nvSpPr>
        <p:spPr>
          <a:xfrm>
            <a:off x="9896475" y="7267129"/>
            <a:ext cx="742950" cy="16240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279"/>
              </a:lnSpc>
              <a:buNone/>
            </a:pPr>
            <a:r>
              <a:rPr lang="en-US" sz="850" dirty="0">
                <a:solidFill>
                  <a:srgbClr val="5C60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 / 21</a:t>
            </a:r>
            <a:endParaRPr lang="en-US" sz="8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696575" cy="756285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0696575" cy="57150"/>
          </a:xfrm>
          <a:prstGeom prst="rect">
            <a:avLst/>
          </a:prstGeom>
          <a:solidFill>
            <a:srgbClr val="E7B860"/>
          </a:solidFill>
          <a:ln/>
        </p:spPr>
      </p:sp>
      <p:sp>
        <p:nvSpPr>
          <p:cNvPr id="4" name="Text 2"/>
          <p:cNvSpPr/>
          <p:nvPr/>
        </p:nvSpPr>
        <p:spPr>
          <a:xfrm>
            <a:off x="495300" y="438150"/>
            <a:ext cx="9763125" cy="885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488"/>
              </a:lnSpc>
              <a:buNone/>
            </a:pPr>
            <a:r>
              <a:rPr lang="en-US" sz="2900" b="1" dirty="0">
                <a:solidFill>
                  <a:srgbClr val="2E8B7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 </a:t>
            </a:r>
            <a:pPr algn="l" indent="0" marL="0">
              <a:lnSpc>
                <a:spcPts val="3488"/>
              </a:lnSpc>
              <a:buNone/>
            </a:pPr>
            <a:r>
              <a:rPr lang="en-US" sz="2050" b="1" dirty="0">
                <a:solidFill>
                  <a:srgbClr val="222C4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Organización, personas y eficiencia de recursos · proyectos y productos</a:t>
            </a:r>
            <a:endParaRPr lang="en-US" sz="2900" dirty="0"/>
          </a:p>
        </p:txBody>
      </p:sp>
      <p:sp>
        <p:nvSpPr>
          <p:cNvPr id="5" name="Text 3"/>
          <p:cNvSpPr/>
          <p:nvPr/>
        </p:nvSpPr>
        <p:spPr>
          <a:xfrm>
            <a:off x="495300" y="1419225"/>
            <a:ext cx="10086975" cy="19931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569"/>
              </a:lnSpc>
              <a:buNone/>
            </a:pPr>
            <a:r>
              <a:rPr lang="en-US" sz="1000" dirty="0">
                <a:solidFill>
                  <a:srgbClr val="5C60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51 proyectos con techo · 107 productos · techo $ 47.802 M · cobertura 38,0% · sin Personal</a:t>
            </a:r>
            <a:endParaRPr lang="en-US" sz="1000" dirty="0"/>
          </a:p>
        </p:txBody>
      </p:sp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95300" y="1713756"/>
          <a:ext cx="9705975" cy="914400"/>
        </p:xfrm>
        <a:graphic>
          <a:graphicData uri="http://schemas.openxmlformats.org/drawingml/2006/table">
            <a:tbl>
              <a:tblPr/>
              <a:tblGrid>
                <a:gridCol w="3674566"/>
                <a:gridCol w="4106912"/>
                <a:gridCol w="1080641"/>
                <a:gridCol w="843855"/>
              </a:tblGrid>
              <a:tr h="3220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spc="9" kern="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Proyecto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5250" marR="9525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22C4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spc="9" kern="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Productos principales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5250" marR="9525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22C4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spc="9" kern="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Techo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5250" marR="9525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22C4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spc="9" kern="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Cobertura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5250" marR="9525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22C4F"/>
                    </a:solidFill>
                  </a:tcPr>
                </a:tc>
              </a:tr>
              <a:tr h="52089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C1E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Administración operativa de la flota vehicular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5C60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Automotores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5250" marR="9525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C1E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Servicio de alquiler de vehículos · Provisión de Combustible · Servicio de reparación de flota vehicular </a:t>
                      </a:r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5C60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+7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5250" marR="9525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C1E27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$ 10.978 M</a:t>
                      </a:r>
                      <a:endParaRPr lang="en-US" sz="10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5250" marR="9525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C1E27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48,5%</a:t>
                      </a:r>
                      <a:endParaRPr lang="en-US" sz="10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5250" marR="9525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25661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C1E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Eficiencia Administrativa para la Sostenibilidad Operativa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5C60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Gcia. De Coord. Adm.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5250" marR="9525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C1E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Gestión Administrativa Estratégica y Ser… · Gestión Operativa de Fondos y Recaudación · Costos Financieros Operativos </a:t>
                      </a:r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5C60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+3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5250" marR="9525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C1E27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$ 10.673 M</a:t>
                      </a:r>
                      <a:endParaRPr lang="en-US" sz="10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5250" marR="9525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C1E27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30,7%</a:t>
                      </a:r>
                      <a:endParaRPr lang="en-US" sz="10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5250" marR="9525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6285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C1E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Eficiencia Administrativa para la Sostenibilidad Operativa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5C60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Planific. de Compras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5250" marR="9525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C1E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Gestión Administrativa Estratégica y Ser…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5250" marR="9525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C1E27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$ 3.862 M</a:t>
                      </a:r>
                      <a:endParaRPr lang="en-US" sz="10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5250" marR="9525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C1E27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28,9%</a:t>
                      </a:r>
                      <a:endParaRPr lang="en-US" sz="10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5250" marR="9525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713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C1E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Plan de adecuación edilicia en almacenes, depósitos y pañoles …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5C60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Gcia.Ing.e Infraest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5250" marR="9525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C1E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Obras de Inversión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5250" marR="9525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C1E27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$ 2.580 M</a:t>
                      </a:r>
                      <a:endParaRPr lang="en-US" sz="10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5250" marR="9525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C1E27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51,7%</a:t>
                      </a:r>
                      <a:endParaRPr lang="en-US" sz="10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5250" marR="9525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713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C1E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PLAN DE ADECUACIÓN DE DEPENDENCIAS OPERATIVAS AMBA Y REG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5C60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Gcia.Ing.e Infraest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5250" marR="9525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C1E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Obras de Inversión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5250" marR="9525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C1E27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$ 2.188 M</a:t>
                      </a:r>
                      <a:endParaRPr lang="en-US" sz="10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5250" marR="9525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C1E27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51,7%</a:t>
                      </a:r>
                      <a:endParaRPr lang="en-US" sz="10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5250" marR="9525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6285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C1E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ALMACEN DE CABECERA TAPIALES – LINEA BELGRANO SUR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5C60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Gcia.Ing.e Infraest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5250" marR="9525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C1E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Obras de Inversión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5250" marR="9525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C1E27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$ 2.059 M</a:t>
                      </a:r>
                      <a:endParaRPr lang="en-US" sz="10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5250" marR="9525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C1E27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51,7%</a:t>
                      </a:r>
                      <a:endParaRPr lang="en-US" sz="10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5250" marR="9525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6285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C1E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Optimización Logística y de Abastecimiento Ferroviario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5C60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Gcia. Abast. y Log.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5250" marR="9525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C1E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Centros Estratégicos de Abastecimiento F…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5250" marR="9525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C1E27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$ 1.798 M</a:t>
                      </a:r>
                      <a:endParaRPr lang="en-US" sz="10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5250" marR="9525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C1E27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28,0%</a:t>
                      </a:r>
                      <a:endParaRPr lang="en-US" sz="10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5250" marR="9525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 4"/>
          <p:cNvSpPr/>
          <p:nvPr/>
        </p:nvSpPr>
        <p:spPr>
          <a:xfrm>
            <a:off x="438150" y="7267129"/>
            <a:ext cx="7600950" cy="16240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279"/>
              </a:lnSpc>
              <a:buNone/>
            </a:pPr>
            <a:r>
              <a:rPr lang="en-US" sz="850" dirty="0">
                <a:solidFill>
                  <a:srgbClr val="5C60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SOFSA · Presupuesto 2027 · Elaborado por la Subgerencia de Presupuesto y Control de Gestión · consultas: emmanuel.miranda@trenesargentinos.gob.ar</a:t>
            </a:r>
            <a:endParaRPr lang="en-US" sz="850" dirty="0"/>
          </a:p>
        </p:txBody>
      </p:sp>
      <p:sp>
        <p:nvSpPr>
          <p:cNvPr id="8" name="Text 5"/>
          <p:cNvSpPr/>
          <p:nvPr/>
        </p:nvSpPr>
        <p:spPr>
          <a:xfrm>
            <a:off x="9896475" y="7267129"/>
            <a:ext cx="742950" cy="16240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279"/>
              </a:lnSpc>
              <a:buNone/>
            </a:pPr>
            <a:r>
              <a:rPr lang="en-US" sz="850" dirty="0">
                <a:solidFill>
                  <a:srgbClr val="5C60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 / 21</a:t>
            </a:r>
            <a:endParaRPr lang="en-US" sz="8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696575" cy="756285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0696575" cy="57150"/>
          </a:xfrm>
          <a:prstGeom prst="rect">
            <a:avLst/>
          </a:prstGeom>
          <a:solidFill>
            <a:srgbClr val="E7B860"/>
          </a:solidFill>
          <a:ln/>
        </p:spPr>
      </p:sp>
      <p:sp>
        <p:nvSpPr>
          <p:cNvPr id="4" name="Text 2"/>
          <p:cNvSpPr/>
          <p:nvPr/>
        </p:nvSpPr>
        <p:spPr>
          <a:xfrm>
            <a:off x="495300" y="438150"/>
            <a:ext cx="10086975" cy="44291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3488"/>
              </a:lnSpc>
              <a:buNone/>
            </a:pPr>
            <a:r>
              <a:rPr lang="en-US" sz="2050" b="1" dirty="0">
                <a:solidFill>
                  <a:srgbClr val="222C4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Gasto discrecional por lineamiento</a:t>
            </a:r>
            <a:endParaRPr lang="en-US" sz="205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495300" y="1052512"/>
          <a:ext cx="9705975" cy="49530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Text 3"/>
          <p:cNvSpPr/>
          <p:nvPr/>
        </p:nvSpPr>
        <p:spPr>
          <a:xfrm>
            <a:off x="495300" y="6100763"/>
            <a:ext cx="10086975" cy="19931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569"/>
              </a:lnSpc>
              <a:buNone/>
            </a:pPr>
            <a:r>
              <a:rPr lang="en-US" sz="1000" dirty="0">
                <a:solidFill>
                  <a:srgbClr val="5C60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Excluye Gastos en Personal e Impuestos ($ 1.093.742 M). Se comparan requerido y techo; el porcentaje indica la cobertura.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438150" y="7267129"/>
            <a:ext cx="7600950" cy="16240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279"/>
              </a:lnSpc>
              <a:buNone/>
            </a:pPr>
            <a:r>
              <a:rPr lang="en-US" sz="850" dirty="0">
                <a:solidFill>
                  <a:srgbClr val="5C60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SOFSA · Presupuesto 2027 · Elaborado por la Subgerencia de Presupuesto y Control de Gestión · consultas: emmanuel.miranda@trenesargentinos.gob.ar</a:t>
            </a:r>
            <a:endParaRPr lang="en-US" sz="850" dirty="0"/>
          </a:p>
        </p:txBody>
      </p:sp>
      <p:sp>
        <p:nvSpPr>
          <p:cNvPr id="8" name="Text 5"/>
          <p:cNvSpPr/>
          <p:nvPr/>
        </p:nvSpPr>
        <p:spPr>
          <a:xfrm>
            <a:off x="9896475" y="7267129"/>
            <a:ext cx="742950" cy="16240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279"/>
              </a:lnSpc>
              <a:buNone/>
            </a:pPr>
            <a:r>
              <a:rPr lang="en-US" sz="850" dirty="0">
                <a:solidFill>
                  <a:srgbClr val="5C60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 / 21</a:t>
            </a:r>
            <a:endParaRPr lang="en-US" sz="8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696575" cy="756285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0696575" cy="57150"/>
          </a:xfrm>
          <a:prstGeom prst="rect">
            <a:avLst/>
          </a:prstGeom>
          <a:solidFill>
            <a:srgbClr val="E7B860"/>
          </a:solidFill>
          <a:ln/>
        </p:spPr>
      </p:sp>
      <p:sp>
        <p:nvSpPr>
          <p:cNvPr id="4" name="Text 2"/>
          <p:cNvSpPr/>
          <p:nvPr/>
        </p:nvSpPr>
        <p:spPr>
          <a:xfrm>
            <a:off x="495300" y="438150"/>
            <a:ext cx="10086975" cy="44291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3488"/>
              </a:lnSpc>
              <a:buNone/>
            </a:pPr>
            <a:r>
              <a:rPr lang="en-US" sz="2050" b="1" dirty="0">
                <a:solidFill>
                  <a:srgbClr val="222C4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Interdependencia de las premisas</a:t>
            </a:r>
            <a:endParaRPr lang="en-US" sz="2050" dirty="0"/>
          </a:p>
        </p:txBody>
      </p:sp>
      <p:sp>
        <p:nvSpPr>
          <p:cNvPr id="5" name="Shape 3"/>
          <p:cNvSpPr/>
          <p:nvPr/>
        </p:nvSpPr>
        <p:spPr>
          <a:xfrm>
            <a:off x="495300" y="1052512"/>
            <a:ext cx="4786313" cy="1062633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6" name="Shape 4"/>
          <p:cNvSpPr/>
          <p:nvPr/>
        </p:nvSpPr>
        <p:spPr>
          <a:xfrm>
            <a:off x="495300" y="1052512"/>
            <a:ext cx="38100" cy="1062633"/>
          </a:xfrm>
          <a:prstGeom prst="rect">
            <a:avLst/>
          </a:prstGeom>
          <a:solidFill>
            <a:srgbClr val="E7B860"/>
          </a:solidFill>
          <a:ln/>
        </p:spPr>
      </p:sp>
      <p:sp>
        <p:nvSpPr>
          <p:cNvPr id="7" name="Text 5"/>
          <p:cNvSpPr/>
          <p:nvPr/>
        </p:nvSpPr>
        <p:spPr>
          <a:xfrm>
            <a:off x="685800" y="1166812"/>
            <a:ext cx="4824412" cy="44291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3488"/>
              </a:lnSpc>
              <a:buNone/>
            </a:pPr>
            <a:r>
              <a:rPr lang="en-US" sz="2050" b="1" dirty="0">
                <a:solidFill>
                  <a:srgbClr val="222C4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$ 358.375 M</a:t>
            </a:r>
            <a:endParaRPr lang="en-US" sz="2050" dirty="0"/>
          </a:p>
        </p:txBody>
      </p:sp>
      <p:sp>
        <p:nvSpPr>
          <p:cNvPr id="8" name="Text 6"/>
          <p:cNvSpPr/>
          <p:nvPr/>
        </p:nvSpPr>
        <p:spPr>
          <a:xfrm>
            <a:off x="685800" y="1609725"/>
            <a:ext cx="4824412" cy="20669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27"/>
              </a:lnSpc>
              <a:buNone/>
            </a:pPr>
            <a:r>
              <a:rPr lang="en-US" sz="1050" b="1" dirty="0">
                <a:solidFill>
                  <a:srgbClr val="1C1E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Techo en proyectos multi-premisa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685800" y="1816298"/>
            <a:ext cx="4824412" cy="18454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453"/>
              </a:lnSpc>
              <a:buNone/>
            </a:pPr>
            <a:r>
              <a:rPr lang="en-US" sz="950" dirty="0">
                <a:solidFill>
                  <a:srgbClr val="5C60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48,2% del discrecional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5414963" y="1052512"/>
            <a:ext cx="4786313" cy="1062633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11" name="Shape 9"/>
          <p:cNvSpPr/>
          <p:nvPr/>
        </p:nvSpPr>
        <p:spPr>
          <a:xfrm>
            <a:off x="5414963" y="1052512"/>
            <a:ext cx="38100" cy="1062633"/>
          </a:xfrm>
          <a:prstGeom prst="rect">
            <a:avLst/>
          </a:prstGeom>
          <a:solidFill>
            <a:srgbClr val="E7B860"/>
          </a:solidFill>
          <a:ln/>
        </p:spPr>
      </p:sp>
      <p:sp>
        <p:nvSpPr>
          <p:cNvPr id="12" name="Text 10"/>
          <p:cNvSpPr/>
          <p:nvPr/>
        </p:nvSpPr>
        <p:spPr>
          <a:xfrm>
            <a:off x="5605463" y="1166812"/>
            <a:ext cx="4824412" cy="44291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3488"/>
              </a:lnSpc>
              <a:buNone/>
            </a:pPr>
            <a:r>
              <a:rPr lang="en-US" sz="2050" b="1" dirty="0">
                <a:solidFill>
                  <a:srgbClr val="222C4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52</a:t>
            </a:r>
            <a:endParaRPr lang="en-US" sz="2050" dirty="0"/>
          </a:p>
        </p:txBody>
      </p:sp>
      <p:sp>
        <p:nvSpPr>
          <p:cNvPr id="13" name="Text 11"/>
          <p:cNvSpPr/>
          <p:nvPr/>
        </p:nvSpPr>
        <p:spPr>
          <a:xfrm>
            <a:off x="5605463" y="1609725"/>
            <a:ext cx="4824412" cy="20669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27"/>
              </a:lnSpc>
              <a:buNone/>
            </a:pPr>
            <a:r>
              <a:rPr lang="en-US" sz="1050" b="1" dirty="0">
                <a:solidFill>
                  <a:srgbClr val="1C1E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Proyectos que profundizan ≥ 2 premisas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5605463" y="1816298"/>
            <a:ext cx="4824412" cy="18454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453"/>
              </a:lnSpc>
              <a:buNone/>
            </a:pPr>
            <a:r>
              <a:rPr lang="en-US" sz="950" dirty="0">
                <a:solidFill>
                  <a:srgbClr val="5C60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según la síntesis de Presidencia, son los prioritarios</a:t>
            </a:r>
            <a:endParaRPr lang="en-US" sz="950" dirty="0"/>
          </a:p>
        </p:txBody>
      </p:sp>
      <p:graphicFrame>
        <p:nvGraphicFramePr>
          <p:cNvPr id="1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95300" y="2267545"/>
          <a:ext cx="9705975" cy="914400"/>
        </p:xfrm>
        <a:graphic>
          <a:graphicData uri="http://schemas.openxmlformats.org/drawingml/2006/table">
            <a:tbl>
              <a:tblPr/>
              <a:tblGrid>
                <a:gridCol w="6060579"/>
                <a:gridCol w="1158925"/>
                <a:gridCol w="1396305"/>
                <a:gridCol w="1090166"/>
              </a:tblGrid>
              <a:tr h="3220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spc="9" kern="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Proyectos transversales de mayor peso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5250" marR="9525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22C4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spc="9" kern="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Premisas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5250" marR="9525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22C4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spc="9" kern="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Techo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5250" marR="9525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22C4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spc="9" kern="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Cobertura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5250" marR="9525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22C4F"/>
                    </a:solidFill>
                  </a:tcPr>
                </a:tc>
              </a:tr>
              <a:tr h="35480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C1E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Fortalecimiento de la gestión operativa y seguridad del Servicio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5250" marR="9525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5250" marR="9525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C1E27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$ 86.495 M</a:t>
                      </a:r>
                      <a:endParaRPr lang="en-US" sz="10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5250" marR="9525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C1E27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15,7%</a:t>
                      </a:r>
                      <a:endParaRPr lang="en-US" sz="10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5250" marR="9525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5956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C1E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Adquisición de 17 Triplas de Trocha Ancha para los servicios perifér…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5250" marR="9525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5250" marR="9525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C1E27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$ 42.671 M</a:t>
                      </a:r>
                      <a:endParaRPr lang="en-US" sz="10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5250" marR="9525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C1E27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90,3%</a:t>
                      </a:r>
                      <a:endParaRPr lang="en-US" sz="10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5250" marR="9525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5956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C1E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Fortalecimiento de la gestión operativa y seguridad del Servicio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5250" marR="9525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5250" marR="9525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C1E27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$ 36.734 M</a:t>
                      </a:r>
                      <a:endParaRPr lang="en-US" sz="10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5250" marR="9525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C1E27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16,8%</a:t>
                      </a:r>
                      <a:endParaRPr lang="en-US" sz="10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5250" marR="9525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5956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C1E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Fortalecimiento de la gestión operativa y seguridad del Servicio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5250" marR="9525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5250" marR="9525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C1E27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$ 35.388 M</a:t>
                      </a:r>
                      <a:endParaRPr lang="en-US" sz="10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5250" marR="9525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C1E27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28,9%</a:t>
                      </a:r>
                      <a:endParaRPr lang="en-US" sz="10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5250" marR="9525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5956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C1E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Adquisición de 7 Séxtuplas de Trocha Angosta para la Línea Belgrano …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5250" marR="9525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5250" marR="9525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C1E27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$ 35.188 M</a:t>
                      </a:r>
                      <a:endParaRPr lang="en-US" sz="10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5250" marR="9525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C1E27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52,4%</a:t>
                      </a:r>
                      <a:endParaRPr lang="en-US" sz="10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5250" marR="9525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5956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C1E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Adquisición de 8 Triplas de Trocha Ancha para los servicios Periféri…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5250" marR="9525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5250" marR="9525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C1E27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$ 20.080 M</a:t>
                      </a:r>
                      <a:endParaRPr lang="en-US" sz="10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5250" marR="9525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C1E27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90,3%</a:t>
                      </a:r>
                      <a:endParaRPr lang="en-US" sz="10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5250" marR="9525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5956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C1E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Adquisición de 8 Triplas de Trocha Ancha para los servicios periféri…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5250" marR="9525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5250" marR="9525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C1E27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$ 20.080 M</a:t>
                      </a:r>
                      <a:endParaRPr lang="en-US" sz="10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5250" marR="9525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C1E27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90,3%</a:t>
                      </a:r>
                      <a:endParaRPr lang="en-US" sz="10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5250" marR="9525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6" name="Text 13"/>
          <p:cNvSpPr/>
          <p:nvPr/>
        </p:nvSpPr>
        <p:spPr>
          <a:xfrm>
            <a:off x="438150" y="7267129"/>
            <a:ext cx="7600950" cy="16240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279"/>
              </a:lnSpc>
              <a:buNone/>
            </a:pPr>
            <a:r>
              <a:rPr lang="en-US" sz="850" dirty="0">
                <a:solidFill>
                  <a:srgbClr val="5C60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SOFSA · Presupuesto 2027 · Elaborado por la Subgerencia de Presupuesto y Control de Gestión · consultas: emmanuel.miranda@trenesargentinos.gob.ar</a:t>
            </a:r>
            <a:endParaRPr lang="en-US" sz="850" dirty="0"/>
          </a:p>
        </p:txBody>
      </p:sp>
      <p:sp>
        <p:nvSpPr>
          <p:cNvPr id="17" name="Text 14"/>
          <p:cNvSpPr/>
          <p:nvPr/>
        </p:nvSpPr>
        <p:spPr>
          <a:xfrm>
            <a:off x="9896475" y="7267129"/>
            <a:ext cx="742950" cy="16240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279"/>
              </a:lnSpc>
              <a:buNone/>
            </a:pPr>
            <a:r>
              <a:rPr lang="en-US" sz="850" dirty="0">
                <a:solidFill>
                  <a:srgbClr val="5C60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 / 21</a:t>
            </a:r>
            <a:endParaRPr lang="en-US" sz="8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696575" cy="756285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0696575" cy="57150"/>
          </a:xfrm>
          <a:prstGeom prst="rect">
            <a:avLst/>
          </a:prstGeom>
          <a:solidFill>
            <a:srgbClr val="E7B860"/>
          </a:solidFill>
          <a:ln/>
        </p:spPr>
      </p:sp>
      <p:sp>
        <p:nvSpPr>
          <p:cNvPr id="4" name="Text 2"/>
          <p:cNvSpPr/>
          <p:nvPr/>
        </p:nvSpPr>
        <p:spPr>
          <a:xfrm>
            <a:off x="495300" y="438150"/>
            <a:ext cx="10086975" cy="44291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3488"/>
              </a:lnSpc>
              <a:buNone/>
            </a:pPr>
            <a:r>
              <a:rPr lang="en-US" sz="2050" b="1" dirty="0">
                <a:solidFill>
                  <a:srgbClr val="222C4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Brechas frente a los lineamientos</a:t>
            </a:r>
            <a:endParaRPr lang="en-US" sz="2050" dirty="0"/>
          </a:p>
        </p:txBody>
      </p:sp>
      <p:graphicFrame>
        <p:nvGraphicFramePr>
          <p:cNvPr id="2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95300" y="1052512"/>
          <a:ext cx="9705975" cy="914400"/>
        </p:xfrm>
        <a:graphic>
          <a:graphicData uri="http://schemas.openxmlformats.org/drawingml/2006/table">
            <a:tbl>
              <a:tblPr/>
              <a:tblGrid>
                <a:gridCol w="5491758"/>
                <a:gridCol w="2106960"/>
                <a:gridCol w="1029593"/>
                <a:gridCol w="1077664"/>
              </a:tblGrid>
              <a:tr h="3220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spc="9" kern="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Compromiso de Presidencia sin financiamiento suficiente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5250" marR="9525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22C4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spc="9" kern="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Premisa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5250" marR="9525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22C4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spc="9" kern="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Requerido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5250" marR="9525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22C4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spc="9" kern="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Techo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5250" marR="9525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22C4F"/>
                    </a:solidFill>
                  </a:tcPr>
                </a:tc>
              </a:tr>
              <a:tr h="3723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C1E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Limpieza reforzada de formaciones y estaciones (contratos, insumos, dotación)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5250" marR="9525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2E6FA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 · Experiencia del pasajero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5250" marR="9525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C1E27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$ 49.475 M</a:t>
                      </a:r>
                      <a:endParaRPr lang="en-US" sz="10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5250" marR="9525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C1E27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$ 9.837 M</a:t>
                      </a:r>
                      <a:endParaRPr lang="en-US" sz="10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5250" marR="9525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7713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C1E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Estudio de demanda por franja horaria y línea (insumo para rediseño de diagramas)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5250" marR="9525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2E6FA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 · Experiencia del pasajero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5250" marR="9525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C1E27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—</a:t>
                      </a:r>
                      <a:endParaRPr lang="en-US" sz="10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5250" marR="9525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sin partida</a:t>
                      </a:r>
                      <a:endParaRPr lang="en-US" sz="10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5250" marR="9525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7713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C1E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Piloto de servicios rápidos o diferenciales en al menos una línea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5250" marR="9525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2E6FA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 · Experiencia del pasajero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5250" marR="9525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C1E27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—</a:t>
                      </a:r>
                      <a:endParaRPr lang="en-US" sz="10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5250" marR="9525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sin partida</a:t>
                      </a:r>
                      <a:endParaRPr lang="en-US" sz="10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5250" marR="9525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7713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C1E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Campaña de comunicación institucional con métricas de percepción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5250" marR="9525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2E6FA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 · Experiencia del pasajero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5250" marR="9525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C1E27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$ 949 M</a:t>
                      </a:r>
                      <a:endParaRPr lang="en-US" sz="10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5250" marR="9525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C1E27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$ 112 M</a:t>
                      </a:r>
                      <a:endParaRPr lang="en-US" sz="10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5250" marR="9525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7713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C1E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Repuestos e insumos críticos de talleres, priorizados según criticidad de flota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5250" marR="9525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222C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 · Seguridad y mantenimiento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5250" marR="9525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C1E27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$ 405.516 M</a:t>
                      </a:r>
                      <a:endParaRPr lang="en-US" sz="10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5250" marR="9525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C1E27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$ 66.547 M</a:t>
                      </a:r>
                      <a:endParaRPr lang="en-US" sz="10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5250" marR="9525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7713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C1E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Servicios de reparación de material rodante (incluye decanuales)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5250" marR="9525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222C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 · Seguridad y mantenimiento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5250" marR="9525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C1E27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$ 169.411 M</a:t>
                      </a:r>
                      <a:endParaRPr lang="en-US" sz="10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5250" marR="9525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C1E27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$ 26.901 M</a:t>
                      </a:r>
                      <a:endParaRPr lang="en-US" sz="10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5250" marR="9525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7713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C1E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Dotación y capacitación del personal de mantenimiento y seguridad operacional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5250" marR="9525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222C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 · Seguridad y mantenimiento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5250" marR="9525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C1E27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$ 777 M</a:t>
                      </a:r>
                      <a:endParaRPr lang="en-US" sz="10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5250" marR="9525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C1E27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$ 166 M</a:t>
                      </a:r>
                      <a:endParaRPr lang="en-US" sz="10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5250" marR="9525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7713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C1E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Programa de auditorías internas de procesos y procedimientos de seguridad operacional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5250" marR="9525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222C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 · Seguridad y mantenimiento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5250" marR="9525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C1E27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$ 12.433 M</a:t>
                      </a:r>
                      <a:endParaRPr lang="en-US" sz="10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5250" marR="9525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C1E27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$ 2.651 M</a:t>
                      </a:r>
                      <a:endParaRPr lang="en-US" sz="10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5250" marR="9525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7713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C1E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Asesoría legal: relevamiento y actualización de juicios y normativa aplicable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5250" marR="9525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C997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 · Gestión y control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5250" marR="9525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C1E27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$ 6.087 M</a:t>
                      </a:r>
                      <a:endParaRPr lang="en-US" sz="10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5250" marR="9525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C1E27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$ 1.565 M</a:t>
                      </a:r>
                      <a:endParaRPr lang="en-US" sz="10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5250" marR="9525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7713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C1E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Revisión y adecuación de la normativa interna de responsabilidades operativas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5250" marR="9525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C997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 · Gestión y control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5250" marR="9525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C1E27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$ 1.512 M</a:t>
                      </a:r>
                      <a:endParaRPr lang="en-US" sz="10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5250" marR="9525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C1E27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$ 310 M</a:t>
                      </a:r>
                      <a:endParaRPr lang="en-US" sz="10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5250" marR="9525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7713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C1E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Esquema de desarrollo de carrera (capacitación, evaluación de desempeño, promoción interna)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5250" marR="9525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2E8B7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 · Personas y eficiencia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5250" marR="9525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C1E27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$ 449 M</a:t>
                      </a:r>
                      <a:endParaRPr lang="en-US" sz="10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5250" marR="9525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C1E27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$ 123 M</a:t>
                      </a:r>
                      <a:endParaRPr lang="en-US" sz="10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5250" marR="9525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7713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C1E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Relevamiento y eventual rediseño de estructuras organizativas por línea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5250" marR="9525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2E8B7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 · Personas y eficiencia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5250" marR="9525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C1E27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—</a:t>
                      </a:r>
                      <a:endParaRPr lang="en-US" sz="10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5250" marR="9525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sin partida</a:t>
                      </a:r>
                      <a:endParaRPr lang="en-US" sz="10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5250" marR="9525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7713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C1E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Indicadores de eficiencia financiera en el seguimiento presupuestario mensual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5250" marR="9525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2E8B7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 · Personas y eficiencia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5250" marR="9525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C1E27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$ 2.334 M</a:t>
                      </a:r>
                      <a:endParaRPr lang="en-US" sz="10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5250" marR="9525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C1E27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$ 718 M</a:t>
                      </a:r>
                      <a:endParaRPr lang="en-US" sz="10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5250" marR="9525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438150" y="7267129"/>
            <a:ext cx="7600950" cy="16240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279"/>
              </a:lnSpc>
              <a:buNone/>
            </a:pPr>
            <a:r>
              <a:rPr lang="en-US" sz="850" dirty="0">
                <a:solidFill>
                  <a:srgbClr val="5C60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SOFSA · Presupuesto 2027 · Elaborado por la Subgerencia de Presupuesto y Control de Gestión · consultas: emmanuel.miranda@trenesargentinos.gob.ar</a:t>
            </a:r>
            <a:endParaRPr lang="en-US" sz="850" dirty="0"/>
          </a:p>
        </p:txBody>
      </p:sp>
      <p:sp>
        <p:nvSpPr>
          <p:cNvPr id="7" name="Text 4"/>
          <p:cNvSpPr/>
          <p:nvPr/>
        </p:nvSpPr>
        <p:spPr>
          <a:xfrm>
            <a:off x="9896475" y="7267129"/>
            <a:ext cx="742950" cy="16240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279"/>
              </a:lnSpc>
              <a:buNone/>
            </a:pPr>
            <a:r>
              <a:rPr lang="en-US" sz="850" dirty="0">
                <a:solidFill>
                  <a:srgbClr val="5C60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 / 21</a:t>
            </a:r>
            <a:endParaRPr lang="en-US" sz="8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696575" cy="756285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0696575" cy="57150"/>
          </a:xfrm>
          <a:prstGeom prst="rect">
            <a:avLst/>
          </a:prstGeom>
          <a:solidFill>
            <a:srgbClr val="E7B860"/>
          </a:solidFill>
          <a:ln/>
        </p:spPr>
      </p:sp>
      <p:sp>
        <p:nvSpPr>
          <p:cNvPr id="4" name="Text 2"/>
          <p:cNvSpPr/>
          <p:nvPr/>
        </p:nvSpPr>
        <p:spPr>
          <a:xfrm>
            <a:off x="495300" y="438150"/>
            <a:ext cx="10086975" cy="44291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3488"/>
              </a:lnSpc>
              <a:buNone/>
            </a:pPr>
            <a:r>
              <a:rPr lang="en-US" sz="2050" b="1" dirty="0">
                <a:solidFill>
                  <a:srgbClr val="222C4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Riesgos de ejecución</a:t>
            </a:r>
            <a:endParaRPr lang="en-US" sz="2050" dirty="0"/>
          </a:p>
        </p:txBody>
      </p:sp>
      <p:sp>
        <p:nvSpPr>
          <p:cNvPr id="5" name="Text 3"/>
          <p:cNvSpPr/>
          <p:nvPr/>
        </p:nvSpPr>
        <p:spPr>
          <a:xfrm>
            <a:off x="533400" y="1052512"/>
            <a:ext cx="9725025" cy="4723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860"/>
              </a:lnSpc>
              <a:buSzPct val="100000"/>
              <a:buChar char="•"/>
            </a:pPr>
            <a:r>
              <a:rPr lang="en-US" sz="1200" b="1" dirty="0">
                <a:solidFill>
                  <a:srgbClr val="1C1E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Material Rodante:</a:t>
            </a:r>
            <a:pPr algn="l" marL="342900" indent="-342900">
              <a:lnSpc>
                <a:spcPts val="1860"/>
              </a:lnSpc>
              <a:buSzPct val="100000"/>
              <a:buChar char="•"/>
            </a:pPr>
            <a:r>
              <a:rPr lang="en-US" sz="1200" dirty="0">
                <a:solidFill>
                  <a:srgbClr val="1C1E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órdenes de compra comprometidas para 2027 por $ 491.410 M frente a un techo de $ 86.508 M en los incisos 2 y 3, con un </a:t>
            </a:r>
            <a:pPr algn="l" marL="342900" indent="-342900">
              <a:lnSpc>
                <a:spcPts val="1860"/>
              </a:lnSpc>
              <a:buSzPct val="100000"/>
              <a:buChar char="•"/>
            </a:pPr>
            <a:r>
              <a:rPr lang="en-US" sz="1200" b="1" dirty="0">
                <a:solidFill>
                  <a:srgbClr val="1C1E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déficit de $ 404.902 M</a:t>
            </a:r>
            <a:pPr algn="l" marL="342900" indent="-342900">
              <a:lnSpc>
                <a:spcPts val="1860"/>
              </a:lnSpc>
              <a:buSzPct val="100000"/>
              <a:buChar char="•"/>
            </a:pPr>
            <a:r>
              <a:rPr lang="en-US" sz="1200" dirty="0">
                <a:solidFill>
                  <a:srgbClr val="1C1E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533400" y="1601093"/>
            <a:ext cx="9725025" cy="4723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860"/>
              </a:lnSpc>
              <a:buSzPct val="100000"/>
              <a:buChar char="•"/>
            </a:pPr>
            <a:r>
              <a:rPr lang="en-US" sz="1200" dirty="0">
                <a:solidFill>
                  <a:srgbClr val="1C1E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centro(s) gestor(es) registran compromisos 2027 superiores al techo asignado: Gerencia de Material Rodante (−$ 404.902 M); Subgerencia Médica y Salud Ocupacional (−$ 852 M).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533400" y="2149673"/>
            <a:ext cx="9725025" cy="4723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860"/>
              </a:lnSpc>
              <a:buSzPct val="100000"/>
              <a:buChar char="•"/>
            </a:pPr>
            <a:r>
              <a:rPr lang="en-US" sz="1200" b="1" dirty="0">
                <a:solidFill>
                  <a:srgbClr val="1C1E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Revisiones decanuales</a:t>
            </a:r>
            <a:pPr algn="l" marL="342900" indent="-342900">
              <a:lnSpc>
                <a:spcPts val="1860"/>
              </a:lnSpc>
              <a:buSzPct val="100000"/>
              <a:buChar char="•"/>
            </a:pPr>
            <a:r>
              <a:rPr lang="en-US" sz="1200" dirty="0">
                <a:solidFill>
                  <a:srgbClr val="1C1E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(la premisa 2 requiere cobertura total): reparación de material rodante con techo de $ 26.901 M frente a un requerido de $ 169.411 M (15,9%).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533400" y="2698254"/>
            <a:ext cx="9725025" cy="4723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860"/>
              </a:lnSpc>
              <a:buSzPct val="100000"/>
              <a:buChar char="•"/>
            </a:pPr>
            <a:r>
              <a:rPr lang="en-US" sz="1200" dirty="0">
                <a:solidFill>
                  <a:srgbClr val="1C1E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Bienes de Consumo y Servicios No Personales presentan una cobertura del 27,5%. Ante la no asignación del sobre techo corriente ($ 427.203 M), se requerirá priorizar el gasto dentro del techo o gestionar refuerzos presupuestarios durante el ejercicio.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38150" y="7267129"/>
            <a:ext cx="7600950" cy="16240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279"/>
              </a:lnSpc>
              <a:buNone/>
            </a:pPr>
            <a:r>
              <a:rPr lang="en-US" sz="850" dirty="0">
                <a:solidFill>
                  <a:srgbClr val="5C60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SOFSA · Presupuesto 2027 · Elaborado por la Subgerencia de Presupuesto y Control de Gestión · consultas: emmanuel.miranda@trenesargentinos.gob.ar</a:t>
            </a:r>
            <a:endParaRPr lang="en-US" sz="850" dirty="0"/>
          </a:p>
        </p:txBody>
      </p:sp>
      <p:sp>
        <p:nvSpPr>
          <p:cNvPr id="10" name="Text 8"/>
          <p:cNvSpPr/>
          <p:nvPr/>
        </p:nvSpPr>
        <p:spPr>
          <a:xfrm>
            <a:off x="9896475" y="7267129"/>
            <a:ext cx="742950" cy="16240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279"/>
              </a:lnSpc>
              <a:buNone/>
            </a:pPr>
            <a:r>
              <a:rPr lang="en-US" sz="850" dirty="0">
                <a:solidFill>
                  <a:srgbClr val="5C60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 / 21</a:t>
            </a:r>
            <a:endParaRPr lang="en-US" sz="85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696575" cy="756285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0696575" cy="57150"/>
          </a:xfrm>
          <a:prstGeom prst="rect">
            <a:avLst/>
          </a:prstGeom>
          <a:solidFill>
            <a:srgbClr val="E7B860"/>
          </a:solidFill>
          <a:ln/>
        </p:spPr>
      </p:sp>
      <p:sp>
        <p:nvSpPr>
          <p:cNvPr id="4" name="Text 2"/>
          <p:cNvSpPr/>
          <p:nvPr/>
        </p:nvSpPr>
        <p:spPr>
          <a:xfrm>
            <a:off x="495300" y="438150"/>
            <a:ext cx="10086975" cy="44291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3488"/>
              </a:lnSpc>
              <a:buNone/>
            </a:pPr>
            <a:r>
              <a:rPr lang="en-US" sz="2050" b="1" dirty="0">
                <a:solidFill>
                  <a:srgbClr val="222C4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Recomendaciones</a:t>
            </a:r>
            <a:endParaRPr lang="en-US" sz="2050" dirty="0"/>
          </a:p>
        </p:txBody>
      </p:sp>
      <p:sp>
        <p:nvSpPr>
          <p:cNvPr id="5" name="Text 3"/>
          <p:cNvSpPr/>
          <p:nvPr/>
        </p:nvSpPr>
        <p:spPr>
          <a:xfrm>
            <a:off x="533400" y="1052512"/>
            <a:ext cx="9725025" cy="4723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860"/>
              </a:lnSpc>
              <a:buSzPct val="100000"/>
              <a:buFont typeface="+mj-lt"/>
              <a:buAutoNum type="arabicPeriod" startAt="1"/>
            </a:pPr>
            <a:r>
              <a:rPr lang="en-US" sz="1200" dirty="0">
                <a:solidFill>
                  <a:srgbClr val="1C1E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Gestionar refuerzos de crédito para gasto corriente durante el ejercicio, priorizando repuestos y reparación de material rodante (revisiones decanuales) y limpieza, que inciden simultáneamente en las premisas 1 y 2.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533400" y="1601093"/>
            <a:ext cx="9725025" cy="4723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860"/>
              </a:lnSpc>
              <a:buSzPct val="100000"/>
              <a:buFont typeface="+mj-lt"/>
              <a:buAutoNum type="arabicPeriod" startAt="2"/>
            </a:pPr>
            <a:r>
              <a:rPr lang="en-US" sz="1200" dirty="0">
                <a:solidFill>
                  <a:srgbClr val="1C1E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Reasignar crédito dentro del techo hacia proyectos de prioridad Alta vinculados a más de una premisa, conforme la síntesis de Presidencia.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533400" y="2149673"/>
            <a:ext cx="9725025" cy="4723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860"/>
              </a:lnSpc>
              <a:buSzPct val="100000"/>
              <a:buFont typeface="+mj-lt"/>
              <a:buAutoNum type="arabicPeriod" startAt="3"/>
            </a:pPr>
            <a:r>
              <a:rPr lang="en-US" sz="1200" dirty="0">
                <a:solidFill>
                  <a:srgbClr val="1C1E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Habilitar partidas específicas, aun de baja cuantía, para los compromisos sin financiamiento: estudio de demanda, piloto de servicios diferenciales, armonización de indicadores y desarrollo de carrera.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533400" y="2698254"/>
            <a:ext cx="9725025" cy="2362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marL="342900" indent="-342900">
              <a:lnSpc>
                <a:spcPts val="1860"/>
              </a:lnSpc>
              <a:buSzPct val="100000"/>
              <a:buFont typeface="+mj-lt"/>
              <a:buAutoNum type="arabicPeriod" startAt="4"/>
            </a:pPr>
            <a:r>
              <a:rPr lang="en-US" sz="1200" dirty="0">
                <a:solidFill>
                  <a:srgbClr val="1C1E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Regularizar el exceso de compromisos de Material Rodante (órdenes de compra 2027 respecto del techo) antes del inicio del ejercicio.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533400" y="3010644"/>
            <a:ext cx="9725025" cy="2362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marL="342900" indent="-342900">
              <a:lnSpc>
                <a:spcPts val="1860"/>
              </a:lnSpc>
              <a:buSzPct val="100000"/>
              <a:buFont typeface="+mj-lt"/>
              <a:buAutoNum type="arabicPeriod" startAt="5"/>
            </a:pPr>
            <a:r>
              <a:rPr lang="en-US" sz="1200" dirty="0">
                <a:solidFill>
                  <a:srgbClr val="1C1E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Incorporar los indicadores de cumplimiento de cada premisa al seguimiento presupuestario mensual.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438150" y="7267129"/>
            <a:ext cx="7600950" cy="16240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279"/>
              </a:lnSpc>
              <a:buNone/>
            </a:pPr>
            <a:r>
              <a:rPr lang="en-US" sz="850" dirty="0">
                <a:solidFill>
                  <a:srgbClr val="5C60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SOFSA · Presupuesto 2027 · Elaborado por la Subgerencia de Presupuesto y Control de Gestión · consultas: emmanuel.miranda@trenesargentinos.gob.ar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9896475" y="7267129"/>
            <a:ext cx="742950" cy="16240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279"/>
              </a:lnSpc>
              <a:buNone/>
            </a:pPr>
            <a:r>
              <a:rPr lang="en-US" sz="850" dirty="0">
                <a:solidFill>
                  <a:srgbClr val="5C60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 / 21</a:t>
            </a:r>
            <a:endParaRPr lang="en-US" sz="8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21</Slides>
  <Notes>21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21</vt:i4>
      </vt:variant>
    </vt:vector>
  </HeadingPairs>
  <TitlesOfParts>
    <vt:vector size="2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Presupuesto 2027 · SOFSA</dc:title>
  <dc:subject>PptxGenJS Presentation</dc:subject>
  <dc:creator>Subgerencia de Presupuesto y Control de Gestión · SOFSA</dc:creator>
  <cp:lastModifiedBy>Subgerencia de Presupuesto y Control de Gestión · SOFSA</cp:lastModifiedBy>
  <cp:revision>1</cp:revision>
  <dcterms:created xsi:type="dcterms:W3CDTF">2026-10-05T16:42:43Z</dcterms:created>
  <dcterms:modified xsi:type="dcterms:W3CDTF">2026-10-05T16:42:43Z</dcterms:modified>
</cp:coreProperties>
</file>